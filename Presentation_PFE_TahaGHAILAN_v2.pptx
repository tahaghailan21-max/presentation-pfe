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8"/>
    <p:sldId id="272" r:id="rId21"/>
    <p:sldId id="270" r:id="rId19"/>
    <p:sldId id="273" r:id="rId22"/>
    <p:sldId id="271" r:id="rId20"/>
    <p:sldId id="274" r:id="rId23"/>
    <p:sldId id="262" r:id="rId10"/>
    <p:sldId id="275" r:id="rId24"/>
    <p:sldId id="276" r:id="rId25"/>
    <p:sldId id="277" r:id="rId26"/>
    <p:sldId id="278" r:id="rId27"/>
    <p:sldId id="263" r:id="rId11"/>
    <p:sldId id="279" r:id="rId28"/>
    <p:sldId id="265" r:id="rId12"/>
    <p:sldId id="266" r:id="rId13"/>
    <p:sldId id="264"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13.xml"/><Relationship Id="rId11" Type="http://schemas.openxmlformats.org/officeDocument/2006/relationships/slide" Target="slides/slide18.xml"/><Relationship Id="rId12" Type="http://schemas.openxmlformats.org/officeDocument/2006/relationships/slide" Target="slides/slide20.xml"/><Relationship Id="rId13" Type="http://schemas.openxmlformats.org/officeDocument/2006/relationships/slide" Target="slides/slide21.xml"/><Relationship Id="rId14" Type="http://schemas.openxmlformats.org/officeDocument/2006/relationships/slide" Target="slides/slide22.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9.xml"/><Relationship Id="rId20" Type="http://schemas.openxmlformats.org/officeDocument/2006/relationships/slide" Target="slides/slide11.xml"/><Relationship Id="rId21" Type="http://schemas.openxmlformats.org/officeDocument/2006/relationships/slide" Target="slides/slide8.xml"/><Relationship Id="rId22" Type="http://schemas.openxmlformats.org/officeDocument/2006/relationships/slide" Target="slides/slide10.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 altLang="en-US" dirty="0"/>
              <a:t>è</a:t>
            </a:r>
            <a:r>
              <a:rPr lang="en-US" altLang="en-US" dirty="0"/>
              <a:t>me c'est que ces scripts ne servent qu'une fois. Le projet suivant, même si les données se ressemblent, on repart de zéro. </a:t>
            </a:r>
            <a:r>
              <a:rPr lang="" altLang="en-US" dirty="0"/>
              <a:t>Ç</a:t>
            </a:r>
            <a:r>
              <a:rPr lang="en-US" altLang="en-US" dirty="0"/>
              <a:t>a co</a:t>
            </a:r>
            <a:r>
              <a:rPr lang="" altLang="en-US" dirty="0"/>
              <a:t>û</a:t>
            </a:r>
            <a:r>
              <a:rPr lang="en-US" altLang="en-US" dirty="0"/>
              <a:t>te cher et </a:t>
            </a:r>
            <a:r>
              <a:rPr lang=""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Justifier le choix de la méthode en une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solution en action. Les chiffres clés marquent les esprits.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phrase de synthèse forte.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El Bouzekri El Idrissi 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s,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Aabane,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a:rPr>
              <a:t>02</a:t>
            </a:r>
            <a:r>
              <a:rPr sz="1000" b="0">
                <a:solidFill>
                  <a:srgbClr val="7A8294"/>
                </a:solidFill>
                <a:latin typeface="Calibri"/>
              </a:rPr>
              <a:t> / 17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a:rPr>
              <a:t>03</a:t>
            </a:r>
            <a:r>
              <a:rPr sz="1000" b="0">
                <a:solidFill>
                  <a:srgbClr val="7A8294"/>
                </a:solidFill>
                <a:latin typeface="Calibri"/>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a:rPr>
              <a:t>04</a:t>
            </a:r>
            <a:r>
              <a:rPr sz="1000" b="0">
                <a:solidFill>
                  <a:srgbClr val="7A8294"/>
                </a:solidFill>
                <a:latin typeface="Calibri"/>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txBody>
          <a:bodyPr/>
          <a:p/>
        </p:txBody>
      </p:sp>
      <p:sp>
        <p:nvSpPr>
          <p:cNvPr id="6" name="Shape 3"/>
          <p:cNvSpPr/>
          <p:nvPr/>
        </p:nvSpPr>
        <p:spPr>
          <a:xfrm>
            <a:off x="786384" y="3118104"/>
            <a:ext cx="164592" cy="164592"/>
          </a:xfrm>
          <a:prstGeom prst="ellipse">
            <a:avLst/>
          </a:prstGeom>
          <a:solidFill>
            <a:srgbClr val="1F4E9C"/>
          </a:solidFill>
        </p:spPr>
        <p:txBody>
          <a:bodyPr/>
          <a:p/>
        </p:txBody>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txBody>
          <a:bodyPr/>
          <a:p/>
        </p:txBody>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txBody>
          <a:bodyPr/>
          <a:p/>
        </p:txBody>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txBody>
          <a:bodyPr/>
          <a:p/>
        </p:txBody>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txBody>
          <a:bodyPr/>
          <a:p/>
        </p:txBody>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un sprint par domaine fonctionnel, suivi Redmine. Critère de réussite : ventilation comptable des factures importées.</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a:rPr>
              <a:t>05</a:t>
            </a:r>
            <a:r>
              <a:rPr sz="1000" b="0">
                <a:solidFill>
                  <a:srgbClr val="7A8294"/>
                </a:solidFill>
                <a:latin typeface="Calibri"/>
              </a:rPr>
              <a:t> / 22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04  CONCEPTION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Benchmark — Outil ETL</a:t>
            </a: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06</a:t>
            </a:r>
            <a:r>
              <a:rPr sz="1000" b="0">
                <a:solidFill>
                  <a:srgbClr val="7A8294"/>
                </a:solidFill>
                <a:latin typeface="Calibri"/>
              </a:rPr>
              <a:t> / 22</a:t>
            </a: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a:rPr>
                        <a:t>Critère</a:t>
                      </a:r>
                    </a:p>
                  </a:txBody>
                  <a:tcPr>
                    <a:solidFill>
                      <a:srgbClr val="D6E4F0"/>
                    </a:solidFill>
                  </a:tcPr>
                </a:tc>
                <a:tc>
                  <a:txBody>
                    <a:bodyPr wrap="square"/>
                    <a:lstStyle/>
                    <a:p>
                      <a:pPr algn="ctr"/>
                      <a:r>
                        <a:rPr sz="1000" b="1">
                          <a:solidFill>
                            <a:srgbClr val="12203F"/>
                          </a:solidFill>
                          <a:latin typeface="Calibri"/>
                        </a:rPr>
                        <a:t>Apache Hop</a:t>
                      </a:r>
                    </a:p>
                  </a:txBody>
                  <a:tcPr>
                    <a:solidFill>
                      <a:srgbClr val="D6E4F0"/>
                    </a:solidFill>
                  </a:tcPr>
                </a:tc>
                <a:tc>
                  <a:txBody>
                    <a:bodyPr wrap="square"/>
                    <a:lstStyle/>
                    <a:p>
                      <a:pPr algn="ctr"/>
                      <a:r>
                        <a:rPr sz="1000" b="1">
                          <a:solidFill>
                            <a:srgbClr val="12203F"/>
                          </a:solidFill>
                          <a:latin typeface="Calibri"/>
                        </a:rPr>
                        <a:t>Talend</a:t>
                      </a:r>
                    </a:p>
                  </a:txBody>
                  <a:tcPr>
                    <a:solidFill>
                      <a:srgbClr val="D6E4F0"/>
                    </a:solidFill>
                  </a:tcPr>
                </a:tc>
                <a:tc>
                  <a:txBody>
                    <a:bodyPr wrap="square"/>
                    <a:lstStyle/>
                    <a:p>
                      <a:pPr algn="ctr"/>
                      <a:r>
                        <a:rPr sz="1000" b="1">
                          <a:solidFill>
                            <a:srgbClr val="12203F"/>
                          </a:solidFill>
                          <a:latin typeface="Calibri"/>
                        </a:rPr>
                        <a:t>Apache NiFi</a:t>
                      </a:r>
                    </a:p>
                  </a:txBody>
                  <a:tcPr>
                    <a:solidFill>
                      <a:srgbClr val="D6E4F0"/>
                    </a:solidFill>
                  </a:tcPr>
                </a:tc>
              </a:tr>
              <a:tr h="650000">
                <a:tc>
                  <a:txBody>
                    <a:bodyPr wrap="square"/>
                    <a:lstStyle/>
                    <a:p>
                      <a:pPr algn="l"/>
                      <a:r>
                        <a:rPr sz="900" b="1">
                          <a:solidFill>
                            <a:srgbClr val="12203F"/>
                          </a:solidFill>
                          <a:latin typeface="Calibri"/>
                        </a:rPr>
                        <a:t>Format pipelines</a:t>
                      </a:r>
                    </a:p>
                  </a:txBody>
                  <a:tcPr>
                    <a:solidFill>
                      <a:srgbClr val="F5F5F5"/>
                    </a:solidFill>
                  </a:tcPr>
                </a:tc>
                <a:tc>
                  <a:txBody>
                    <a:bodyPr wrap="square"/>
                    <a:lstStyle/>
                    <a:p>
                      <a:pPr algn="ctr"/>
                      <a:r>
                        <a:rPr sz="900" b="0">
                          <a:solidFill>
                            <a:srgbClr val="2A3142"/>
                          </a:solidFill>
                          <a:latin typeface="Calibri"/>
                        </a:rPr>
                        <a:t>XML lisible (.hpl)</a:t>
                      </a:r>
                    </a:p>
                  </a:txBody>
                  <a:tcPr>
                    <a:solidFill>
                      <a:srgbClr val="F5F5F5"/>
                    </a:solidFill>
                  </a:tcPr>
                </a:tc>
                <a:tc>
                  <a:txBody>
                    <a:bodyPr wrap="square"/>
                    <a:lstStyle/>
                    <a:p>
                      <a:pPr algn="ctr"/>
                      <a:r>
                        <a:rPr sz="900" b="0">
                          <a:solidFill>
                            <a:srgbClr val="2A3142"/>
                          </a:solidFill>
                          <a:latin typeface="Calibri"/>
                        </a:rPr>
                        <a:t>Java compilé (.jar)</a:t>
                      </a:r>
                    </a:p>
                  </a:txBody>
                  <a:tcPr>
                    <a:solidFill>
                      <a:srgbClr val="F5F5F5"/>
                    </a:solidFill>
                  </a:tcPr>
                </a:tc>
                <a:tc>
                  <a:txBody>
                    <a:bodyPr wrap="square"/>
                    <a:lstStyle/>
                    <a:p>
                      <a:pPr algn="ctr"/>
                      <a:r>
                        <a:rPr sz="900" b="0">
                          <a:solidFill>
                            <a:srgbClr val="2A3142"/>
                          </a:solidFill>
                          <a:latin typeface="Calibri"/>
                        </a:rPr>
                        <a:t>JSON interne</a:t>
                      </a:r>
                    </a:p>
                  </a:txBody>
                  <a:tcPr>
                    <a:solidFill>
                      <a:srgbClr val="F5F5F5"/>
                    </a:solidFill>
                  </a:tcPr>
                </a:tc>
              </a:tr>
              <a:tr h="650000">
                <a:tc>
                  <a:txBody>
                    <a:bodyPr wrap="square"/>
                    <a:lstStyle/>
                    <a:p>
                      <a:pPr algn="l"/>
                      <a:r>
                        <a:rPr sz="900" b="1">
                          <a:solidFill>
                            <a:srgbClr val="12203F"/>
                          </a:solidFill>
                          <a:latin typeface="Calibri"/>
                        </a:rPr>
                        <a:t>Générable par LLM</a:t>
                      </a:r>
                    </a:p>
                  </a:txBody>
                  <a:tcPr>
                    <a:solidFill>
                      <a:srgbClr val="FFFFFF"/>
                    </a:solidFill>
                  </a:tcPr>
                </a:tc>
                <a:tc>
                  <a:txBody>
                    <a:bodyPr wrap="square"/>
                    <a:lstStyle/>
                    <a:p>
                      <a:pPr algn="ctr"/>
                      <a:r>
                        <a:rPr sz="900" b="0">
                          <a:solidFill>
                            <a:srgbClr val="2A3142"/>
                          </a:solidFill>
                          <a:latin typeface="Calibri"/>
                        </a:rPr>
                        <a:t>✔ Oui</a:t>
                      </a:r>
                    </a:p>
                  </a:txBody>
                  <a:tcPr>
                    <a:solidFill>
                      <a:srgbClr val="FFFFFF"/>
                    </a:solidFill>
                  </a:tcPr>
                </a:tc>
                <a:tc>
                  <a:txBody>
                    <a:bodyPr wrap="square"/>
                    <a:lstStyle/>
                    <a:p>
                      <a:pPr algn="ctr"/>
                      <a:r>
                        <a:rPr sz="900" b="0">
                          <a:solidFill>
                            <a:srgbClr val="2A3142"/>
                          </a:solidFill>
                          <a:latin typeface="Calibri"/>
                        </a:rPr>
                        <a:t>✘ Non</a:t>
                      </a:r>
                    </a:p>
                  </a:txBody>
                  <a:tcPr>
                    <a:solidFill>
                      <a:srgbClr val="FFFFFF"/>
                    </a:solidFill>
                  </a:tcPr>
                </a:tc>
                <a:tc>
                  <a:txBody>
                    <a:bodyPr wrap="square"/>
                    <a:lstStyle/>
                    <a:p>
                      <a:pPr algn="ctr"/>
                      <a:r>
                        <a:rPr sz="900" b="0">
                          <a:solidFill>
                            <a:srgbClr val="2A3142"/>
                          </a:solidFill>
                          <a:latin typeface="Calibri"/>
                        </a:rPr>
                        <a:t>✘ Non</a:t>
                      </a:r>
                    </a:p>
                  </a:txBody>
                  <a:tcPr>
                    <a:solidFill>
                      <a:srgbClr val="FFFFFF"/>
                    </a:solidFill>
                  </a:tcPr>
                </a:tc>
              </a:tr>
              <a:tr h="650000">
                <a:tc>
                  <a:txBody>
                    <a:bodyPr wrap="square"/>
                    <a:lstStyle/>
                    <a:p>
                      <a:pPr algn="l"/>
                      <a:r>
                        <a:rPr sz="900" b="1">
                          <a:solidFill>
                            <a:srgbClr val="12203F"/>
                          </a:solidFill>
                          <a:latin typeface="Calibri"/>
                        </a:rPr>
                        <a:t>Upsert natif</a:t>
                      </a:r>
                    </a:p>
                  </a:txBody>
                  <a:tcPr>
                    <a:solidFill>
                      <a:srgbClr val="F5F5F5"/>
                    </a:solidFill>
                  </a:tcPr>
                </a:tc>
                <a:tc>
                  <a:txBody>
                    <a:bodyPr wrap="square"/>
                    <a:lstStyle/>
                    <a:p>
                      <a:pPr algn="ctr"/>
                      <a:r>
                        <a:rPr sz="900" b="0">
                          <a:solidFill>
                            <a:srgbClr val="2A3142"/>
                          </a:solidFill>
                          <a:latin typeface="Calibri"/>
                        </a:rPr>
                        <a:t>✔ Oui</a:t>
                      </a:r>
                    </a:p>
                  </a:txBody>
                  <a:tcPr>
                    <a:solidFill>
                      <a:srgbClr val="F5F5F5"/>
                    </a:solidFill>
                  </a:tcPr>
                </a:tc>
                <a:tc>
                  <a:txBody>
                    <a:bodyPr wrap="square"/>
                    <a:lstStyle/>
                    <a:p>
                      <a:pPr algn="ctr"/>
                      <a:r>
                        <a:rPr sz="900" b="0">
                          <a:solidFill>
                            <a:srgbClr val="2A3142"/>
                          </a:solidFill>
                          <a:latin typeface="Calibri"/>
                        </a:rPr>
                        <a:t>✔ Oui (tMap)</a:t>
                      </a:r>
                    </a:p>
                  </a:txBody>
                  <a:tcPr>
                    <a:solidFill>
                      <a:srgbClr val="F5F5F5"/>
                    </a:solidFill>
                  </a:tcPr>
                </a:tc>
                <a:tc>
                  <a:txBody>
                    <a:bodyPr wrap="square"/>
                    <a:lstStyle/>
                    <a:p>
                      <a:pPr algn="ctr"/>
                      <a:r>
                        <a:rPr sz="900" b="0">
                          <a:solidFill>
                            <a:srgbClr val="2A3142"/>
                          </a:solidFill>
                          <a:latin typeface="Calibri"/>
                        </a:rPr>
                        <a:t>✘ Non</a:t>
                      </a:r>
                    </a:p>
                  </a:txBody>
                  <a:tcPr>
                    <a:solidFill>
                      <a:srgbClr val="F5F5F5"/>
                    </a:solidFill>
                  </a:tcPr>
                </a:tc>
              </a:tr>
              <a:tr h="650000">
                <a:tc>
                  <a:txBody>
                    <a:bodyPr wrap="square"/>
                    <a:lstStyle/>
                    <a:p>
                      <a:pPr algn="l"/>
                      <a:r>
                        <a:rPr sz="900" b="1">
                          <a:solidFill>
                            <a:srgbClr val="12203F"/>
                          </a:solidFill>
                          <a:latin typeface="Calibri"/>
                        </a:rPr>
                        <a:t>Exécution CLI</a:t>
                      </a:r>
                    </a:p>
                  </a:txBody>
                  <a:tcPr>
                    <a:solidFill>
                      <a:srgbClr val="FFFFFF"/>
                    </a:solidFill>
                  </a:tcPr>
                </a:tc>
                <a:tc>
                  <a:txBody>
                    <a:bodyPr wrap="square"/>
                    <a:lstStyle/>
                    <a:p>
                      <a:pPr algn="ctr"/>
                      <a:r>
                        <a:rPr sz="900" b="0">
                          <a:solidFill>
                            <a:srgbClr val="2A3142"/>
                          </a:solidFill>
                          <a:latin typeface="Calibri"/>
                        </a:rPr>
                        <a:t>✔ hop-run.sh</a:t>
                      </a:r>
                    </a:p>
                  </a:txBody>
                  <a:tcPr>
                    <a:solidFill>
                      <a:srgbClr val="FFFFFF"/>
                    </a:solidFill>
                  </a:tcPr>
                </a:tc>
                <a:tc>
                  <a:txBody>
                    <a:bodyPr wrap="square"/>
                    <a:lstStyle/>
                    <a:p>
                      <a:pPr algn="ctr"/>
                      <a:r>
                        <a:rPr sz="900" b="0">
                          <a:solidFill>
                            <a:srgbClr val="2A3142"/>
                          </a:solidFill>
                          <a:latin typeface="Calibri"/>
                        </a:rPr>
                        <a:t>✔ (.jar)</a:t>
                      </a:r>
                    </a:p>
                  </a:txBody>
                  <a:tcPr>
                    <a:solidFill>
                      <a:srgbClr val="FFFFFF"/>
                    </a:solidFill>
                  </a:tcPr>
                </a:tc>
                <a:tc>
                  <a:txBody>
                    <a:bodyPr wrap="square"/>
                    <a:lstStyle/>
                    <a:p>
                      <a:pPr algn="ctr"/>
                      <a:r>
                        <a:rPr sz="900" b="0">
                          <a:solidFill>
                            <a:srgbClr val="2A3142"/>
                          </a:solidFill>
                          <a:latin typeface="Calibri"/>
                        </a:rPr>
                        <a:t>✘ (serveur web)</a:t>
                      </a:r>
                    </a:p>
                  </a:txBody>
                  <a:tcPr>
                    <a:solidFill>
                      <a:srgbClr val="FFFFFF"/>
                    </a:solidFill>
                  </a:tcPr>
                </a:tc>
              </a:tr>
              <a:tr h="650000">
                <a:tc>
                  <a:txBody>
                    <a:bodyPr wrap="square"/>
                    <a:lstStyle/>
                    <a:p>
                      <a:pPr algn="l"/>
                      <a:r>
                        <a:rPr sz="900" b="1">
                          <a:solidFill>
                            <a:srgbClr val="12203F"/>
                          </a:solidFill>
                          <a:latin typeface="Calibri"/>
                        </a:rPr>
                        <a:t>Licence</a:t>
                      </a:r>
                    </a:p>
                  </a:txBody>
                  <a:tcPr>
                    <a:solidFill>
                      <a:srgbClr val="F5F5F5"/>
                    </a:solidFill>
                  </a:tcPr>
                </a:tc>
                <a:tc>
                  <a:txBody>
                    <a:bodyPr wrap="square"/>
                    <a:lstStyle/>
                    <a:p>
                      <a:pPr algn="ctr"/>
                      <a:r>
                        <a:rPr sz="900" b="0">
                          <a:solidFill>
                            <a:srgbClr val="2A3142"/>
                          </a:solidFill>
                          <a:latin typeface="Calibri"/>
                        </a:rPr>
                        <a:t>Apache 2.0</a:t>
                      </a:r>
                    </a:p>
                  </a:txBody>
                  <a:tcPr>
                    <a:solidFill>
                      <a:srgbClr val="F5F5F5"/>
                    </a:solidFill>
                  </a:tcPr>
                </a:tc>
                <a:tc>
                  <a:txBody>
                    <a:bodyPr wrap="square"/>
                    <a:lstStyle/>
                    <a:p>
                      <a:pPr algn="ctr"/>
                      <a:r>
                        <a:rPr sz="900" b="0">
                          <a:solidFill>
                            <a:srgbClr val="2A3142"/>
                          </a:solidFill>
                          <a:latin typeface="Calibri"/>
                        </a:rPr>
                        <a:t>Freemium</a:t>
                      </a:r>
                    </a:p>
                  </a:txBody>
                  <a:tcPr>
                    <a:solidFill>
                      <a:srgbClr val="F5F5F5"/>
                    </a:solidFill>
                  </a:tcPr>
                </a:tc>
                <a:tc>
                  <a:txBody>
                    <a:bodyPr wrap="square"/>
                    <a:lstStyle/>
                    <a:p>
                      <a:pPr algn="ctr"/>
                      <a:r>
                        <a:rPr sz="900" b="0">
                          <a:solidFill>
                            <a:srgbClr val="2A3142"/>
                          </a:solidFill>
                          <a:latin typeface="Calibri"/>
                        </a:rPr>
                        <a:t>Apache 2.0</a:t>
                      </a: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a:rPr>
              <a:t>✔  Choix : Apache Hop  —  Critère décisif : seul outil dont les pipelines XML sont générables par LLM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04  CONCEPTION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Benchmark — Agent IA de code</a:t>
            </a:r>
          </a:p>
        </p:txBody>
      </p:sp>
      <p:pic>
        <p:nvPicPr>
          <p:cNvPr id="4" name="Picture 3" descr="image.png"/>
          <p:cNvPicPr>
            <a:picLocks noChangeAspect="1"/>
          </p:cNvPicPr>
          <p:nvPr/>
        </p:nvPicPr>
        <p:blipFill>
          <a:blip r:embed="rId2"/>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3"/>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07</a:t>
            </a:r>
            <a:r>
              <a:rPr sz="1000" b="0">
                <a:solidFill>
                  <a:srgbClr val="7A8294"/>
                </a:solidFill>
                <a:latin typeface="Calibri"/>
              </a:rPr>
              <a:t> / 22</a:t>
            </a: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a:rPr>
                        <a:t>Critère</a:t>
                      </a:r>
                    </a:p>
                  </a:txBody>
                  <a:tcPr>
                    <a:solidFill>
                      <a:srgbClr val="D6E4F0"/>
                    </a:solidFill>
                  </a:tcPr>
                </a:tc>
                <a:tc>
                  <a:txBody>
                    <a:bodyPr wrap="square"/>
                    <a:lstStyle/>
                    <a:p>
                      <a:pPr algn="ctr"/>
                      <a:r>
                        <a:rPr sz="1000" b="1">
                          <a:solidFill>
                            <a:srgbClr val="12203F"/>
                          </a:solidFill>
                          <a:latin typeface="Calibri"/>
                        </a:rPr>
                        <a:t>Claude Code</a:t>
                      </a:r>
                    </a:p>
                  </a:txBody>
                  <a:tcPr>
                    <a:solidFill>
                      <a:srgbClr val="D6E4F0"/>
                    </a:solidFill>
                  </a:tcPr>
                </a:tc>
                <a:tc>
                  <a:txBody>
                    <a:bodyPr wrap="square"/>
                    <a:lstStyle/>
                    <a:p>
                      <a:pPr algn="ctr"/>
                      <a:r>
                        <a:rPr sz="1000" b="1">
                          <a:solidFill>
                            <a:srgbClr val="12203F"/>
                          </a:solidFill>
                          <a:latin typeface="Calibri"/>
                        </a:rPr>
                        <a:t>Codex CLI (OpenAI)</a:t>
                      </a:r>
                    </a:p>
                  </a:txBody>
                  <a:tcPr>
                    <a:solidFill>
                      <a:srgbClr val="D6E4F0"/>
                    </a:solidFill>
                  </a:tcPr>
                </a:tc>
                <a:tc>
                  <a:txBody>
                    <a:bodyPr wrap="square"/>
                    <a:lstStyle/>
                    <a:p>
                      <a:pPr algn="ctr"/>
                      <a:r>
                        <a:rPr sz="1000" b="1">
                          <a:solidFill>
                            <a:srgbClr val="12203F"/>
                          </a:solidFill>
                          <a:latin typeface="Calibri"/>
                        </a:rPr>
                        <a:t>Gemini CLI (Google)</a:t>
                      </a:r>
                    </a:p>
                  </a:txBody>
                  <a:tcPr>
                    <a:solidFill>
                      <a:srgbClr val="D6E4F0"/>
                    </a:solidFill>
                  </a:tcPr>
                </a:tc>
              </a:tr>
              <a:tr h="650000">
                <a:tc>
                  <a:txBody>
                    <a:bodyPr wrap="square"/>
                    <a:lstStyle/>
                    <a:p>
                      <a:pPr algn="l"/>
                      <a:r>
                        <a:rPr sz="900" b="1">
                          <a:solidFill>
                            <a:srgbClr val="12203F"/>
                          </a:solidFill>
                          <a:latin typeface="Calibri"/>
                        </a:rPr>
                        <a:t>Coding Agent Index</a:t>
                      </a:r>
                    </a:p>
                  </a:txBody>
                  <a:tcPr>
                    <a:solidFill>
                      <a:srgbClr val="F5F5F5"/>
                    </a:solidFill>
                  </a:tcPr>
                </a:tc>
                <a:tc>
                  <a:txBody>
                    <a:bodyPr wrap="square"/>
                    <a:lstStyle/>
                    <a:p>
                      <a:pPr algn="ctr"/>
                      <a:r>
                        <a:rPr sz="900" b="0">
                          <a:solidFill>
                            <a:srgbClr val="2A3142"/>
                          </a:solidFill>
                          <a:latin typeface="Calibri"/>
                        </a:rPr>
                        <a:t>77</a:t>
                      </a:r>
                    </a:p>
                  </a:txBody>
                  <a:tcPr>
                    <a:solidFill>
                      <a:srgbClr val="F5F5F5"/>
                    </a:solidFill>
                  </a:tcPr>
                </a:tc>
                <a:tc>
                  <a:txBody>
                    <a:bodyPr wrap="square"/>
                    <a:lstStyle/>
                    <a:p>
                      <a:pPr algn="ctr"/>
                      <a:r>
                        <a:rPr sz="900" b="0">
                          <a:solidFill>
                            <a:srgbClr val="2A3142"/>
                          </a:solidFill>
                          <a:latin typeface="Calibri"/>
                        </a:rPr>
                        <a:t>76</a:t>
                      </a:r>
                    </a:p>
                  </a:txBody>
                  <a:tcPr>
                    <a:solidFill>
                      <a:srgbClr val="F5F5F5"/>
                    </a:solidFill>
                  </a:tcPr>
                </a:tc>
                <a:tc>
                  <a:txBody>
                    <a:bodyPr wrap="square"/>
                    <a:lstStyle/>
                    <a:p>
                      <a:pPr algn="ctr"/>
                      <a:r>
                        <a:rPr sz="900" b="0">
                          <a:solidFill>
                            <a:srgbClr val="2A3142"/>
                          </a:solidFill>
                          <a:latin typeface="Calibri"/>
                        </a:rPr>
                        <a:t>—</a:t>
                      </a:r>
                    </a:p>
                  </a:txBody>
                  <a:tcPr>
                    <a:solidFill>
                      <a:srgbClr val="F5F5F5"/>
                    </a:solidFill>
                  </a:tcPr>
                </a:tc>
              </a:tr>
              <a:tr h="650000">
                <a:tc>
                  <a:txBody>
                    <a:bodyPr wrap="square"/>
                    <a:lstStyle/>
                    <a:p>
                      <a:pPr algn="l"/>
                      <a:r>
                        <a:rPr sz="900" b="1">
                          <a:solidFill>
                            <a:srgbClr val="12203F"/>
                          </a:solidFill>
                          <a:latin typeface="Calibri"/>
                        </a:rPr>
                        <a:t>Terminal-Bench Hard</a:t>
                      </a:r>
                    </a:p>
                  </a:txBody>
                  <a:tcPr>
                    <a:solidFill>
                      <a:srgbClr val="FFFFFF"/>
                    </a:solidFill>
                  </a:tcPr>
                </a:tc>
                <a:tc>
                  <a:txBody>
                    <a:bodyPr wrap="square"/>
                    <a:lstStyle/>
                    <a:p>
                      <a:pPr algn="ctr"/>
                      <a:r>
                        <a:rPr sz="900" b="0">
                          <a:solidFill>
                            <a:srgbClr val="2A3142"/>
                          </a:solidFill>
                          <a:latin typeface="Calibri"/>
                        </a:rPr>
                        <a:t>63 %</a:t>
                      </a:r>
                    </a:p>
                  </a:txBody>
                  <a:tcPr>
                    <a:solidFill>
                      <a:srgbClr val="FFFFFF"/>
                    </a:solidFill>
                  </a:tcPr>
                </a:tc>
                <a:tc>
                  <a:txBody>
                    <a:bodyPr wrap="square"/>
                    <a:lstStyle/>
                    <a:p>
                      <a:pPr algn="ctr"/>
                      <a:r>
                        <a:rPr sz="900" b="0">
                          <a:solidFill>
                            <a:srgbClr val="2A3142"/>
                          </a:solidFill>
                          <a:latin typeface="Calibri"/>
                        </a:rPr>
                        <a:t>61 %</a:t>
                      </a:r>
                    </a:p>
                  </a:txBody>
                  <a:tcPr>
                    <a:solidFill>
                      <a:srgbClr val="FFFFFF"/>
                    </a:solidFill>
                  </a:tcPr>
                </a:tc>
                <a:tc>
                  <a:txBody>
                    <a:bodyPr wrap="square"/>
                    <a:lstStyle/>
                    <a:p>
                      <a:pPr algn="ctr"/>
                      <a:r>
                        <a:rPr sz="900" b="0">
                          <a:solidFill>
                            <a:srgbClr val="2A3142"/>
                          </a:solidFill>
                          <a:latin typeface="Calibri"/>
                        </a:rPr>
                        <a:t>54 %</a:t>
                      </a:r>
                    </a:p>
                  </a:txBody>
                  <a:tcPr>
                    <a:solidFill>
                      <a:srgbClr val="FFFFFF"/>
                    </a:solidFill>
                  </a:tcPr>
                </a:tc>
              </a:tr>
              <a:tr h="650000">
                <a:tc>
                  <a:txBody>
                    <a:bodyPr wrap="square"/>
                    <a:lstStyle/>
                    <a:p>
                      <a:pPr algn="l"/>
                      <a:r>
                        <a:rPr sz="900" b="1">
                          <a:solidFill>
                            <a:srgbClr val="12203F"/>
                          </a:solidFill>
                          <a:latin typeface="Calibri"/>
                        </a:rPr>
                        <a:t>Intelligence Index</a:t>
                      </a:r>
                    </a:p>
                  </a:txBody>
                  <a:tcPr>
                    <a:solidFill>
                      <a:srgbClr val="F5F5F5"/>
                    </a:solidFill>
                  </a:tcPr>
                </a:tc>
                <a:tc>
                  <a:txBody>
                    <a:bodyPr wrap="square"/>
                    <a:lstStyle/>
                    <a:p>
                      <a:pPr algn="ctr"/>
                      <a:r>
                        <a:rPr sz="900" b="0">
                          <a:solidFill>
                            <a:srgbClr val="2A3142"/>
                          </a:solidFill>
                          <a:latin typeface="Calibri"/>
                        </a:rPr>
                        <a:t>65</a:t>
                      </a:r>
                    </a:p>
                  </a:txBody>
                  <a:tcPr>
                    <a:solidFill>
                      <a:srgbClr val="F5F5F5"/>
                    </a:solidFill>
                  </a:tcPr>
                </a:tc>
                <a:tc>
                  <a:txBody>
                    <a:bodyPr wrap="square"/>
                    <a:lstStyle/>
                    <a:p>
                      <a:pPr algn="ctr"/>
                      <a:r>
                        <a:rPr sz="900" b="0">
                          <a:solidFill>
                            <a:srgbClr val="2A3142"/>
                          </a:solidFill>
                          <a:latin typeface="Calibri"/>
                        </a:rPr>
                        <a:t>60</a:t>
                      </a:r>
                    </a:p>
                  </a:txBody>
                  <a:tcPr>
                    <a:solidFill>
                      <a:srgbClr val="F5F5F5"/>
                    </a:solidFill>
                  </a:tcPr>
                </a:tc>
                <a:tc>
                  <a:txBody>
                    <a:bodyPr wrap="square"/>
                    <a:lstStyle/>
                    <a:p>
                      <a:pPr algn="ctr"/>
                      <a:r>
                        <a:rPr sz="900" b="0">
                          <a:solidFill>
                            <a:srgbClr val="2A3142"/>
                          </a:solidFill>
                          <a:latin typeface="Calibri"/>
                        </a:rPr>
                        <a:t>57</a:t>
                      </a:r>
                    </a:p>
                  </a:txBody>
                  <a:tcPr>
                    <a:solidFill>
                      <a:srgbClr val="F5F5F5"/>
                    </a:solidFill>
                  </a:tcPr>
                </a:tc>
              </a:tr>
              <a:tr h="650000">
                <a:tc>
                  <a:txBody>
                    <a:bodyPr wrap="square"/>
                    <a:lstStyle/>
                    <a:p>
                      <a:pPr algn="l"/>
                      <a:r>
                        <a:rPr sz="900" b="1">
                          <a:solidFill>
                            <a:srgbClr val="12203F"/>
                          </a:solidFill>
                          <a:latin typeface="Calibri"/>
                        </a:rPr>
                        <a:t>Prix / 1M tokens</a:t>
                      </a:r>
                    </a:p>
                  </a:txBody>
                  <a:tcPr>
                    <a:solidFill>
                      <a:srgbClr val="FFFFFF"/>
                    </a:solidFill>
                  </a:tcPr>
                </a:tc>
                <a:tc>
                  <a:txBody>
                    <a:bodyPr wrap="square"/>
                    <a:lstStyle/>
                    <a:p>
                      <a:pPr algn="ctr"/>
                      <a:r>
                        <a:rPr sz="900" b="0">
                          <a:solidFill>
                            <a:srgbClr val="2A3142"/>
                          </a:solidFill>
                          <a:latin typeface="Calibri"/>
                        </a:rPr>
                        <a:t>$7.7</a:t>
                      </a:r>
                    </a:p>
                  </a:txBody>
                  <a:tcPr>
                    <a:solidFill>
                      <a:srgbClr val="FFFFFF"/>
                    </a:solidFill>
                  </a:tcPr>
                </a:tc>
                <a:tc>
                  <a:txBody>
                    <a:bodyPr wrap="square"/>
                    <a:lstStyle/>
                    <a:p>
                      <a:pPr algn="ctr"/>
                      <a:r>
                        <a:rPr sz="900" b="0">
                          <a:solidFill>
                            <a:srgbClr val="2A3142"/>
                          </a:solidFill>
                          <a:latin typeface="Calibri"/>
                        </a:rPr>
                        <a:t>$4.3</a:t>
                      </a:r>
                    </a:p>
                  </a:txBody>
                  <a:tcPr>
                    <a:solidFill>
                      <a:srgbClr val="FFFFFF"/>
                    </a:solidFill>
                  </a:tcPr>
                </a:tc>
                <a:tc>
                  <a:txBody>
                    <a:bodyPr wrap="square"/>
                    <a:lstStyle/>
                    <a:p>
                      <a:pPr algn="ctr"/>
                      <a:r>
                        <a:rPr sz="900" b="0">
                          <a:solidFill>
                            <a:srgbClr val="2A3142"/>
                          </a:solidFill>
                          <a:latin typeface="Calibri"/>
                        </a:rPr>
                        <a:t>$1.7</a:t>
                      </a:r>
                    </a:p>
                  </a:txBody>
                  <a:tcPr>
                    <a:solidFill>
                      <a:srgbClr val="FFFFFF"/>
                    </a:solidFill>
                  </a:tcPr>
                </a:tc>
              </a:tr>
              <a:tr h="650000">
                <a:tc>
                  <a:txBody>
                    <a:bodyPr wrap="square"/>
                    <a:lstStyle/>
                    <a:p>
                      <a:pPr algn="l"/>
                      <a:r>
                        <a:rPr sz="900" b="1">
                          <a:solidFill>
                            <a:srgbClr val="12203F"/>
                          </a:solidFill>
                          <a:latin typeface="Calibri"/>
                        </a:rPr>
                        <a:t>Contexte max</a:t>
                      </a:r>
                    </a:p>
                  </a:txBody>
                  <a:tcPr>
                    <a:solidFill>
                      <a:srgbClr val="F5F5F5"/>
                    </a:solidFill>
                  </a:tcPr>
                </a:tc>
                <a:tc>
                  <a:txBody>
                    <a:bodyPr wrap="square"/>
                    <a:lstStyle/>
                    <a:p>
                      <a:pPr algn="ctr"/>
                      <a:r>
                        <a:rPr sz="900" b="0">
                          <a:solidFill>
                            <a:srgbClr val="2A3142"/>
                          </a:solidFill>
                          <a:latin typeface="Calibri"/>
                        </a:rPr>
                        <a:t>200K–1M</a:t>
                      </a:r>
                    </a:p>
                  </a:txBody>
                  <a:tcPr>
                    <a:solidFill>
                      <a:srgbClr val="F5F5F5"/>
                    </a:solidFill>
                  </a:tcPr>
                </a:tc>
                <a:tc>
                  <a:txBody>
                    <a:bodyPr wrap="square"/>
                    <a:lstStyle/>
                    <a:p>
                      <a:pPr algn="ctr"/>
                      <a:r>
                        <a:rPr sz="900" b="0">
                          <a:solidFill>
                            <a:srgbClr val="2A3142"/>
                          </a:solidFill>
                          <a:latin typeface="Calibri"/>
                        </a:rPr>
                        <a:t>128K–1M</a:t>
                      </a:r>
                    </a:p>
                  </a:txBody>
                  <a:tcPr>
                    <a:solidFill>
                      <a:srgbClr val="F5F5F5"/>
                    </a:solidFill>
                  </a:tcPr>
                </a:tc>
                <a:tc>
                  <a:txBody>
                    <a:bodyPr wrap="square"/>
                    <a:lstStyle/>
                    <a:p>
                      <a:pPr algn="ctr"/>
                      <a:r>
                        <a:rPr sz="900" b="0">
                          <a:solidFill>
                            <a:srgbClr val="2A3142"/>
                          </a:solidFill>
                          <a:latin typeface="Calibri"/>
                        </a:rPr>
                        <a:t>1M</a:t>
                      </a: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a:rPr>
              <a:t>✔  Choix : Claude Code  —  Critère pragmatique : abonnement Anthropic existant chez Axelor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04  CONCEPTION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Vue d'ensemble de la solution</a:t>
            </a:r>
          </a:p>
        </p:txBody>
      </p:sp>
      <p:pic>
        <p:nvPicPr>
          <p:cNvPr id="4" name="Picture 3" descr="image.png"/>
          <p:cNvPicPr>
            <a:picLocks noChangeAspect="1"/>
          </p:cNvPicPr>
          <p:nvPr/>
        </p:nvPicPr>
        <p:blipFill>
          <a:blip r:embed="rId2"/>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3"/>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08</a:t>
            </a:r>
            <a:r>
              <a:rPr sz="1000" b="0">
                <a:solidFill>
                  <a:srgbClr val="7A8294"/>
                </a:solidFill>
                <a:latin typeface="Calibri"/>
              </a:rPr>
              <a:t> / 22</a:t>
            </a: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0">
                <a:solidFill>
                  <a:srgbClr val="12203F"/>
                </a:solidFill>
                <a:latin typeface="Calibri"/>
              </a:rPr>
              <a:t>CSV</a:t>
            </a: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a:rPr>
              <a:t>&gt;</a:t>
            </a: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0">
                <a:solidFill>
                  <a:srgbClr val="12203F"/>
                </a:solidFill>
                <a:latin typeface="Calibri"/>
              </a:rPr>
              <a:t>Agent IA</a:t>
            </a:r>
          </a:p>
          <a:p>
            <a:pPr algn="ctr"/>
            <a:r>
              <a:rPr sz="900" b="0">
                <a:solidFill>
                  <a:srgbClr val="12203F"/>
                </a:solidFill>
                <a:latin typeface="Calibri"/>
              </a:rPr>
              <a:t>(analyse)</a:t>
            </a: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a:rPr>
              <a:t>&gt;</a:t>
            </a: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12203F"/>
                </a:solidFill>
                <a:latin typeface="Calibri"/>
              </a:rPr>
              <a:t>Manifeste</a:t>
            </a:r>
          </a:p>
          <a:p>
            <a:pPr algn="ctr"/>
            <a:r>
              <a:rPr sz="900" b="1">
                <a:solidFill>
                  <a:srgbClr val="12203F"/>
                </a:solidFill>
                <a:latin typeface="Calibri"/>
              </a:rPr>
              <a:t>JSON</a:t>
            </a: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a:rPr>
              <a:t>&gt;</a:t>
            </a: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0">
                <a:solidFill>
                  <a:srgbClr val="12203F"/>
                </a:solidFill>
                <a:latin typeface="Calibri"/>
              </a:rPr>
              <a:t>Agent IA</a:t>
            </a:r>
          </a:p>
          <a:p>
            <a:pPr algn="ctr"/>
            <a:r>
              <a:rPr sz="900" b="0">
                <a:solidFill>
                  <a:srgbClr val="12203F"/>
                </a:solidFill>
                <a:latin typeface="Calibri"/>
              </a:rPr>
              <a:t>(génération)</a:t>
            </a: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a:rPr>
              <a:t>&gt;</a:t>
            </a: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0">
                <a:solidFill>
                  <a:srgbClr val="12203F"/>
                </a:solidFill>
                <a:latin typeface="Calibri"/>
              </a:rPr>
              <a:t>Apache Hop</a:t>
            </a: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a:rPr>
              <a:t>&gt;</a:t>
            </a: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0">
                <a:solidFill>
                  <a:srgbClr val="12203F"/>
                </a:solidFill>
                <a:latin typeface="Calibri"/>
              </a:rPr>
              <a:t>PostgreSQL</a:t>
            </a: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a:rPr>
              <a:t>Manifeste JSON</a:t>
            </a: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a:rPr>
              <a:t>Artefact intermédiaire entre analyse et génération.</a:t>
            </a:r>
          </a:p>
          <a:p>
            <a:pPr algn="l"/>
            <a:r>
              <a:rPr sz="950">
                <a:solidFill>
                  <a:srgbClr val="2A3142"/>
                </a:solidFill>
                <a:latin typeface="Calibri"/>
              </a:rPr>
              <a:t>Versionnable sous Git, modifiable sans relancer l'analyse.</a:t>
            </a: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a:rPr>
              <a:t>3 patterns ETL</a:t>
            </a: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a:rPr>
              <a:t>Upsert (idempotence via import_id)</a:t>
            </a:r>
          </a:p>
          <a:p>
            <a:pPr algn="l"/>
            <a:r>
              <a:rPr sz="950">
                <a:solidFill>
                  <a:srgbClr val="2A3142"/>
                </a:solidFill>
                <a:latin typeface="Calibri"/>
              </a:rPr>
              <a:t>Junction Many-to-Many</a:t>
            </a:r>
          </a:p>
          <a:p>
            <a:pPr algn="l"/>
            <a:r>
              <a:rPr sz="950">
                <a:solidFill>
                  <a:srgbClr val="2A3142"/>
                </a:solidFill>
                <a:latin typeface="Calibri"/>
              </a:rPr>
              <a:t>Post-SQL (champs dérivés, séquences)</a:t>
            </a: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a:rPr>
              <a:t>3 piliers</a:t>
            </a: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a:rPr>
              <a:t>Apache Hop — pipelines XML déclaratifs</a:t>
            </a:r>
          </a:p>
          <a:p>
            <a:pPr algn="l"/>
            <a:r>
              <a:rPr sz="950">
                <a:solidFill>
                  <a:srgbClr val="2A3142"/>
                </a:solidFill>
                <a:latin typeface="Calibri"/>
              </a:rPr>
              <a:t>3 skills Claude — analyse, génération</a:t>
            </a:r>
          </a:p>
          <a:p>
            <a:pPr algn="l"/>
            <a:r>
              <a:rPr sz="950">
                <a:solidFill>
                  <a:srgbClr val="2A3142"/>
                </a:solidFill>
                <a:latin typeface="Calibri"/>
              </a:rPr>
              <a:t>Axelor Import Studio — interface web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04  CONCEPTION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Cas d'utilisation — Phase Mapping</a:t>
            </a:r>
          </a:p>
        </p:txBody>
      </p:sp>
      <p:pic>
        <p:nvPicPr>
          <p:cNvPr id="4" name="Picture 3" descr="image.png"/>
          <p:cNvPicPr>
            <a:picLocks noChangeAspect="1"/>
          </p:cNvPicPr>
          <p:nvPr/>
        </p:nvPicPr>
        <p:blipFill>
          <a:blip r:embed="rId3"/>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09</a:t>
            </a:r>
            <a:r>
              <a:rPr sz="1000" b="0">
                <a:solidFill>
                  <a:srgbClr val="7A8294"/>
                </a:solidFill>
                <a:latin typeface="Calibri"/>
              </a:rPr>
              <a:t> / 22</a:t>
            </a:r>
          </a:p>
        </p:txBody>
      </p:sp>
      <p:pic>
        <p:nvPicPr>
          <p:cNvPr id="7" name="Picture 6" descr="image.png"/>
          <p:cNvPicPr>
            <a:picLocks noChangeAspect="1"/>
          </p:cNvPicPr>
          <p:nvPr/>
        </p:nvPicPr>
        <p:blipFill>
          <a:blip r:embed="rId4"/>
          <a:stretch>
            <a:fillRect/>
          </a:stretch>
        </p:blipFill>
        <p:spPr>
          <a:xfrm>
            <a:off x="4547767" y="1760000"/>
            <a:ext cx="3096465" cy="4380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04  CONCEPTION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Cas d'utilisation — Phase Post-mapping</a:t>
            </a:r>
          </a:p>
        </p:txBody>
      </p:sp>
      <p:pic>
        <p:nvPicPr>
          <p:cNvPr id="4" name="Picture 3" descr="image.png"/>
          <p:cNvPicPr>
            <a:picLocks noChangeAspect="1"/>
          </p:cNvPicPr>
          <p:nvPr/>
        </p:nvPicPr>
        <p:blipFill>
          <a:blip r:embed="rId2"/>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10</a:t>
            </a:r>
            <a:r>
              <a:rPr sz="1000" b="0">
                <a:solidFill>
                  <a:srgbClr val="7A8294"/>
                </a:solidFill>
                <a:latin typeface="Calibri"/>
              </a:rPr>
              <a:t> / 22</a:t>
            </a:r>
          </a:p>
        </p:txBody>
      </p:sp>
      <p:pic>
        <p:nvPicPr>
          <p:cNvPr id="7" name="Picture 6" descr="image.png"/>
          <p:cNvPicPr>
            <a:picLocks noChangeAspect="1"/>
          </p:cNvPicPr>
          <p:nvPr/>
        </p:nvPicPr>
        <p:blipFill>
          <a:blip r:embed="rId3"/>
          <a:stretch>
            <a:fillRect/>
          </a:stretch>
        </p:blipFill>
        <p:spPr>
          <a:xfrm>
            <a:off x="4547767" y="1760000"/>
            <a:ext cx="3096465" cy="4380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04  CONCEPTION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Diagramme de séquence — Phase Mapping</a:t>
            </a:r>
          </a:p>
        </p:txBody>
      </p:sp>
      <p:pic>
        <p:nvPicPr>
          <p:cNvPr id="4" name="Picture 3" descr="image.png"/>
          <p:cNvPicPr>
            <a:picLocks noChangeAspect="1"/>
          </p:cNvPicPr>
          <p:nvPr/>
        </p:nvPicPr>
        <p:blipFill>
          <a:blip r:embed="rId2"/>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3"/>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11</a:t>
            </a:r>
            <a:r>
              <a:rPr sz="1000" b="0">
                <a:solidFill>
                  <a:srgbClr val="7A8294"/>
                </a:solidFill>
                <a:latin typeface="Calibri"/>
              </a:rPr>
              <a:t> / 22</a:t>
            </a:r>
          </a:p>
        </p:txBody>
      </p:sp>
      <p:pic>
        <p:nvPicPr>
          <p:cNvPr id="8" name="Picture 7" descr="uml-sequence-mapping.png"/>
          <p:cNvPicPr>
            <a:picLocks noChangeAspect="1"/>
          </p:cNvPicPr>
          <p:nvPr/>
        </p:nvPicPr>
        <p:blipFill>
          <a:blip r:embed="rId4"/>
          <a:stretch>
            <a:fillRect/>
          </a:stretch>
        </p:blipFill>
        <p:spPr>
          <a:xfrm>
            <a:off x="1296000" y="1706400"/>
            <a:ext cx="9600000" cy="43891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04  CONCEPTION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Diagramme de séquence — Phase Post-mapping</a:t>
            </a:r>
          </a:p>
        </p:txBody>
      </p:sp>
      <p:pic>
        <p:nvPicPr>
          <p:cNvPr id="4" name="Picture 3" descr="image.png"/>
          <p:cNvPicPr>
            <a:picLocks noChangeAspect="1"/>
          </p:cNvPicPr>
          <p:nvPr/>
        </p:nvPicPr>
        <p:blipFill>
          <a:blip r:embed="rId2"/>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12</a:t>
            </a:r>
            <a:r>
              <a:rPr sz="1000" b="0">
                <a:solidFill>
                  <a:srgbClr val="7A8294"/>
                </a:solidFill>
                <a:latin typeface="Calibri"/>
              </a:rPr>
              <a:t> / 22</a:t>
            </a:r>
          </a:p>
        </p:txBody>
      </p:sp>
      <p:pic>
        <p:nvPicPr>
          <p:cNvPr id="7" name="Picture 6" descr="uml-sequence-postmapping.png"/>
          <p:cNvPicPr>
            <a:picLocks noChangeAspect="1"/>
          </p:cNvPicPr>
          <p:nvPr/>
        </p:nvPicPr>
        <p:blipFill>
          <a:blip r:embed="rId3"/>
          <a:stretch>
            <a:fillRect/>
          </a:stretch>
        </p:blipFill>
        <p:spPr>
          <a:xfrm>
            <a:off x="1096000" y="1760000"/>
            <a:ext cx="10000000" cy="4300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05  RÉALISATION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Architecture globale du framework</a:t>
            </a: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13</a:t>
            </a:r>
            <a:r>
              <a:rPr sz="1000" b="0">
                <a:solidFill>
                  <a:srgbClr val="7A8294"/>
                </a:solidFill>
                <a:latin typeface="Calibri"/>
              </a:rPr>
              <a:t> / 22</a:t>
            </a:r>
          </a:p>
        </p:txBody>
      </p:sp>
      <p:pic>
        <p:nvPicPr>
          <p:cNvPr id="8" name="Picture 7" descr="Architecture-generale.png"/>
          <p:cNvPicPr>
            <a:picLocks noChangeAspect="1"/>
          </p:cNvPicPr>
          <p:nvPr/>
        </p:nvPicPr>
        <p:blipFill>
          <a:blip r:embed="rId5"/>
          <a:stretch>
            <a:fillRect/>
          </a:stretch>
        </p:blipFill>
        <p:spPr>
          <a:xfrm>
            <a:off x="4431671" y="1760000"/>
            <a:ext cx="1733937" cy="450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05  RÉALISATION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Architecture d'Axelor Import Studio</a:t>
            </a:r>
          </a:p>
        </p:txBody>
      </p:sp>
      <p:pic>
        <p:nvPicPr>
          <p:cNvPr id="4" name="Picture 3" descr="image.png"/>
          <p:cNvPicPr>
            <a:picLocks noChangeAspect="1"/>
          </p:cNvPicPr>
          <p:nvPr/>
        </p:nvPicPr>
        <p:blipFill>
          <a:blip r:embed="rId2"/>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14</a:t>
            </a:r>
            <a:r>
              <a:rPr sz="1000" b="0">
                <a:solidFill>
                  <a:srgbClr val="7A8294"/>
                </a:solidFill>
                <a:latin typeface="Calibri"/>
              </a:rPr>
              <a:t> / 22</a:t>
            </a:r>
          </a:p>
        </p:txBody>
      </p:sp>
      <p:pic>
        <p:nvPicPr>
          <p:cNvPr id="7" name="Picture 6" descr="axelor-mapper-technical-architecture.png"/>
          <p:cNvPicPr>
            <a:picLocks noChangeAspect="1"/>
          </p:cNvPicPr>
          <p:nvPr/>
        </p:nvPicPr>
        <p:blipFill>
          <a:blip r:embed="rId3"/>
          <a:stretch>
            <a:fillRect/>
          </a:stretch>
        </p:blipFill>
        <p:spPr>
          <a:xfrm>
            <a:off x="548640" y="2984365"/>
            <a:ext cx="10400000" cy="195126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05  RÉALISATION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Les pipelines Apache Hop</a:t>
            </a:r>
          </a:p>
        </p:txBody>
      </p:sp>
      <p:pic>
        <p:nvPicPr>
          <p:cNvPr id="4" name="Picture 3" descr="image.png"/>
          <p:cNvPicPr>
            <a:picLocks noChangeAspect="1"/>
          </p:cNvPicPr>
          <p:nvPr/>
        </p:nvPicPr>
        <p:blipFill>
          <a:blip r:embed="rId2"/>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3"/>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20</a:t>
            </a:r>
            <a:r>
              <a:rPr sz="1000" b="0">
                <a:solidFill>
                  <a:srgbClr val="7A8294"/>
                </a:solidFill>
                <a:latin typeface="Calibri"/>
              </a:rPr>
              <a:t> / 22</a:t>
            </a: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a:rPr>
              <a:t>4 domaines couverts — 19 pipelines</a:t>
            </a: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a:rPr>
              <a:t>Produits</a:t>
            </a: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a:rPr>
              <a:t>4 pipelines + 1 workflow</a:t>
            </a: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a:rPr>
              <a:t>Partenaires</a:t>
            </a: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a:rPr>
              <a:t>6 pipelines + 1 workflow</a:t>
            </a: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a:rPr>
              <a:t>Commandes de vente</a:t>
            </a: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a:rPr>
              <a:t>4 pipelines + 1 workflow</a:t>
            </a: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a:rPr>
              <a:t>Factures</a:t>
            </a: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a:rPr>
              <a:t>6 pipelines + 1 workflow</a:t>
            </a: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a:rPr>
              <a:t>3 patterns standardisés</a:t>
            </a: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a:rPr>
              <a:t>Upsert</a:t>
            </a: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a:rPr>
              <a:t>Insert ou Update selon import_id — garantit l'idempotence</a:t>
            </a: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a:rPr>
              <a:t>Junction M2M</a:t>
            </a: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a:rPr>
              <a:t>Peuplement des tables de jonction Many-to-Many</a:t>
            </a: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a:rPr>
              <a:t>Post-SQL</a:t>
            </a: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a:rPr>
              <a:t>Séquences, champs dérivés et totaux calculés après injection</a:t>
            </a: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a:rPr>
              <a:t>Architecture 2 étapes : consolidation (résolution FK + transformations)  →  injection (upsert PostgreSQL)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05  RÉALISATION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Les 3 skills Claude Code</a:t>
            </a:r>
          </a:p>
        </p:txBody>
      </p:sp>
      <p:pic>
        <p:nvPicPr>
          <p:cNvPr id="4" name="Picture 3" descr="image.png"/>
          <p:cNvPicPr>
            <a:picLocks noChangeAspect="1"/>
          </p:cNvPicPr>
          <p:nvPr/>
        </p:nvPicPr>
        <p:blipFill>
          <a:blip r:embed="rId2"/>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3"/>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21</a:t>
            </a:r>
            <a:r>
              <a:rPr sz="1000" b="0">
                <a:solidFill>
                  <a:srgbClr val="7A8294"/>
                </a:solidFill>
                <a:latin typeface="Calibri"/>
              </a:rPr>
              <a:t> / 22</a:t>
            </a:r>
          </a:p>
        </p:txBody>
      </p:sp>
      <p:sp>
        <p:nvSpPr>
          <p:cNvPr id="8" name="Rounded Rectangle 7"/>
          <p:cNvSpPr/>
          <p:nvPr/>
        </p:nvSpPr>
        <p:spPr>
          <a:xfrm>
            <a:off x="548640" y="176000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00" b="0">
                <a:solidFill>
                  <a:srgbClr val="12203F"/>
                </a:solidFill>
                <a:latin typeface="Calibri"/>
              </a:rPr>
              <a:t>CSV source</a:t>
            </a:r>
          </a:p>
          <a:p>
            <a:pPr algn="ctr"/>
            <a:r>
              <a:rPr sz="800" b="0">
                <a:solidFill>
                  <a:srgbClr val="12203F"/>
                </a:solidFill>
                <a:latin typeface="Calibri"/>
              </a:rPr>
              <a:t>Schéma PostgreSQL</a:t>
            </a:r>
          </a:p>
        </p:txBody>
      </p:sp>
      <p:sp>
        <p:nvSpPr>
          <p:cNvPr id="9" name="TextBox 8"/>
          <p:cNvSpPr txBox="1"/>
          <p:nvPr/>
        </p:nvSpPr>
        <p:spPr>
          <a:xfrm>
            <a:off x="1878640" y="2320000"/>
            <a:ext cx="200000" cy="300000"/>
          </a:xfrm>
          <a:prstGeom prst="rect">
            <a:avLst/>
          </a:prstGeom>
          <a:noFill/>
        </p:spPr>
        <p:txBody>
          <a:bodyPr wrap="square">
            <a:spAutoFit/>
          </a:bodyPr>
          <a:lstStyle/>
          <a:p>
            <a:pPr algn="ctr"/>
            <a:r>
              <a:rPr sz="1400" b="1" i="0">
                <a:solidFill>
                  <a:srgbClr val="1F4E9C"/>
                </a:solidFill>
                <a:latin typeface="Calibri"/>
              </a:rPr>
              <a:t>&gt;</a:t>
            </a:r>
          </a:p>
        </p:txBody>
      </p:sp>
      <p:sp>
        <p:nvSpPr>
          <p:cNvPr id="10" name="Rounded Rectangle 9"/>
          <p:cNvSpPr/>
          <p:nvPr/>
        </p:nvSpPr>
        <p:spPr>
          <a:xfrm>
            <a:off x="2108640" y="176000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12203F"/>
                </a:solidFill>
                <a:latin typeface="Calibri"/>
              </a:rPr>
              <a:t>analyze-and-map-entity</a:t>
            </a:r>
          </a:p>
        </p:txBody>
      </p:sp>
      <p:sp>
        <p:nvSpPr>
          <p:cNvPr id="11" name="TextBox 10"/>
          <p:cNvSpPr txBox="1"/>
          <p:nvPr/>
        </p:nvSpPr>
        <p:spPr>
          <a:xfrm>
            <a:off x="4138640" y="2320000"/>
            <a:ext cx="200000" cy="300000"/>
          </a:xfrm>
          <a:prstGeom prst="rect">
            <a:avLst/>
          </a:prstGeom>
          <a:noFill/>
        </p:spPr>
        <p:txBody>
          <a:bodyPr wrap="square">
            <a:spAutoFit/>
          </a:bodyPr>
          <a:lstStyle/>
          <a:p>
            <a:pPr algn="ctr"/>
            <a:r>
              <a:rPr sz="1400" b="1" i="0">
                <a:solidFill>
                  <a:srgbClr val="1F4E9C"/>
                </a:solidFill>
                <a:latin typeface="Calibri"/>
              </a:rPr>
              <a:t>&gt;</a:t>
            </a:r>
          </a:p>
        </p:txBody>
      </p:sp>
      <p:sp>
        <p:nvSpPr>
          <p:cNvPr id="12" name="Rounded Rectangle 11"/>
          <p:cNvSpPr/>
          <p:nvPr/>
        </p:nvSpPr>
        <p:spPr>
          <a:xfrm>
            <a:off x="4368640" y="176000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00" b="0">
                <a:solidFill>
                  <a:srgbClr val="12203F"/>
                </a:solidFill>
                <a:latin typeface="Calibri"/>
              </a:rPr>
              <a:t>Manifeste JSON</a:t>
            </a: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a:rPr>
              <a:t>Lit le CSV, introspècte la BD,</a:t>
            </a: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a:rPr>
              <a:t>résout les FK interactivement</a:t>
            </a: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a:rPr>
              <a:t>avec le consultant</a:t>
            </a:r>
          </a:p>
        </p:txBody>
      </p:sp>
      <p:sp>
        <p:nvSpPr>
          <p:cNvPr id="16" name="Rounded Rectangle 15"/>
          <p:cNvSpPr/>
          <p:nvPr/>
        </p:nvSpPr>
        <p:spPr>
          <a:xfrm>
            <a:off x="548640" y="340000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00" b="0">
                <a:solidFill>
                  <a:srgbClr val="12203F"/>
                </a:solidFill>
                <a:latin typeface="Calibri"/>
              </a:rPr>
              <a:t>Manifeste JSON</a:t>
            </a:r>
          </a:p>
        </p:txBody>
      </p:sp>
      <p:sp>
        <p:nvSpPr>
          <p:cNvPr id="17" name="TextBox 16"/>
          <p:cNvSpPr txBox="1"/>
          <p:nvPr/>
        </p:nvSpPr>
        <p:spPr>
          <a:xfrm>
            <a:off x="1878640" y="3960000"/>
            <a:ext cx="200000" cy="300000"/>
          </a:xfrm>
          <a:prstGeom prst="rect">
            <a:avLst/>
          </a:prstGeom>
          <a:noFill/>
        </p:spPr>
        <p:txBody>
          <a:bodyPr wrap="square">
            <a:spAutoFit/>
          </a:bodyPr>
          <a:lstStyle/>
          <a:p>
            <a:pPr algn="ctr"/>
            <a:r>
              <a:rPr sz="1400" b="1" i="0">
                <a:solidFill>
                  <a:srgbClr val="1F4E9C"/>
                </a:solidFill>
                <a:latin typeface="Calibri"/>
              </a:rPr>
              <a:t>&gt;</a:t>
            </a:r>
          </a:p>
        </p:txBody>
      </p:sp>
      <p:sp>
        <p:nvSpPr>
          <p:cNvPr id="18" name="Rounded Rectangle 17"/>
          <p:cNvSpPr/>
          <p:nvPr/>
        </p:nvSpPr>
        <p:spPr>
          <a:xfrm>
            <a:off x="2108640" y="340000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12203F"/>
                </a:solidFill>
                <a:latin typeface="Calibri"/>
              </a:rPr>
              <a:t>generate-pipeline</a:t>
            </a:r>
          </a:p>
        </p:txBody>
      </p:sp>
      <p:sp>
        <p:nvSpPr>
          <p:cNvPr id="19" name="TextBox 18"/>
          <p:cNvSpPr txBox="1"/>
          <p:nvPr/>
        </p:nvSpPr>
        <p:spPr>
          <a:xfrm>
            <a:off x="4138640" y="3960000"/>
            <a:ext cx="200000" cy="300000"/>
          </a:xfrm>
          <a:prstGeom prst="rect">
            <a:avLst/>
          </a:prstGeom>
          <a:noFill/>
        </p:spPr>
        <p:txBody>
          <a:bodyPr wrap="square">
            <a:spAutoFit/>
          </a:bodyPr>
          <a:lstStyle/>
          <a:p>
            <a:pPr algn="ctr"/>
            <a:r>
              <a:rPr sz="1400" b="1" i="0">
                <a:solidFill>
                  <a:srgbClr val="1F4E9C"/>
                </a:solidFill>
                <a:latin typeface="Calibri"/>
              </a:rPr>
              <a:t>&gt;</a:t>
            </a:r>
          </a:p>
        </p:txBody>
      </p:sp>
      <p:sp>
        <p:nvSpPr>
          <p:cNvPr id="20" name="Rounded Rectangle 19"/>
          <p:cNvSpPr/>
          <p:nvPr/>
        </p:nvSpPr>
        <p:spPr>
          <a:xfrm>
            <a:off x="4368640" y="340000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00" b="0">
                <a:solidFill>
                  <a:srgbClr val="12203F"/>
                </a:solidFill>
                <a:latin typeface="Calibri"/>
              </a:rPr>
              <a:t>Fichiers .hpl (Apache Hop)</a:t>
            </a: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a:rPr>
              <a:t>Génère les pipelines XML</a:t>
            </a: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a:rPr>
              <a:t>conformes au schéma Hop</a:t>
            </a: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a:rPr>
              <a:t>pour chaque entité</a:t>
            </a:r>
          </a:p>
        </p:txBody>
      </p:sp>
      <p:sp>
        <p:nvSpPr>
          <p:cNvPr id="24" name="Rounded Rectangle 23"/>
          <p:cNvSpPr/>
          <p:nvPr/>
        </p:nvSpPr>
        <p:spPr>
          <a:xfrm>
            <a:off x="548640" y="504000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00" b="0">
                <a:solidFill>
                  <a:srgbClr val="12203F"/>
                </a:solidFill>
                <a:latin typeface="Calibri"/>
              </a:rPr>
              <a:t>Manifeste JSON</a:t>
            </a:r>
          </a:p>
        </p:txBody>
      </p:sp>
      <p:sp>
        <p:nvSpPr>
          <p:cNvPr id="25" name="TextBox 24"/>
          <p:cNvSpPr txBox="1"/>
          <p:nvPr/>
        </p:nvSpPr>
        <p:spPr>
          <a:xfrm>
            <a:off x="1878640" y="5600000"/>
            <a:ext cx="200000" cy="300000"/>
          </a:xfrm>
          <a:prstGeom prst="rect">
            <a:avLst/>
          </a:prstGeom>
          <a:noFill/>
        </p:spPr>
        <p:txBody>
          <a:bodyPr wrap="square">
            <a:spAutoFit/>
          </a:bodyPr>
          <a:lstStyle/>
          <a:p>
            <a:pPr algn="ctr"/>
            <a:r>
              <a:rPr sz="1400" b="1" i="0">
                <a:solidFill>
                  <a:srgbClr val="1F4E9C"/>
                </a:solidFill>
                <a:latin typeface="Calibri"/>
              </a:rPr>
              <a:t>&gt;</a:t>
            </a:r>
          </a:p>
        </p:txBody>
      </p:sp>
      <p:sp>
        <p:nvSpPr>
          <p:cNvPr id="26" name="Rounded Rectangle 25"/>
          <p:cNvSpPr/>
          <p:nvPr/>
        </p:nvSpPr>
        <p:spPr>
          <a:xfrm>
            <a:off x="2108640" y="504000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12203F"/>
                </a:solidFill>
                <a:latin typeface="Calibri"/>
              </a:rPr>
              <a:t>generate-workflow</a:t>
            </a:r>
          </a:p>
        </p:txBody>
      </p:sp>
      <p:sp>
        <p:nvSpPr>
          <p:cNvPr id="27" name="TextBox 26"/>
          <p:cNvSpPr txBox="1"/>
          <p:nvPr/>
        </p:nvSpPr>
        <p:spPr>
          <a:xfrm>
            <a:off x="4138640" y="5600000"/>
            <a:ext cx="200000" cy="300000"/>
          </a:xfrm>
          <a:prstGeom prst="rect">
            <a:avLst/>
          </a:prstGeom>
          <a:noFill/>
        </p:spPr>
        <p:txBody>
          <a:bodyPr wrap="square">
            <a:spAutoFit/>
          </a:bodyPr>
          <a:lstStyle/>
          <a:p>
            <a:pPr algn="ctr"/>
            <a:r>
              <a:rPr sz="1400" b="1" i="0">
                <a:solidFill>
                  <a:srgbClr val="1F4E9C"/>
                </a:solidFill>
                <a:latin typeface="Calibri"/>
              </a:rPr>
              <a:t>&gt;</a:t>
            </a:r>
          </a:p>
        </p:txBody>
      </p:sp>
      <p:sp>
        <p:nvSpPr>
          <p:cNvPr id="28" name="Rounded Rectangle 27"/>
          <p:cNvSpPr/>
          <p:nvPr/>
        </p:nvSpPr>
        <p:spPr>
          <a:xfrm>
            <a:off x="4368640" y="504000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00" b="0">
                <a:solidFill>
                  <a:srgbClr val="12203F"/>
                </a:solidFill>
                <a:latin typeface="Calibri"/>
              </a:rPr>
              <a:t>Fichier .hwf</a:t>
            </a: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a:rPr>
              <a:t>Génère le workflow d'orchestration</a:t>
            </a: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a:rPr>
              <a:t>qui enchaîne les pipelines</a:t>
            </a: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a:rPr>
              <a:t>dans le bon ordre topologique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05  RÉALISATION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Axelor Import Studio — Interface</a:t>
            </a:r>
          </a:p>
        </p:txBody>
      </p:sp>
      <p:pic>
        <p:nvPicPr>
          <p:cNvPr id="4" name="Picture 3" descr="image.png"/>
          <p:cNvPicPr>
            <a:picLocks noChangeAspect="1"/>
          </p:cNvPicPr>
          <p:nvPr/>
        </p:nvPicPr>
        <p:blipFill>
          <a:blip r:embed="rId2"/>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17</a:t>
            </a:r>
            <a:r>
              <a:rPr sz="1000" b="0">
                <a:solidFill>
                  <a:srgbClr val="7A8294"/>
                </a:solidFill>
                <a:latin typeface="Calibri"/>
              </a:rPr>
              <a:t> / 22</a:t>
            </a: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a:rPr>
              <a:t>[Insérer capture d'écran de l'interface ici]</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06  CONCLUSION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Bilan des réalisations</a:t>
            </a: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18</a:t>
            </a:r>
            <a:r>
              <a:rPr sz="1000" b="0">
                <a:solidFill>
                  <a:srgbClr val="7A8294"/>
                </a:solidFill>
                <a:latin typeface="Calibri"/>
              </a:rPr>
              <a:t> / 22</a:t>
            </a: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a:rPr>
              <a:t>19 pipelines ETL réutilisables</a:t>
            </a: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a:rPr>
              <a:t>Couvrant 4 domaines : produits, partenaires, commandes de vente, factures</a:t>
            </a: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a:rPr>
              <a:t>3 skills Claude Code</a:t>
            </a: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a:rPr>
              <a:t>analyze-and-map-entity · generate-pipeline · generate-workflow</a:t>
            </a: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a:rPr>
              <a:t>Axelor Import Studio</a:t>
            </a: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a:rPr>
              <a:t>Application web FastAPI + React + terminal PTY (xterm.js + WebSocket)</a:t>
            </a: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a:rPr>
              <a:t>Manifeste JSON</a:t>
            </a: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a:rPr>
              <a:t>Contrat versionnable entre analyse IA et génération de pipelines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a:rPr>
              <a:t>06  CONCLUSION</a:t>
            </a: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a:rPr>
              <a:t>Résultats &amp; Validation</a:t>
            </a:r>
          </a:p>
        </p:txBody>
      </p:sp>
      <p:pic>
        <p:nvPicPr>
          <p:cNvPr id="4" name="Picture 3" descr="image.png"/>
          <p:cNvPicPr>
            <a:picLocks noChangeAspect="1"/>
          </p:cNvPicPr>
          <p:nvPr/>
        </p:nvPicPr>
        <p:blipFill>
          <a:blip r:embed="rId2"/>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3"/>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a:rPr>
              <a:t>Projet de Fin d'Études : Génie Informatique</a:t>
            </a: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a:rPr>
              <a:t>19</a:t>
            </a:r>
            <a:r>
              <a:rPr sz="1000" b="0">
                <a:solidFill>
                  <a:srgbClr val="7A8294"/>
                </a:solidFill>
                <a:latin typeface="Calibri"/>
              </a:rPr>
              <a:t> / 22</a:t>
            </a: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a:rPr>
                        <a:t>Entité</a:t>
                      </a:r>
                    </a:p>
                  </a:txBody>
                  <a:tcPr>
                    <a:solidFill>
                      <a:srgbClr val="D6E4F0"/>
                    </a:solidFill>
                  </a:tcPr>
                </a:tc>
                <a:tc>
                  <a:txBody>
                    <a:bodyPr wrap="square"/>
                    <a:lstStyle/>
                    <a:p>
                      <a:pPr algn="ctr"/>
                      <a:r>
                        <a:rPr sz="900" b="1">
                          <a:solidFill>
                            <a:srgbClr val="12203F"/>
                          </a:solidFill>
                          <a:latin typeface="Calibri"/>
                        </a:rPr>
                        <a:t>Enregistrements</a:t>
                      </a:r>
                    </a:p>
                  </a:txBody>
                  <a:tcPr>
                    <a:solidFill>
                      <a:srgbClr val="D6E4F0"/>
                    </a:solidFill>
                  </a:tcPr>
                </a:tc>
                <a:tc>
                  <a:txBody>
                    <a:bodyPr wrap="square"/>
                    <a:lstStyle/>
                    <a:p>
                      <a:pPr algn="ctr"/>
                      <a:r>
                        <a:rPr sz="900" b="1">
                          <a:solidFill>
                            <a:srgbClr val="12203F"/>
                          </a:solidFill>
                          <a:latin typeface="Calibri"/>
                        </a:rPr>
                        <a:t>Importés</a:t>
                      </a:r>
                    </a:p>
                  </a:txBody>
                  <a:tcPr>
                    <a:solidFill>
                      <a:srgbClr val="D6E4F0"/>
                    </a:solidFill>
                  </a:tcPr>
                </a:tc>
                <a:tc>
                  <a:txBody>
                    <a:bodyPr wrap="square"/>
                    <a:lstStyle/>
                    <a:p>
                      <a:pPr algn="ctr"/>
                      <a:r>
                        <a:rPr sz="900" b="1">
                          <a:solidFill>
                            <a:srgbClr val="12203F"/>
                          </a:solidFill>
                          <a:latin typeface="Calibri"/>
                        </a:rPr>
                        <a:t>Erreurs (volontaires)</a:t>
                      </a:r>
                    </a:p>
                  </a:txBody>
                  <a:tcPr>
                    <a:solidFill>
                      <a:srgbClr val="D6E4F0"/>
                    </a:solidFill>
                  </a:tcPr>
                </a:tc>
              </a:tr>
              <a:tr h="426666">
                <a:tc>
                  <a:txBody>
                    <a:bodyPr wrap="square"/>
                    <a:lstStyle/>
                    <a:p>
                      <a:pPr algn="l"/>
                      <a:r>
                        <a:rPr sz="900" b="0">
                          <a:solidFill>
                            <a:srgbClr val="12203F"/>
                          </a:solidFill>
                          <a:latin typeface="Calibri"/>
                        </a:rPr>
                        <a:t>Produits</a:t>
                      </a:r>
                    </a:p>
                  </a:txBody>
                  <a:tcPr>
                    <a:solidFill>
                      <a:srgbClr val="F5F5F5"/>
                    </a:solidFill>
                  </a:tcPr>
                </a:tc>
                <a:tc>
                  <a:txBody>
                    <a:bodyPr wrap="square"/>
                    <a:lstStyle/>
                    <a:p>
                      <a:pPr algn="ctr"/>
                      <a:r>
                        <a:rPr sz="900" b="0">
                          <a:solidFill>
                            <a:srgbClr val="2A3142"/>
                          </a:solidFill>
                          <a:latin typeface="Calibri"/>
                        </a:rPr>
                        <a:t>75</a:t>
                      </a:r>
                    </a:p>
                  </a:txBody>
                  <a:tcPr>
                    <a:solidFill>
                      <a:srgbClr val="F5F5F5"/>
                    </a:solidFill>
                  </a:tcPr>
                </a:tc>
                <a:tc>
                  <a:txBody>
                    <a:bodyPr wrap="square"/>
                    <a:lstStyle/>
                    <a:p>
                      <a:pPr algn="ctr"/>
                      <a:r>
                        <a:rPr sz="900" b="0">
                          <a:solidFill>
                            <a:srgbClr val="2A3142"/>
                          </a:solidFill>
                          <a:latin typeface="Calibri"/>
                        </a:rPr>
                        <a:t>72</a:t>
                      </a:r>
                    </a:p>
                  </a:txBody>
                  <a:tcPr>
                    <a:solidFill>
                      <a:srgbClr val="F5F5F5"/>
                    </a:solidFill>
                  </a:tcPr>
                </a:tc>
                <a:tc>
                  <a:txBody>
                    <a:bodyPr wrap="square"/>
                    <a:lstStyle/>
                    <a:p>
                      <a:pPr algn="l"/>
                      <a:r>
                        <a:rPr sz="900" b="0">
                          <a:solidFill>
                            <a:srgbClr val="2A3142"/>
                          </a:solidFill>
                          <a:latin typeface="Calibri"/>
                        </a:rPr>
                        <a:t>3 — champ name vide</a:t>
                      </a:r>
                    </a:p>
                  </a:txBody>
                  <a:tcPr>
                    <a:solidFill>
                      <a:srgbClr val="F5F5F5"/>
                    </a:solidFill>
                  </a:tcPr>
                </a:tc>
              </a:tr>
              <a:tr h="426666">
                <a:tc>
                  <a:txBody>
                    <a:bodyPr wrap="square"/>
                    <a:lstStyle/>
                    <a:p>
                      <a:pPr algn="l"/>
                      <a:r>
                        <a:rPr sz="900" b="0">
                          <a:solidFill>
                            <a:srgbClr val="12203F"/>
                          </a:solidFill>
                          <a:latin typeface="Calibri"/>
                        </a:rPr>
                        <a:t>Partenaires / Adresses</a:t>
                      </a:r>
                    </a:p>
                  </a:txBody>
                  <a:tcPr>
                    <a:solidFill>
                      <a:srgbClr val="FFFFFF"/>
                    </a:solidFill>
                  </a:tcPr>
                </a:tc>
                <a:tc>
                  <a:txBody>
                    <a:bodyPr wrap="square"/>
                    <a:lstStyle/>
                    <a:p>
                      <a:pPr algn="ctr"/>
                      <a:r>
                        <a:rPr sz="900" b="0">
                          <a:solidFill>
                            <a:srgbClr val="2A3142"/>
                          </a:solidFill>
                          <a:latin typeface="Calibri"/>
                        </a:rPr>
                        <a:t>68</a:t>
                      </a:r>
                    </a:p>
                  </a:txBody>
                  <a:tcPr>
                    <a:solidFill>
                      <a:srgbClr val="FFFFFF"/>
                    </a:solidFill>
                  </a:tcPr>
                </a:tc>
                <a:tc>
                  <a:txBody>
                    <a:bodyPr wrap="square"/>
                    <a:lstStyle/>
                    <a:p>
                      <a:pPr algn="ctr"/>
                      <a:r>
                        <a:rPr sz="900" b="0">
                          <a:solidFill>
                            <a:srgbClr val="2A3142"/>
                          </a:solidFill>
                          <a:latin typeface="Calibri"/>
                        </a:rPr>
                        <a:t>64</a:t>
                      </a:r>
                    </a:p>
                  </a:txBody>
                  <a:tcPr>
                    <a:solidFill>
                      <a:srgbClr val="FFFFFF"/>
                    </a:solidFill>
                  </a:tcPr>
                </a:tc>
                <a:tc>
                  <a:txBody>
                    <a:bodyPr wrap="square"/>
                    <a:lstStyle/>
                    <a:p>
                      <a:pPr algn="l"/>
                      <a:r>
                        <a:rPr sz="900" b="0">
                          <a:solidFill>
                            <a:srgbClr val="2A3142"/>
                          </a:solidFill>
                          <a:latin typeface="Calibri"/>
                        </a:rPr>
                        <a:t>4 — parentPartner non résolu</a:t>
                      </a:r>
                    </a:p>
                  </a:txBody>
                  <a:tcPr>
                    <a:solidFill>
                      <a:srgbClr val="FFFFFF"/>
                    </a:solidFill>
                  </a:tcPr>
                </a:tc>
              </a:tr>
              <a:tr h="426666">
                <a:tc>
                  <a:txBody>
                    <a:bodyPr wrap="square"/>
                    <a:lstStyle/>
                    <a:p>
                      <a:pPr algn="l"/>
                      <a:r>
                        <a:rPr sz="900" b="0">
                          <a:solidFill>
                            <a:srgbClr val="12203F"/>
                          </a:solidFill>
                          <a:latin typeface="Calibri"/>
                        </a:rPr>
                        <a:t>Commandes de vente</a:t>
                      </a:r>
                    </a:p>
                  </a:txBody>
                  <a:tcPr>
                    <a:solidFill>
                      <a:srgbClr val="F5F5F5"/>
                    </a:solidFill>
                  </a:tcPr>
                </a:tc>
                <a:tc>
                  <a:txBody>
                    <a:bodyPr wrap="square"/>
                    <a:lstStyle/>
                    <a:p>
                      <a:pPr algn="ctr"/>
                      <a:r>
                        <a:rPr sz="900" b="0">
                          <a:solidFill>
                            <a:srgbClr val="2A3142"/>
                          </a:solidFill>
                          <a:latin typeface="Calibri"/>
                        </a:rPr>
                        <a:t>1 000</a:t>
                      </a:r>
                    </a:p>
                  </a:txBody>
                  <a:tcPr>
                    <a:solidFill>
                      <a:srgbClr val="F5F5F5"/>
                    </a:solidFill>
                  </a:tcPr>
                </a:tc>
                <a:tc>
                  <a:txBody>
                    <a:bodyPr wrap="square"/>
                    <a:lstStyle/>
                    <a:p>
                      <a:pPr algn="ctr"/>
                      <a:r>
                        <a:rPr sz="900" b="0">
                          <a:solidFill>
                            <a:srgbClr val="2A3142"/>
                          </a:solidFill>
                          <a:latin typeface="Calibri"/>
                        </a:rPr>
                        <a:t>962</a:t>
                      </a:r>
                    </a:p>
                  </a:txBody>
                  <a:tcPr>
                    <a:solidFill>
                      <a:srgbClr val="F5F5F5"/>
                    </a:solidFill>
                  </a:tcPr>
                </a:tc>
                <a:tc>
                  <a:txBody>
                    <a:bodyPr wrap="square"/>
                    <a:lstStyle/>
                    <a:p>
                      <a:pPr algn="l"/>
                      <a:r>
                        <a:rPr sz="900" b="0">
                          <a:solidFill>
                            <a:srgbClr val="2A3142"/>
                          </a:solidFill>
                          <a:latin typeface="Calibri"/>
                        </a:rPr>
                        <a:t>38 — référence manquante</a:t>
                      </a:r>
                    </a:p>
                  </a:txBody>
                  <a:tcPr>
                    <a:solidFill>
                      <a:srgbClr val="F5F5F5"/>
                    </a:solidFill>
                  </a:tcPr>
                </a:tc>
              </a:tr>
              <a:tr h="426666">
                <a:tc>
                  <a:txBody>
                    <a:bodyPr wrap="square"/>
                    <a:lstStyle/>
                    <a:p>
                      <a:pPr algn="l"/>
                      <a:r>
                        <a:rPr sz="900" b="0">
                          <a:solidFill>
                            <a:srgbClr val="12203F"/>
                          </a:solidFill>
                          <a:latin typeface="Calibri"/>
                        </a:rPr>
                        <a:t>Factures</a:t>
                      </a:r>
                    </a:p>
                  </a:txBody>
                  <a:tcPr>
                    <a:solidFill>
                      <a:srgbClr val="FFFFFF"/>
                    </a:solidFill>
                  </a:tcPr>
                </a:tc>
                <a:tc>
                  <a:txBody>
                    <a:bodyPr wrap="square"/>
                    <a:lstStyle/>
                    <a:p>
                      <a:pPr algn="ctr"/>
                      <a:r>
                        <a:rPr sz="900" b="0">
                          <a:solidFill>
                            <a:srgbClr val="2A3142"/>
                          </a:solidFill>
                          <a:latin typeface="Calibri"/>
                        </a:rPr>
                        <a:t>1 000</a:t>
                      </a:r>
                    </a:p>
                  </a:txBody>
                  <a:tcPr>
                    <a:solidFill>
                      <a:srgbClr val="FFFFFF"/>
                    </a:solidFill>
                  </a:tcPr>
                </a:tc>
                <a:tc>
                  <a:txBody>
                    <a:bodyPr wrap="square"/>
                    <a:lstStyle/>
                    <a:p>
                      <a:pPr algn="ctr"/>
                      <a:r>
                        <a:rPr sz="900" b="0">
                          <a:solidFill>
                            <a:srgbClr val="2A3142"/>
                          </a:solidFill>
                          <a:latin typeface="Calibri"/>
                        </a:rPr>
                        <a:t>950</a:t>
                      </a:r>
                    </a:p>
                  </a:txBody>
                  <a:tcPr>
                    <a:solidFill>
                      <a:srgbClr val="FFFFFF"/>
                    </a:solidFill>
                  </a:tcPr>
                </a:tc>
                <a:tc>
                  <a:txBody>
                    <a:bodyPr wrap="square"/>
                    <a:lstStyle/>
                    <a:p>
                      <a:pPr algn="l"/>
                      <a:r>
                        <a:rPr sz="900" b="0">
                          <a:solidFill>
                            <a:srgbClr val="2A3142"/>
                          </a:solidFill>
                          <a:latin typeface="Calibri"/>
                        </a:rPr>
                        <a:t>50 — statusSelect absent</a:t>
                      </a:r>
                    </a:p>
                  </a:txBody>
                  <a:tcPr>
                    <a:solidFill>
                      <a:srgbClr val="FFFFFF"/>
                    </a:solidFill>
                  </a:tcPr>
                </a:tc>
              </a:tr>
              <a:tr h="426666">
                <a:tc>
                  <a:txBody>
                    <a:bodyPr wrap="square"/>
                    <a:lstStyle/>
                    <a:p>
                      <a:pPr algn="l"/>
                      <a:r>
                        <a:rPr sz="900" b="0">
                          <a:solidFill>
                            <a:srgbClr val="12203F"/>
                          </a:solidFill>
                          <a:latin typeface="Calibri"/>
                        </a:rPr>
                        <a:t>Lignes (cmd + fact)</a:t>
                      </a:r>
                    </a:p>
                  </a:txBody>
                  <a:tcPr>
                    <a:solidFill>
                      <a:srgbClr val="F5F5F5"/>
                    </a:solidFill>
                  </a:tcPr>
                </a:tc>
                <a:tc>
                  <a:txBody>
                    <a:bodyPr wrap="square"/>
                    <a:lstStyle/>
                    <a:p>
                      <a:pPr algn="ctr"/>
                      <a:r>
                        <a:rPr sz="900" b="0">
                          <a:solidFill>
                            <a:srgbClr val="2A3142"/>
                          </a:solidFill>
                          <a:latin typeface="Calibri"/>
                        </a:rPr>
                        <a:t>7 961</a:t>
                      </a:r>
                    </a:p>
                  </a:txBody>
                  <a:tcPr>
                    <a:solidFill>
                      <a:srgbClr val="F5F5F5"/>
                    </a:solidFill>
                  </a:tcPr>
                </a:tc>
                <a:tc>
                  <a:txBody>
                    <a:bodyPr wrap="square"/>
                    <a:lstStyle/>
                    <a:p>
                      <a:pPr algn="ctr"/>
                      <a:r>
                        <a:rPr sz="900" b="0">
                          <a:solidFill>
                            <a:srgbClr val="2A3142"/>
                          </a:solidFill>
                          <a:latin typeface="Calibri"/>
                        </a:rPr>
                        <a:t>7 961</a:t>
                      </a:r>
                    </a:p>
                  </a:txBody>
                  <a:tcPr>
                    <a:solidFill>
                      <a:srgbClr val="F5F5F5"/>
                    </a:solidFill>
                  </a:tcPr>
                </a:tc>
                <a:tc>
                  <a:txBody>
                    <a:bodyPr wrap="square"/>
                    <a:lstStyle/>
                    <a:p>
                      <a:pPr algn="l"/>
                      <a:r>
                        <a:rPr sz="900" b="0">
                          <a:solidFill>
                            <a:srgbClr val="2A3142"/>
                          </a:solidFill>
                          <a:latin typeface="Calibri"/>
                        </a:rPr>
                        <a:t>0</a:t>
                      </a: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50" b="1">
                <a:solidFill>
                  <a:srgbClr val="12203F"/>
                </a:solidFill>
                <a:latin typeface="Calibri"/>
              </a:rPr>
              <a:t>Ventilation des factures</a:t>
            </a:r>
          </a:p>
          <a:p>
            <a:pPr algn="ctr"/>
            <a:r>
              <a:rPr sz="850" b="0">
                <a:solidFill>
                  <a:srgbClr val="2A3142"/>
                </a:solidFill>
                <a:latin typeface="Calibri"/>
              </a:rPr>
              <a:t>Réussie — mouvements et lignes comptables créés</a:t>
            </a: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50" b="1">
                <a:solidFill>
                  <a:srgbClr val="12203F"/>
                </a:solidFill>
                <a:latin typeface="Calibri"/>
              </a:rPr>
              <a:t>Idempotence</a:t>
            </a:r>
          </a:p>
          <a:p>
            <a:pPr algn="ctr"/>
            <a:r>
              <a:rPr sz="850" b="0">
                <a:solidFill>
                  <a:srgbClr val="2A3142"/>
                </a:solidFill>
                <a:latin typeface="Calibri"/>
              </a:rPr>
              <a:t>0 doublon sur ré-exécution complète du workflow</a:t>
            </a: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50" b="1">
                <a:solidFill>
                  <a:srgbClr val="12203F"/>
                </a:solidFill>
                <a:latin typeface="Calibri"/>
              </a:rPr>
              <a:t>Performance</a:t>
            </a:r>
          </a:p>
          <a:p>
            <a:pPr algn="ctr"/>
            <a:r>
              <a:rPr sz="850" b="0">
                <a:solidFill>
                  <a:srgbClr val="2A3142"/>
                </a:solidFill>
                <a:latin typeface="Calibri"/>
              </a:rPr>
              <a:t>3.6× plus rapide que l'import natif Axelor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a:rPr>
              <a:t>15</a:t>
            </a:r>
            <a:r>
              <a:rPr sz="1000" b="0">
                <a:solidFill>
                  <a:srgbClr val="7A8294"/>
                </a:solidFill>
                <a:latin typeface="Calibri"/>
              </a:rPr>
              <a:t> / 17</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a:rPr>
              <a:t>16</a:t>
            </a:r>
            <a:r>
              <a:rPr sz="1000" b="0">
                <a:solidFill>
                  <a:srgbClr val="7A8294"/>
                </a:solidFill>
                <a:latin typeface="Calibri"/>
              </a:rPr>
              <a:t> / 17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4709</Words>
  <Application>WPS Presentation</Application>
  <PresentationFormat>On-screen Show (16:9)</PresentationFormat>
  <Paragraphs>250</Paragraphs>
  <Slides>11</Slides>
  <Notes>9</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11</vt:i4>
      </vt:variant>
    </vt:vector>
  </HeadingPairs>
  <TitlesOfParts>
    <vt:vector size="23" baseType="lpstr">
      <vt:lpstr>Arial</vt:lpstr>
      <vt:lpstr>SimSun</vt:lpstr>
      <vt:lpstr>Wingdings</vt:lpstr>
      <vt:lpstr>Calibri</vt:lpstr>
      <vt:lpstr>Calibri</vt:lpstr>
      <vt:lpstr>Calibri</vt:lpstr>
      <vt:lpstr>Cambria</vt:lpstr>
      <vt:lpstr>Cambria</vt:lpstr>
      <vt:lpstr>Cambria</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11</cp:revision>
  <dcterms:created xsi:type="dcterms:W3CDTF">2026-06-26T14:43:00Z</dcterms:created>
  <dcterms:modified xsi:type="dcterms:W3CDTF">2026-06-29T16:35:10Z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