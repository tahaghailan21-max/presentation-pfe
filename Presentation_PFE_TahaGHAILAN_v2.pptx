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docProps\app.xml><?xml version="1.0" encoding="utf-8"?>
<Properties xmlns="http://schemas.openxmlformats.org/officeDocument/2006/extended-properties" xmlns:vt="http://schemas.openxmlformats.org/officeDocument/2006/docPropsVTypes">
  <TotalTime>0</TotalTime>
  <Words>7927</Words>
  <Application>WPS Presentation</Application>
  <PresentationFormat>On-screen Show (16:9)</PresentationFormat>
  <Paragraphs>623</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29</cp:revision>
  <dcterms:created xsi:type="dcterms:W3CDTF">2026-06-26T14:43:00Z</dcterms:created>
  <dcterms:modified xsi:type="dcterms:W3CDTF">2026-07-03T10:28:18Z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en-US" altLang="en-US"/>
              <a:t>è</a:t>
            </a:r>
            <a:r>
              <a:rPr lang="en-US" altLang="en-US"/>
              <a:t>me agent lit ce manifeste et gén</a:t>
            </a:r>
            <a:r>
              <a:rPr lang="en-US"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en-US"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en-US" altLang="en-US"/>
              <a:t>è</a:t>
            </a:r>
            <a:r>
              <a:rPr lang="en-US" altLang="en-US"/>
              <a:t>re les relations many-to-many. Et le post-SQL traite les champs dérivés et les séquences apr</a:t>
            </a:r>
            <a:r>
              <a:rPr lang="en-US"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en-US" altLang="en-US"/>
              <a:t>è</a:t>
            </a:r>
            <a:r>
              <a:rPr lang="en-US" altLang="en-US"/>
              <a:t>re-t-il dans PostgreSQL sans passer par Axelor ?</a:t>
            </a:r>
            <a:endParaRPr lang="en-US" altLang="en-US"/>
          </a:p>
          <a:p>
            <a:endParaRPr lang="en-US" altLang="en-US"/>
          </a:p>
          <a:p>
            <a:r>
              <a:rPr lang="en-US" altLang="en-US"/>
              <a:t>▎ Acc</a:t>
            </a:r>
            <a:r>
              <a:rPr lang="en-US"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en-US"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Une fois le manifeste validé, on entre dans la phase post-mapping.</a:t>
            </a:r>
            <a:endParaRPr lang="en-US" altLang="en-US"/>
          </a:p>
          <a:p>
            <a:endParaRPr lang="en-US" altLang="en-US"/>
          </a:p>
          <a:p>
            <a:r>
              <a:rPr lang="en-US" altLang="en-US"/>
              <a:t>L'utilisateur lance la génération des pipelines en indiquant les chemins vers le manifeste, les données source et le dossier de sortie. Il peut aussi fournir du contexte additionnel à l'agent IA si nécessaire, pour affiner la génération.</a:t>
            </a:r>
            <a:endParaRPr lang="en-US" altLang="en-US"/>
          </a:p>
          <a:p>
            <a:endParaRPr lang="en-US" altLang="en-US"/>
          </a:p>
          <a:p>
            <a:r>
              <a:rPr lang="en-US" altLang="en-US"/>
              <a:t>Une fois les pipelines générés, l'utilisateur exécute le workflow Apache Hop. Et à la fin, il consulte les résultats d'import directement depuis l'application.</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Ce diagramme de séquence détaille comment la phase mapping se déroule concr</a:t>
            </a:r>
            <a:r>
              <a:rPr lang="en-US" altLang="en-US"/>
              <a:t>è</a:t>
            </a:r>
            <a:r>
              <a:rPr lang="en-US" altLang="en-US"/>
              <a:t>tement.</a:t>
            </a:r>
            <a:endParaRPr lang="en-US" altLang="en-US"/>
          </a:p>
          <a:p>
            <a:endParaRPr lang="en-US" altLang="en-US"/>
          </a:p>
          <a:p>
            <a:r>
              <a:rPr lang="en-US" altLang="en-US"/>
              <a:t>Le consultant démarre une session en indiquant l'entité à importer et les credentials de la base. L'agent vérifie la connexion PostgreSQL, puis attend le CSV. Une fois le fichier déposé, l'agent analyse ses colonnes et introspecte le schéma cible directement en base pour récupérer la structure des tables et les FK.</a:t>
            </a:r>
            <a:endParaRPr lang="en-US" altLang="en-US"/>
          </a:p>
          <a:p>
            <a:endParaRPr lang="en-US" altLang="en-US"/>
          </a:p>
          <a:p>
            <a:r>
              <a:rPr lang="en-US" altLang="en-US"/>
              <a:t>Si une FK est ambigu</a:t>
            </a:r>
            <a:r>
              <a:rPr lang="en-US" altLang="en-US"/>
              <a:t>ë, </a:t>
            </a:r>
            <a:r>
              <a:rPr lang="en-US" altLang="en-US"/>
              <a:t>l'agent pose la question au consultant et attend sa réponse avant de continuer. Il vérifie ensuite que les valeurs FK existent bien en base, construit le mapping, et écrit le manifest.json.</a:t>
            </a:r>
            <a:endParaRPr lang="en-US" altLang="en-US"/>
          </a:p>
          <a:p>
            <a:endParaRPr lang="en-US" altLang="en-US"/>
          </a:p>
          <a:p>
            <a:r>
              <a:rPr lang="en-US" altLang="en-US"/>
              <a:t>L'application affiche alors l'interface de review. Le consultant consulte le manifeste, le valide, et on passe à la phase post-mapping.</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La phase post-mapping démarre quand le consultant clique sur Générer les pipelines en fournissant les chemins et le contexte. L'agent lit le manifeste et les pipelines de référence, les adapte, et gén</a:t>
            </a:r>
            <a:r>
              <a:rPr lang="en-US" altLang="en-US"/>
              <a:t>è</a:t>
            </a:r>
            <a:r>
              <a:rPr lang="en-US" altLang="en-US"/>
              <a:t>re les fichiers Apache Hop — les .hpl pour les pipelines et le .hwf pour le workflow.</a:t>
            </a:r>
            <a:endParaRPr lang="en-US" altLang="en-US"/>
          </a:p>
          <a:p>
            <a:endParaRPr lang="en-US" altLang="en-US"/>
          </a:p>
          <a:p>
            <a:r>
              <a:rPr lang="en-US" altLang="en-US"/>
              <a:t>Le consultant clique ensuite sur Exécuter le workflow. L'application appelle hop-run.sh, Apache Hop prend le relais : il lit le CSV source, résout les FK via des lookups en base, et fait les INSERT ou UPDATE dans PostgreSQL. Les logs arrivent en temps réel dans l'interface via SSE.</a:t>
            </a:r>
            <a:endParaRPr lang="en-US" altLang="en-US"/>
          </a:p>
          <a:p>
            <a:endParaRPr lang="en-US" altLang="en-US"/>
          </a:p>
          <a:p>
            <a:r>
              <a:rPr lang="en-US" altLang="en-US"/>
              <a:t>Enfin, le consultant consulte les résultats : un tableau avec le nombre de lignes importées et les erreurs éventuelles.</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arrive maintenant à l'architecture globale du framework, telle qu'elle a été implémentée.</a:t>
            </a:r>
            <a:endParaRPr lang="fr-FR" dirty="0"/>
          </a:p>
          <a:p>
            <a:endParaRPr lang="fr-FR" dirty="0"/>
          </a:p>
          <a:p>
            <a:r>
              <a:rPr lang="fr-FR" dirty="0"/>
              <a:t>En entrée, les fichiers CSV du client. Ils arrivent dans Axelor Mapper, l'application web qu'on a développée. Côté technique, elle repose sur React pour l'interface, FastAPI pour le backend, et xterm.js pour le terminal conversationnel directement dans le navigateur.</a:t>
            </a:r>
            <a:endParaRPr lang="fr-FR" dirty="0"/>
          </a:p>
          <a:p>
            <a:endParaRPr lang="fr-FR" dirty="0"/>
          </a:p>
          <a:p>
            <a:r>
              <a:rPr lang="fr-FR" dirty="0"/>
              <a:t>De là, les skills IA prennent le relais. On en a trois, développés comme des skills Claude Code. Le premier analyse le CSV et produit un manifeste JSON de mapping. Le deuxième lit ce manifeste et génère les fichiers de pipelines Apache Hop. Le troisième orchestre l'exécution du workflow.</a:t>
            </a:r>
            <a:endParaRPr lang="fr-FR" dirty="0"/>
          </a:p>
          <a:p>
            <a:endParaRPr lang="fr-FR" dirty="0"/>
          </a:p>
          <a:p>
            <a:r>
              <a:rPr lang="fr-FR" dirty="0"/>
              <a:t>Ces pipelines couvrent les 4 entités métier d'Axelor : produits, partenaires, commandes de vente et factures. En tout, environ 19 pipelines générés.</a:t>
            </a:r>
            <a:endParaRPr lang="fr-FR" dirty="0"/>
          </a:p>
          <a:p>
            <a:endParaRPr lang="fr-FR" dirty="0"/>
          </a:p>
          <a:p>
            <a:r>
              <a:rPr lang="fr-FR" dirty="0"/>
              <a:t>Et en bout de chaîne, Apache Hop exécute les pipelines et insère les données directement dans PostgreSQL via JDBC, sans passer par la couche ORM d'Axelor. Ca évite toutes les validations métier qui ne sont pas pertinentes pour un import, et c'est là qu'on gagne le plus en performance.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lstStyle/>
          <a:p>
            <a:r>
              <a:rPr lang="en-US" altLang="en-US" dirty="0"/>
              <a:t>L'application Axelor Import Studio se compose de deux parties : un frontend React et un backend FastAPI.</a:t>
            </a:r>
            <a:endParaRPr lang="en-US" altLang="en-US" dirty="0"/>
          </a:p>
          <a:p>
            <a:endParaRPr lang="en-US" altLang="en-US" dirty="0"/>
          </a:p>
          <a:p>
            <a:r>
              <a:rPr lang="en-US" altLang="en-US" dirty="0"/>
              <a:t>Le frontend communique avec le backend via HTTP classique pour les actions : démarrer une session, déclencher la génération des pipelines, consulter les résultats.</a:t>
            </a:r>
            <a:endParaRPr lang="en-US" altLang="en-US" dirty="0"/>
          </a:p>
          <a:p>
            <a:endParaRPr lang="en-US" altLang="en-US" dirty="0"/>
          </a:p>
          <a:p>
            <a:r>
              <a:rPr lang="en-US" altLang="en-US" dirty="0"/>
              <a:t>Pour le terminal, c'est différent. Dans le navigateur, on a xterm.js qui émule un vrai terminal. La communication entre xterm.js et le backend se fait via WebSocket, bidirectionnel et en temps réel. Les frappes partent vers le backend, les réponses reviennent en flux continu.</a:t>
            </a:r>
            <a:endParaRPr lang="en-US" altLang="en-US" dirty="0"/>
          </a:p>
          <a:p>
            <a:endParaRPr lang="en-US" altLang="en-US" dirty="0"/>
          </a:p>
          <a:p>
            <a:r>
              <a:rPr lang="en-US" altLang="en-US" dirty="0"/>
              <a:t>Côté backend, quand une session démarre, FastAPI spawn Claude CLI dans un PTY, un pseudo-terminal. Et c'est un choix architectural important.</a:t>
            </a:r>
            <a:endParaRPr lang="en-US" altLang="en-US" dirty="0"/>
          </a:p>
          <a:p>
            <a:endParaRPr lang="en-US" altLang="en-US" dirty="0"/>
          </a:p>
          <a:p>
            <a:r>
              <a:rPr lang="en-US" altLang="en-US" dirty="0"/>
              <a:t>Pourquoi un PTY et pas un simple subprocess ? Parce que Claude a un mécanisme d'interaction, le AskUserQuestion, qui affiche des choix cliquables dans le terminal et attend une réponse de l'utilisateur. Ce comportement est incompatible avec le mode sans interaction en ligne de commande classique.</a:t>
            </a:r>
            <a:endParaRPr lang="en-US" altLang="en-US" dirty="0"/>
          </a:p>
          <a:p>
            <a:endParaRPr lang="en-US" altLang="en-US" dirty="0"/>
          </a:p>
          <a:p>
            <a:r>
              <a:rPr lang="en-US" altLang="en-US" dirty="0"/>
              <a:t>Maître-esclave c'est le terme technique : le PTY crée une paire maître-esclave. Claude tourne sur le côté esclave, le backend lit en continu depuis le maître et relaie les données vers le WebSocket. Et dans l'autre sens, les frappes de l'utilisateur remontent du WebSocket vers le maître.</a:t>
            </a:r>
            <a:endParaRPr lang="en-US" altLang="en-US" dirty="0"/>
          </a:p>
          <a:p>
            <a:endParaRPr lang="en-US" altLang="en-US" dirty="0"/>
          </a:p>
          <a:p>
            <a:r>
              <a:rPr lang="en-US" altLang="en-US" dirty="0"/>
              <a:t>Le reste du backend g</a:t>
            </a:r>
            <a:r>
              <a:rPr lang="en-US" altLang="en-US" dirty="0"/>
              <a:t>è</a:t>
            </a:r>
            <a:r>
              <a:rPr lang="en-US" altLang="en-US" dirty="0"/>
              <a:t>re les sessions par UUID, la génération des fichiers XML Apache Hop depuis le manifeste, et l'acc</a:t>
            </a:r>
            <a:r>
              <a:rPr lang="en-US" altLang="en-US" dirty="0"/>
              <a:t>è</a:t>
            </a:r>
            <a:r>
              <a:rPr lang="en-US" altLang="en-US" dirty="0"/>
              <a:t>s direct à PostgreSQL pour la phase d'exécution.</a:t>
            </a:r>
            <a:endParaRPr lang="en-US"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Ce slide présente les pipelines qu'on a développés.</a:t>
            </a:r>
            <a:endParaRPr lang="fr-FR" dirty="0"/>
          </a:p>
          <a:p>
            <a:endParaRPr lang="fr-FR" dirty="0"/>
          </a:p>
          <a:p>
            <a:r>
              <a:rPr lang="fr-FR" dirty="0"/>
              <a:t>À gauche, les 4 domaines métier couverts. Les produits, avec 4 pipelines et un workflow d'orchestration. Les partenaires, 6 pipelines. Les commandes de vente, 4 pipelines. Et les factures, qui sont l'entité la plus complexe, 6 pipelines également. En tout, une vingtaine de pipelines, le nombre exact peut varier selon la nature des données du client.</a:t>
            </a:r>
            <a:endParaRPr lang="fr-FR" dirty="0"/>
          </a:p>
          <a:p>
            <a:endParaRPr lang="fr-FR" dirty="0"/>
          </a:p>
          <a:p>
            <a:r>
              <a:rPr lang="fr-FR" dirty="0"/>
              <a:t>À droite, les 3 patterns qui structurent tous ces pipelines. Le premier c'est le pattern Upsert : avant chaque insertion, on vérifie si l'enregistrement existe déjà via un import_id. Si oui on met à jour, sinon on insère. C'est ce qui garantit l'idempotence, on peut relancer un import sans risquer de créer des doublons.</a:t>
            </a:r>
            <a:endParaRPr lang="fr-FR" dirty="0"/>
          </a:p>
          <a:p>
            <a:endParaRPr lang="fr-FR" dirty="0"/>
          </a:p>
          <a:p>
            <a:r>
              <a:rPr lang="fr-FR" dirty="0"/>
              <a:t>Le deuxième c'est le Junction M2M, pour gérer les relations many-to-many. Par exemple les taxes dans Axelor sont stockées dans des tables intermédiaires qui font le lien entre les lignes de commandes ou de factures et les valeurs de taxes prédéfinies dans le système. Ce pattern peuple ces tables de jonction.</a:t>
            </a:r>
            <a:endParaRPr lang="fr-FR" dirty="0"/>
          </a:p>
          <a:p>
            <a:endParaRPr lang="fr-FR" dirty="0"/>
          </a:p>
          <a:p>
            <a:r>
              <a:rPr lang="fr-FR" dirty="0"/>
              <a:t>Le troisième c'est le Post-SQL. Certaines valeurs ne peuvent pas être calculées au moment de l'insertion, les séquences, les totaux, les champs dérivés. Ce pattern les recalcule après injection directement en 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valider le framework, on a travaillé sur un golden dataset conçu pour tester les cas les plus difficiles. Des produits avec des clés étrangères embarquées directement dans la table source, des partenaires avec des adresses intégrées alors qu'Axelor les stocke dans des tables séparées, et des taxes imbriquées dans les commandes et les factures.</a:t>
            </a:r>
            <a:endParaRPr lang="fr-FR" dirty="0"/>
          </a:p>
          <a:p>
            <a:endParaRPr lang="fr-FR" dirty="0"/>
          </a:p>
          <a:p>
            <a:r>
              <a:rPr lang="fr-FR" dirty="0"/>
              <a:t>Le tableau résume les résultats par entité. Les taux d'import sont élevés, et les quelques erreurs sont volontaires. On les a introduites pour tester la robustesse du système face à des données incomplètes ou incohérentes.</a:t>
            </a:r>
            <a:endParaRPr lang="fr-FR" dirty="0"/>
          </a:p>
          <a:p>
            <a:endParaRPr lang="fr-FR" dirty="0"/>
          </a:p>
          <a:p>
            <a:r>
              <a:rPr lang="fr-FR" dirty="0"/>
              <a:t>Le critère principal de validation c'était la ventilation des factures. Une facture ventilée, ça veut dire que les partenaires sont bien présents, les produits aussi, les comptes comptables sont correctement associés et les taxes sont bien remontées. Sur notre jeu de données, c'est réussi.</a:t>
            </a:r>
            <a:endParaRPr lang="fr-FR" dirty="0"/>
          </a:p>
          <a:p>
            <a:endParaRPr lang="fr-FR" dirty="0"/>
          </a:p>
          <a:p>
            <a:r>
              <a:rPr lang="fr-FR" dirty="0"/>
              <a:t>Côté idempotence, on peut relancer le workflow complet plusieurs fois de suite sans créer de doublons. C'est un comportement important pour un outil destiné à un usage en production.</a:t>
            </a:r>
            <a:endParaRPr lang="fr-FR" dirty="0"/>
          </a:p>
          <a:p>
            <a:endParaRPr lang="fr-FR" dirty="0"/>
          </a:p>
          <a:p>
            <a:r>
              <a:rPr lang="fr-FR" dirty="0"/>
              <a:t>Sur les performances, le framework est 3,6 fois plus rapide que l'import natif Axelor. Concrètement, environ 10 minutes pour traiter 2 000 documents et presque 10 000 lignes, contre près de 40 minutes avec l'approche native. La différence vient du contournement de la couche ORM d'Axelor et de l'écriture directe dans PostgreSQL.</a:t>
            </a:r>
            <a:endParaRPr lang="fr-FR" dirty="0"/>
          </a:p>
          <a:p>
            <a:endParaRPr lang="fr-FR" dirty="0"/>
          </a:p>
          <a:p>
            <a:r>
              <a:rPr lang="fr-FR" dirty="0"/>
              <a:t>Et enfin le mapping. Avec le skill, analyser une entité et produire un manifeste prend quelques minutes. Sans le framework, c'est plusieurs heures de configuration manuelle par entité.</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termine par les limitations du projet.</a:t>
            </a:r>
            <a:endParaRPr lang="fr-FR" dirty="0"/>
          </a:p>
          <a:p>
            <a:endParaRPr lang="fr-FR" dirty="0"/>
          </a:p>
          <a:p>
            <a:r>
              <a:rPr lang="fr-FR" dirty="0"/>
              <a:t>La première, et la plus honnête, c'est le contexte dans lequel le projet a été mené. Pendant tout le stage, j'étais intégré à 50% sur un projet client en parallèle. Ça a directement contraint le périmètre de ce qu'on pouvait faire.</a:t>
            </a:r>
            <a:endParaRPr lang="fr-FR" dirty="0"/>
          </a:p>
          <a:p>
            <a:endParaRPr lang="fr-FR" dirty="0"/>
          </a:p>
          <a:p>
            <a:r>
              <a:rPr lang="fr-FR" dirty="0"/>
              <a:t>La deuxième limitation est plus architecturale. Contourner l'ORM d'Axelor, c'est ce qui nous donne les gains de performance qu'on a vus. Mais ça a un coût. Hibernate gère nativement des mécanismes comme l'auto-incrément des IDs ou la gestion des séquences PostgreSQL. En écrivant directement en base, on doit réimplémenter tout ça manuellement dans chaque pipeline. On réécrit des problèmes qui avaient déjà été résolus.</a:t>
            </a:r>
            <a:endParaRPr lang="fr-FR" dirty="0"/>
          </a:p>
          <a:p>
            <a:endParaRPr lang="fr-FR" dirty="0"/>
          </a:p>
          <a:p>
            <a:r>
              <a:rPr lang="fr-FR" dirty="0"/>
              <a:t>La troisième limitation concerne la scalabilité du framework. On a couvert 4 entités métier. Mais Axelor va bien plus loin que ça. Un import de commandes de vente, par exemple, devrait mettre à jour les stocks. La production a ses propres règles, les achats aussi. Reproduire tout le comportement d'Axelor via des pipelines Apache Hop reviendrait à réécrire toute la logique métier du framework en XML. Ce n'est pas viable.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3.png"/><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4.png"/><Relationship Id="rId1"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 Id="rId4"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 Id="rId4"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ABANE</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21</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21</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004050" y="340360"/>
            <a:ext cx="2405380" cy="6243320"/>
          </a:xfrm>
          <a:prstGeom prst="rect">
            <a:avLst/>
          </a:prstGeom>
        </p:spPr>
      </p:pic>
      <p:sp>
        <p:nvSpPr>
          <p:cNvPr id="9" name="Text 8"/>
          <p:cNvSpPr txBox="1"/>
          <p:nvPr/>
        </p:nvSpPr>
        <p:spPr>
          <a:xfrm>
            <a:off x="640080" y="1900000"/>
            <a:ext cx="5500000" cy="500000"/>
          </a:xfrm>
          <a:prstGeom prst="rect">
            <a:avLst/>
          </a:prstGeom>
          <a:noFill/>
        </p:spPr>
        <p:txBody>
          <a:bodyPr wrap="square">
            <a:spAutoFit/>
          </a:bodyPr>
          <a:lstStyle/>
          <a:p>
            <a:pPr algn="l"/>
            <a:r>
              <a:rPr sz="900" b="0" dirty="0">
                <a:solidFill>
                  <a:srgbClr val="7A8294"/>
                </a:solidFill>
                <a:latin typeface="Calibri" panose="020F0502020204030204"/>
              </a:rPr>
              <a:t>Axelor Mapper</a:t>
            </a:r>
            <a:endParaRPr sz="900" b="0" dirty="0">
              <a:solidFill>
                <a:srgbClr val="7A8294"/>
              </a:solidFill>
              <a:latin typeface="Calibri" panose="020F0502020204030204"/>
            </a:endParaRPr>
          </a:p>
          <a:p>
            <a:pPr algn="l"/>
            <a:r>
              <a:rPr sz="1100" b="1" dirty="0">
                <a:solidFill>
                  <a:srgbClr val="1F4E9C"/>
                </a:solidFill>
                <a:latin typeface="Calibri" panose="020F0502020204030204"/>
              </a:rPr>
              <a:t>React + FastAPI + xterm.js</a:t>
            </a:r>
            <a:endParaRPr sz="1100" b="1" dirty="0">
              <a:solidFill>
                <a:srgbClr val="1F4E9C"/>
              </a:solidFill>
              <a:latin typeface="Calibri" panose="020F0502020204030204"/>
            </a:endParaRPr>
          </a:p>
        </p:txBody>
      </p:sp>
      <p:sp>
        <p:nvSpPr>
          <p:cNvPr id="10" name="Text 9"/>
          <p:cNvSpPr txBox="1"/>
          <p:nvPr/>
        </p:nvSpPr>
        <p:spPr>
          <a:xfrm>
            <a:off x="658495" y="2400535"/>
            <a:ext cx="5500000" cy="398780"/>
          </a:xfrm>
          <a:prstGeom prst="rect">
            <a:avLst/>
          </a:prstGeom>
          <a:noFill/>
        </p:spPr>
        <p:txBody>
          <a:bodyPr wrap="square">
            <a:spAutoFit/>
          </a:bodyPr>
          <a:lstStyle/>
          <a:p>
            <a:pPr algn="l"/>
            <a:r>
              <a:rPr sz="900" b="0" dirty="0">
                <a:solidFill>
                  <a:srgbClr val="7A8294"/>
                </a:solidFill>
                <a:latin typeface="Calibri" panose="020F0502020204030204"/>
              </a:rPr>
              <a:t>Skills IA</a:t>
            </a:r>
            <a:endParaRPr sz="900" b="0" dirty="0">
              <a:solidFill>
                <a:srgbClr val="7A8294"/>
              </a:solidFill>
              <a:latin typeface="Calibri" panose="020F0502020204030204"/>
            </a:endParaRPr>
          </a:p>
          <a:p>
            <a:pPr algn="l"/>
            <a:r>
              <a:rPr sz="1100" b="1" dirty="0">
                <a:solidFill>
                  <a:srgbClr val="1F4E9C"/>
                </a:solidFill>
                <a:latin typeface="Calibri" panose="020F0502020204030204"/>
              </a:rPr>
              <a:t>3 skills Claude</a:t>
            </a:r>
            <a:endParaRPr sz="1100" b="1" dirty="0">
              <a:solidFill>
                <a:srgbClr val="1F4E9C"/>
              </a:solidFill>
              <a:latin typeface="Calibri" panose="020F0502020204030204"/>
            </a:endParaRPr>
          </a:p>
        </p:txBody>
      </p:sp>
      <p:sp>
        <p:nvSpPr>
          <p:cNvPr id="11" name="Text 10"/>
          <p:cNvSpPr txBox="1"/>
          <p:nvPr/>
        </p:nvSpPr>
        <p:spPr>
          <a:xfrm>
            <a:off x="658495" y="2900715"/>
            <a:ext cx="5500000" cy="398780"/>
          </a:xfrm>
          <a:prstGeom prst="rect">
            <a:avLst/>
          </a:prstGeom>
          <a:noFill/>
        </p:spPr>
        <p:txBody>
          <a:bodyPr wrap="square">
            <a:spAutoFit/>
          </a:bodyPr>
          <a:lstStyle/>
          <a:p>
            <a:pPr algn="l"/>
            <a:r>
              <a:rPr sz="900" b="0" dirty="0">
                <a:solidFill>
                  <a:srgbClr val="7A8294"/>
                </a:solidFill>
                <a:latin typeface="Calibri" panose="020F0502020204030204"/>
              </a:rPr>
              <a:t>Pipelines</a:t>
            </a:r>
            <a:endParaRPr sz="900" b="0" dirty="0">
              <a:solidFill>
                <a:srgbClr val="7A8294"/>
              </a:solidFill>
              <a:latin typeface="Calibri" panose="020F0502020204030204"/>
            </a:endParaRPr>
          </a:p>
          <a:p>
            <a:pPr algn="l"/>
            <a:r>
              <a:rPr sz="1100" b="1" dirty="0">
                <a:solidFill>
                  <a:srgbClr val="1F4E9C"/>
                </a:solidFill>
                <a:latin typeface="Calibri" panose="020F0502020204030204"/>
              </a:rPr>
              <a:t>~19 pipelines — 4 entités</a:t>
            </a:r>
            <a:r>
              <a:rPr lang="fr-FR" sz="1100" b="1" dirty="0">
                <a:solidFill>
                  <a:srgbClr val="1F4E9C"/>
                </a:solidFill>
                <a:latin typeface="Calibri" panose="020F0502020204030204"/>
              </a:rPr>
              <a:t> principales (et d’autres </a:t>
            </a:r>
            <a:r>
              <a:rPr sz="1100" b="1" dirty="0">
                <a:solidFill>
                  <a:srgbClr val="1F4E9C"/>
                </a:solidFill>
                <a:latin typeface="Calibri" panose="020F0502020204030204"/>
                <a:sym typeface="+mn-ea"/>
              </a:rPr>
              <a:t>entités</a:t>
            </a:r>
            <a:r>
              <a:rPr lang="fr-FR" sz="1100" b="1" dirty="0">
                <a:solidFill>
                  <a:srgbClr val="1F4E9C"/>
                </a:solidFill>
                <a:latin typeface="Calibri" panose="020F0502020204030204"/>
                <a:sym typeface="+mn-ea"/>
              </a:rPr>
              <a:t> de d</a:t>
            </a:r>
            <a:r>
              <a:rPr sz="1100" b="1" dirty="0">
                <a:solidFill>
                  <a:srgbClr val="1F4E9C"/>
                </a:solidFill>
                <a:latin typeface="Calibri" panose="020F0502020204030204"/>
                <a:sym typeface="+mn-ea"/>
              </a:rPr>
              <a:t>é</a:t>
            </a:r>
            <a:r>
              <a:rPr lang="fr-FR" sz="1100" b="1" dirty="0">
                <a:solidFill>
                  <a:srgbClr val="1F4E9C"/>
                </a:solidFill>
                <a:latin typeface="Calibri" panose="020F0502020204030204"/>
                <a:sym typeface="+mn-ea"/>
              </a:rPr>
              <a:t>pendances</a:t>
            </a:r>
            <a:endParaRPr lang="fr-FR" sz="1100" b="1" dirty="0">
              <a:solidFill>
                <a:srgbClr val="1F4E9C"/>
              </a:solidFill>
              <a:latin typeface="Calibri" panose="020F0502020204030204"/>
            </a:endParaRPr>
          </a:p>
        </p:txBody>
      </p:sp>
      <p:sp>
        <p:nvSpPr>
          <p:cNvPr id="12" name="Text 11"/>
          <p:cNvSpPr txBox="1"/>
          <p:nvPr/>
        </p:nvSpPr>
        <p:spPr>
          <a:xfrm>
            <a:off x="658495" y="3427335"/>
            <a:ext cx="5500000" cy="500000"/>
          </a:xfrm>
          <a:prstGeom prst="rect">
            <a:avLst/>
          </a:prstGeom>
          <a:noFill/>
        </p:spPr>
        <p:txBody>
          <a:bodyPr wrap="square">
            <a:spAutoFit/>
          </a:bodyPr>
          <a:lstStyle/>
          <a:p>
            <a:pPr algn="l"/>
            <a:r>
              <a:rPr sz="900" b="0" dirty="0">
                <a:solidFill>
                  <a:srgbClr val="7A8294"/>
                </a:solidFill>
                <a:latin typeface="Calibri" panose="020F0502020204030204"/>
              </a:rPr>
              <a:t>PostgreSQL</a:t>
            </a:r>
            <a:endParaRPr sz="900" b="0" dirty="0">
              <a:solidFill>
                <a:srgbClr val="7A8294"/>
              </a:solidFill>
              <a:latin typeface="Calibri" panose="020F0502020204030204"/>
            </a:endParaRPr>
          </a:p>
          <a:p>
            <a:pPr algn="l"/>
            <a:r>
              <a:rPr sz="1100" b="1" dirty="0">
                <a:solidFill>
                  <a:srgbClr val="1F4E9C"/>
                </a:solidFill>
                <a:latin typeface="Calibri" panose="020F0502020204030204"/>
              </a:rPr>
              <a:t>Accès direct JDBC — bypass couche ORM</a:t>
            </a:r>
            <a:endParaRPr sz="1100" b="1" dirty="0">
              <a:solidFill>
                <a:srgbClr val="1F4E9C"/>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21</a:t>
            </a:r>
            <a:endParaRPr sz="1000" b="0">
              <a:solidFill>
                <a:srgbClr val="7A8294"/>
              </a:solidFill>
              <a:latin typeface="Calibri" panose="020F0502020204030204"/>
            </a:endParaRPr>
          </a:p>
        </p:txBody>
      </p:sp>
      <p:sp>
        <p:nvSpPr>
          <p:cNvPr id="8" name="CSV Box"/>
          <p:cNvSpPr/>
          <p:nvPr/>
        </p:nvSpPr>
        <p:spPr>
          <a:xfrm>
            <a:off x="264160" y="2578735"/>
            <a:ext cx="1067435" cy="54991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Arrow1"/>
          <p:cNvSpPr txBox="1"/>
          <p:nvPr/>
        </p:nvSpPr>
        <p:spPr>
          <a:xfrm>
            <a:off x="1415310" y="270373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0" name="Analyze Box"/>
          <p:cNvSpPr/>
          <p:nvPr/>
        </p:nvSpPr>
        <p:spPr>
          <a:xfrm>
            <a:off x="1718945" y="2576195"/>
            <a:ext cx="1050290" cy="54864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Arrow2"/>
          <p:cNvSpPr txBox="1"/>
          <p:nvPr/>
        </p:nvSpPr>
        <p:spPr>
          <a:xfrm>
            <a:off x="2853085" y="270119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3" name="ArrowSW"/>
          <p:cNvSpPr txBox="1"/>
          <p:nvPr/>
        </p:nvSpPr>
        <p:spPr>
          <a:xfrm rot="12240000">
            <a:off x="6794255" y="203531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4" name="ArrowSE"/>
          <p:cNvSpPr txBox="1"/>
          <p:nvPr/>
        </p:nvSpPr>
        <p:spPr>
          <a:xfrm>
            <a:off x="6849785" y="347803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5" name="GenPipeline Box"/>
          <p:cNvSpPr/>
          <p:nvPr/>
        </p:nvSpPr>
        <p:spPr>
          <a:xfrm>
            <a:off x="7258685" y="1809750"/>
            <a:ext cx="1212850" cy="47625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6" name="GenWorkflow Box"/>
          <p:cNvSpPr/>
          <p:nvPr/>
        </p:nvSpPr>
        <p:spPr>
          <a:xfrm>
            <a:off x="7240905" y="3713480"/>
            <a:ext cx="1263015" cy="452755"/>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17" name="HPL Output"/>
          <p:cNvSpPr/>
          <p:nvPr/>
        </p:nvSpPr>
        <p:spPr>
          <a:xfrm>
            <a:off x="8964930" y="1809750"/>
            <a:ext cx="105664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a:t>
            </a:r>
            <a:endParaRPr sz="800" b="0">
              <a:solidFill>
                <a:srgbClr val="12203F"/>
              </a:solidFill>
              <a:latin typeface="Calibri" panose="020F0502020204030204"/>
            </a:endParaRPr>
          </a:p>
        </p:txBody>
      </p:sp>
      <p:sp>
        <p:nvSpPr>
          <p:cNvPr id="18" name="HWF Output"/>
          <p:cNvSpPr/>
          <p:nvPr/>
        </p:nvSpPr>
        <p:spPr>
          <a:xfrm>
            <a:off x="8869680" y="3705225"/>
            <a:ext cx="115189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19" name="Divider"/>
          <p:cNvSpPr/>
          <p:nvPr/>
        </p:nvSpPr>
        <p:spPr>
          <a:xfrm>
            <a:off x="548640" y="5069280"/>
            <a:ext cx="9100000" cy="2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l1 Header"/>
          <p:cNvSpPr txBox="1"/>
          <p:nvPr/>
        </p:nvSpPr>
        <p:spPr>
          <a:xfrm>
            <a:off x="54864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analyze-and-map-entity</a:t>
            </a:r>
            <a:endParaRPr sz="900" b="1" dirty="0">
              <a:solidFill>
                <a:srgbClr val="1F4E9C"/>
              </a:solidFill>
              <a:latin typeface="Calibri" panose="020F0502020204030204"/>
            </a:endParaRPr>
          </a:p>
        </p:txBody>
      </p:sp>
      <p:sp>
        <p:nvSpPr>
          <p:cNvPr id="21" name="Col1 Content"/>
          <p:cNvSpPr txBox="1"/>
          <p:nvPr/>
        </p:nvSpPr>
        <p:spPr>
          <a:xfrm>
            <a:off x="54864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FK résolues via INFORMATION_SCHEMA PostgreSQL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Résolution interactive pour les cas ambigus</a:t>
            </a:r>
            <a:endParaRPr sz="820" b="0" dirty="0">
              <a:solidFill>
                <a:srgbClr val="7A8294"/>
              </a:solidFill>
              <a:latin typeface="Calibri" panose="020F0502020204030204"/>
            </a:endParaRPr>
          </a:p>
        </p:txBody>
      </p:sp>
      <p:sp>
        <p:nvSpPr>
          <p:cNvPr id="22" name="Col2 Header"/>
          <p:cNvSpPr txBox="1"/>
          <p:nvPr/>
        </p:nvSpPr>
        <p:spPr>
          <a:xfrm>
            <a:off x="320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generate-pipeline</a:t>
            </a:r>
            <a:endParaRPr sz="900" b="1" dirty="0">
              <a:solidFill>
                <a:srgbClr val="1F4E9C"/>
              </a:solidFill>
              <a:latin typeface="Calibri" panose="020F0502020204030204"/>
            </a:endParaRPr>
          </a:p>
        </p:txBody>
      </p:sp>
      <p:sp>
        <p:nvSpPr>
          <p:cNvPr id="23" name="Col2 Content"/>
          <p:cNvSpPr txBox="1"/>
          <p:nvPr/>
        </p:nvSpPr>
        <p:spPr>
          <a:xfrm>
            <a:off x="320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3 pipelines de référence injectés comme contexte XML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Conventions XML Hop strictes appliquées</a:t>
            </a:r>
            <a:endParaRPr sz="820" b="0" dirty="0">
              <a:solidFill>
                <a:srgbClr val="7A8294"/>
              </a:solidFill>
              <a:latin typeface="Calibri" panose="020F0502020204030204"/>
            </a:endParaRPr>
          </a:p>
        </p:txBody>
      </p:sp>
      <p:sp>
        <p:nvSpPr>
          <p:cNvPr id="24" name="Col3 Header"/>
          <p:cNvSpPr txBox="1"/>
          <p:nvPr/>
        </p:nvSpPr>
        <p:spPr>
          <a:xfrm>
            <a:off x="585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generate-workflow</a:t>
            </a:r>
            <a:endParaRPr sz="900" b="1" dirty="0">
              <a:solidFill>
                <a:srgbClr val="1F4E9C"/>
              </a:solidFill>
              <a:latin typeface="Calibri" panose="020F0502020204030204"/>
            </a:endParaRPr>
          </a:p>
        </p:txBody>
      </p:sp>
      <p:sp>
        <p:nvSpPr>
          <p:cNvPr id="25" name="Col3 Content"/>
          <p:cNvSpPr txBox="1"/>
          <p:nvPr/>
        </p:nvSpPr>
        <p:spPr>
          <a:xfrm>
            <a:off x="585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Preflight checks : CSV + connexion BD</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Ordre topologique des entités via le manifeste</a:t>
            </a:r>
            <a:endParaRPr sz="820" b="0" dirty="0">
              <a:solidFill>
                <a:srgbClr val="7A8294"/>
              </a:solidFill>
              <a:latin typeface="Calibri" panose="020F0502020204030204"/>
            </a:endParaRPr>
          </a:p>
        </p:txBody>
      </p:sp>
      <p:pic>
        <p:nvPicPr>
          <p:cNvPr id="26" name="Picture 25" descr="Screenshot 2026-07-03 105304"/>
          <p:cNvPicPr>
            <a:picLocks noChangeAspect="1"/>
          </p:cNvPicPr>
          <p:nvPr/>
        </p:nvPicPr>
        <p:blipFill>
          <a:blip r:embed="rId3"/>
          <a:stretch>
            <a:fillRect/>
          </a:stretch>
        </p:blipFill>
        <p:spPr>
          <a:xfrm>
            <a:off x="3199765" y="1971040"/>
            <a:ext cx="3523615" cy="1765935"/>
          </a:xfrm>
          <a:prstGeom prst="rect">
            <a:avLst/>
          </a:prstGeom>
        </p:spPr>
      </p:pic>
      <p:sp>
        <p:nvSpPr>
          <p:cNvPr id="27" name="Text Box 26"/>
          <p:cNvSpPr txBox="1"/>
          <p:nvPr/>
        </p:nvSpPr>
        <p:spPr>
          <a:xfrm>
            <a:off x="2005330" y="1697355"/>
            <a:ext cx="6239510" cy="273685"/>
          </a:xfrm>
          <a:prstGeom prst="rect">
            <a:avLst/>
          </a:prstGeom>
          <a:noFill/>
        </p:spPr>
        <p:txBody>
          <a:bodyPr wrap="square" rtlCol="0" anchor="t">
            <a:noAutofit/>
          </a:bodyPr>
          <a:p>
            <a:pPr algn="ctr"/>
            <a:r>
              <a:rPr lang="fr-FR" sz="900" b="1">
                <a:solidFill>
                  <a:srgbClr val="12203F"/>
                </a:solidFill>
                <a:latin typeface="Calibri" panose="020F0502020204030204"/>
                <a:sym typeface="+mn-ea"/>
              </a:rPr>
              <a:t>manifest.json</a:t>
            </a:r>
            <a:endParaRPr lang="fr-FR" sz="900" b="1">
              <a:solidFill>
                <a:srgbClr val="12203F"/>
              </a:solidFill>
              <a:latin typeface="Calibri" panose="020F0502020204030204"/>
              <a:sym typeface="+mn-ea"/>
            </a:endParaRPr>
          </a:p>
        </p:txBody>
      </p:sp>
      <p:sp>
        <p:nvSpPr>
          <p:cNvPr id="28" name="Text Box 27"/>
          <p:cNvSpPr txBox="1"/>
          <p:nvPr/>
        </p:nvSpPr>
        <p:spPr>
          <a:xfrm>
            <a:off x="8591550" y="1863725"/>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
        <p:nvSpPr>
          <p:cNvPr id="29" name="Text Box 28"/>
          <p:cNvSpPr txBox="1"/>
          <p:nvPr/>
        </p:nvSpPr>
        <p:spPr>
          <a:xfrm>
            <a:off x="8544560" y="3765550"/>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21</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Screenshot Landing Page"/>
          <p:cNvPicPr>
            <a:picLocks noChangeAspect="1"/>
          </p:cNvPicPr>
          <p:nvPr/>
        </p:nvPicPr>
        <p:blipFill>
          <a:blip r:embed="rId3"/>
          <a:srcRect t="5283"/>
          <a:stretch>
            <a:fillRect/>
          </a:stretch>
        </p:blipFill>
        <p:spPr>
          <a:xfrm>
            <a:off x="93345" y="1793875"/>
            <a:ext cx="5754370" cy="3289935"/>
          </a:xfrm>
          <a:prstGeom prst="rect">
            <a:avLst/>
          </a:prstGeom>
        </p:spPr>
      </p:pic>
      <p:pic>
        <p:nvPicPr>
          <p:cNvPr id="10" name="Screenshot Manifest Review"/>
          <p:cNvPicPr>
            <a:picLocks noChangeAspect="1"/>
          </p:cNvPicPr>
          <p:nvPr/>
        </p:nvPicPr>
        <p:blipFill>
          <a:blip r:embed="rId4"/>
          <a:srcRect t="4889"/>
          <a:stretch>
            <a:fillRect/>
          </a:stretch>
        </p:blipFill>
        <p:spPr>
          <a:xfrm>
            <a:off x="6193790" y="1700530"/>
            <a:ext cx="5895975" cy="3384550"/>
          </a:xfrm>
          <a:prstGeom prst="rect">
            <a:avLst/>
          </a:prstGeom>
        </p:spPr>
      </p:pic>
      <p:sp>
        <p:nvSpPr>
          <p:cNvPr id="11" name="Caption Left"/>
          <p:cNvSpPr txBox="1"/>
          <p:nvPr/>
        </p:nvSpPr>
        <p:spPr>
          <a:xfrm>
            <a:off x="548640" y="5546305"/>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1 — Sélection &amp; configuration</a:t>
            </a:r>
            <a:endParaRPr sz="900" b="1" dirty="0">
              <a:solidFill>
                <a:srgbClr val="1F4E9C"/>
              </a:solidFill>
              <a:latin typeface="Calibri" panose="020F0502020204030204"/>
            </a:endParaRPr>
          </a:p>
          <a:p>
            <a:pPr algn="ctr"/>
            <a:r>
              <a:rPr sz="820" b="0" dirty="0">
                <a:solidFill>
                  <a:srgbClr val="7A8294"/>
                </a:solidFill>
                <a:latin typeface="Calibri" panose="020F0502020204030204"/>
              </a:rPr>
              <a:t>Choix de l'entité Axelor et credentials PostgreSQL</a:t>
            </a:r>
            <a:endParaRPr sz="820" b="0" dirty="0">
              <a:solidFill>
                <a:srgbClr val="7A8294"/>
              </a:solidFill>
              <a:latin typeface="Calibri" panose="020F0502020204030204"/>
            </a:endParaRPr>
          </a:p>
        </p:txBody>
      </p:sp>
      <p:sp>
        <p:nvSpPr>
          <p:cNvPr id="12" name="Caption Right"/>
          <p:cNvSpPr txBox="1"/>
          <p:nvPr/>
        </p:nvSpPr>
        <p:spPr>
          <a:xfrm>
            <a:off x="6922165" y="5546305"/>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2 — Revue du manifeste</a:t>
            </a:r>
            <a:endParaRPr sz="900" b="1" dirty="0">
              <a:solidFill>
                <a:srgbClr val="1F4E9C"/>
              </a:solidFill>
              <a:latin typeface="Calibri" panose="020F0502020204030204"/>
            </a:endParaRPr>
          </a:p>
          <a:p>
            <a:pPr algn="ctr"/>
            <a:r>
              <a:rPr sz="820" b="0" dirty="0">
                <a:solidFill>
                  <a:srgbClr val="7A8294"/>
                </a:solidFill>
                <a:latin typeface="Calibri" panose="020F0502020204030204"/>
              </a:rPr>
              <a:t>Mappings colonnes + résolution interactive des clés étrangères</a:t>
            </a:r>
            <a:endParaRPr sz="820" b="0" dirty="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21</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200 — cmd/fact parente non existantes</a:t>
                      </a:r>
                      <a:endParaRPr sz="900" b="0">
                        <a:solidFill>
                          <a:srgbClr val="2A3142"/>
                        </a:solidFill>
                        <a:latin typeface="Calibri" panose="020F0502020204030204"/>
                      </a:endParaRPr>
                    </a:p>
                  </a:txBody>
                  <a:tcPr>
                    <a:solidFill>
                      <a:srgbClr val="F5F5F5"/>
                    </a:solidFill>
                  </a:tcPr>
                </a:tc>
              </a:tr>
            </a:tbl>
          </a:graphicData>
        </a:graphic>
      </p:graphicFrame>
      <p:sp>
        <p:nvSpPr>
          <p:cNvPr id="9" name="Pointer 1"/>
          <p:cNvSpPr txBox="1"/>
          <p:nvPr/>
        </p:nvSpPr>
        <p:spPr>
          <a:xfrm>
            <a:off x="5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Validation — ventilation des factures</a:t>
            </a:r>
            <a:endParaRPr sz="900" b="1" dirty="0">
              <a:solidFill>
                <a:srgbClr val="1F4E9C"/>
              </a:solidFill>
              <a:latin typeface="Calibri" panose="020F0502020204030204"/>
            </a:endParaRPr>
          </a:p>
          <a:p>
            <a:pPr algn="l"/>
            <a:r>
              <a:rPr sz="820" b="0" dirty="0">
                <a:solidFill>
                  <a:srgbClr val="7A8294"/>
                </a:solidFill>
                <a:latin typeface="Calibri" panose="020F0502020204030204"/>
              </a:rPr>
              <a:t>Partenaires, produits, comptes comptables et taxes correctement liés dans chaque facture</a:t>
            </a:r>
            <a:endParaRPr sz="820" b="0" dirty="0">
              <a:solidFill>
                <a:srgbClr val="7A8294"/>
              </a:solidFill>
              <a:latin typeface="Calibri" panose="020F0502020204030204"/>
            </a:endParaRPr>
          </a:p>
        </p:txBody>
      </p:sp>
      <p:sp>
        <p:nvSpPr>
          <p:cNvPr id="10" name="Pointer 2"/>
          <p:cNvSpPr txBox="1"/>
          <p:nvPr/>
        </p:nvSpPr>
        <p:spPr>
          <a:xfrm>
            <a:off x="28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Idempotence garantie</a:t>
            </a:r>
            <a:endParaRPr sz="900" b="1" dirty="0">
              <a:solidFill>
                <a:srgbClr val="1F4E9C"/>
              </a:solidFill>
              <a:latin typeface="Calibri" panose="020F0502020204030204"/>
            </a:endParaRPr>
          </a:p>
          <a:p>
            <a:pPr algn="l"/>
            <a:r>
              <a:rPr sz="820" b="0" dirty="0">
                <a:solidFill>
                  <a:srgbClr val="7A8294"/>
                </a:solidFill>
                <a:latin typeface="Calibri" panose="020F0502020204030204"/>
              </a:rPr>
              <a:t>0 doublon sur ré-exécution complète du workflow</a:t>
            </a:r>
            <a:endParaRPr sz="820" b="0" dirty="0">
              <a:solidFill>
                <a:srgbClr val="7A8294"/>
              </a:solidFill>
              <a:latin typeface="Calibri" panose="020F0502020204030204"/>
            </a:endParaRPr>
          </a:p>
        </p:txBody>
      </p:sp>
      <p:sp>
        <p:nvSpPr>
          <p:cNvPr id="11" name="Pointer 3"/>
          <p:cNvSpPr txBox="1"/>
          <p:nvPr/>
        </p:nvSpPr>
        <p:spPr>
          <a:xfrm>
            <a:off x="51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3.6× plus rapide que l'import natif</a:t>
            </a:r>
            <a:endParaRPr sz="900" b="1" dirty="0">
              <a:solidFill>
                <a:srgbClr val="1F4E9C"/>
              </a:solidFill>
              <a:latin typeface="Calibri" panose="020F0502020204030204"/>
            </a:endParaRPr>
          </a:p>
          <a:p>
            <a:pPr algn="l"/>
            <a:r>
              <a:rPr sz="820" b="0" dirty="0">
                <a:solidFill>
                  <a:srgbClr val="7A8294"/>
                </a:solidFill>
                <a:latin typeface="Calibri" panose="020F0502020204030204"/>
              </a:rPr>
              <a:t>642s vs 2 340s pour 2 000 documents et ~10 000 lignes</a:t>
            </a:r>
            <a:endParaRPr sz="820" b="0" dirty="0">
              <a:solidFill>
                <a:srgbClr val="7A8294"/>
              </a:solidFill>
              <a:latin typeface="Calibri" panose="020F0502020204030204"/>
            </a:endParaRPr>
          </a:p>
        </p:txBody>
      </p:sp>
      <p:sp>
        <p:nvSpPr>
          <p:cNvPr id="12" name="Pointer 4"/>
          <p:cNvSpPr txBox="1"/>
          <p:nvPr/>
        </p:nvSpPr>
        <p:spPr>
          <a:xfrm>
            <a:off x="7448640" y="4430000"/>
            <a:ext cx="2200000" cy="700000"/>
          </a:xfrm>
          <a:prstGeom prst="rect">
            <a:avLst/>
          </a:prstGeom>
          <a:noFill/>
        </p:spPr>
        <p:txBody>
          <a:bodyPr wrap="square">
            <a:spAutoFit/>
          </a:bodyPr>
          <a:lstStyle/>
          <a:p>
            <a:pPr algn="l"/>
            <a:r>
              <a:rPr sz="900" b="1" dirty="0">
                <a:solidFill>
                  <a:srgbClr val="1F4E9C"/>
                </a:solidFill>
                <a:latin typeface="Calibri" panose="020F0502020204030204"/>
              </a:rPr>
              <a:t>Mapping IA — quelques minutes</a:t>
            </a:r>
            <a:endParaRPr sz="900" b="1" dirty="0">
              <a:solidFill>
                <a:srgbClr val="1F4E9C"/>
              </a:solidFill>
              <a:latin typeface="Calibri" panose="020F0502020204030204"/>
            </a:endParaRPr>
          </a:p>
          <a:p>
            <a:pPr algn="l"/>
            <a:r>
              <a:rPr sz="820" b="0" dirty="0">
                <a:solidFill>
                  <a:srgbClr val="7A8294"/>
                </a:solidFill>
                <a:latin typeface="Calibri" panose="020F0502020204030204"/>
              </a:rPr>
              <a:t>Contre plusieurs heures de configuration manuelle par entité</a:t>
            </a:r>
            <a:endParaRPr sz="820" b="0" dirty="0">
              <a:solidFill>
                <a:srgbClr val="7A8294"/>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Pointer 1"/>
          <p:cNvSpPr txBox="1"/>
          <p:nvPr/>
        </p:nvSpPr>
        <p:spPr>
          <a:xfrm>
            <a:off x="548640" y="1900000"/>
            <a:ext cx="9000000" cy="800000"/>
          </a:xfrm>
          <a:prstGeom prst="rect">
            <a:avLst/>
          </a:prstGeom>
          <a:noFill/>
        </p:spPr>
        <p:txBody>
          <a:bodyPr wrap="square">
            <a:spAutoFit/>
          </a:bodyPr>
          <a:lstStyle/>
          <a:p>
            <a:pPr algn="l"/>
            <a:r>
              <a:rPr sz="1100" b="1" dirty="0">
                <a:solidFill>
                  <a:srgbClr val="1F4E9C"/>
                </a:solidFill>
                <a:latin typeface="Calibri" panose="020F0502020204030204"/>
              </a:rPr>
              <a:t>Périmètre contraint par le contexte</a:t>
            </a:r>
            <a:endParaRPr sz="1100" b="1" dirty="0">
              <a:solidFill>
                <a:srgbClr val="1F4E9C"/>
              </a:solidFill>
              <a:latin typeface="Calibri" panose="020F0502020204030204"/>
            </a:endParaRPr>
          </a:p>
          <a:p>
            <a:pPr algn="l"/>
            <a:r>
              <a:rPr sz="900" b="0" dirty="0">
                <a:solidFill>
                  <a:srgbClr val="7A8294"/>
                </a:solidFill>
                <a:latin typeface="Calibri" panose="020F0502020204030204"/>
              </a:rPr>
              <a:t>Projet mené en parallèle d'une mission client à 50%, ce qui a limité le périmètre couvert</a:t>
            </a:r>
            <a:endParaRPr sz="900" b="0" dirty="0">
              <a:solidFill>
                <a:srgbClr val="7A8294"/>
              </a:solidFill>
              <a:latin typeface="Calibri" panose="020F0502020204030204"/>
            </a:endParaRPr>
          </a:p>
        </p:txBody>
      </p:sp>
      <p:sp>
        <p:nvSpPr>
          <p:cNvPr id="6" name="Pointer 2"/>
          <p:cNvSpPr txBox="1"/>
          <p:nvPr/>
        </p:nvSpPr>
        <p:spPr>
          <a:xfrm>
            <a:off x="548640" y="3200000"/>
            <a:ext cx="9000000" cy="800000"/>
          </a:xfrm>
          <a:prstGeom prst="rect">
            <a:avLst/>
          </a:prstGeom>
          <a:noFill/>
        </p:spPr>
        <p:txBody>
          <a:bodyPr wrap="square">
            <a:spAutoFit/>
          </a:bodyPr>
          <a:lstStyle/>
          <a:p>
            <a:pPr algn="l"/>
            <a:r>
              <a:rPr sz="1100" b="1" dirty="0">
                <a:solidFill>
                  <a:srgbClr val="1F4E9C"/>
                </a:solidFill>
                <a:latin typeface="Calibri" panose="020F0502020204030204"/>
              </a:rPr>
              <a:t>Contournement de l'ORM = réimplémentation from scratch</a:t>
            </a:r>
            <a:endParaRPr sz="1100" b="1" dirty="0">
              <a:solidFill>
                <a:srgbClr val="1F4E9C"/>
              </a:solidFill>
              <a:latin typeface="Calibri" panose="020F0502020204030204"/>
            </a:endParaRPr>
          </a:p>
          <a:p>
            <a:pPr algn="l"/>
            <a:r>
              <a:rPr sz="900" b="0" dirty="0">
                <a:solidFill>
                  <a:srgbClr val="7A8294"/>
                </a:solidFill>
                <a:latin typeface="Calibri" panose="020F0502020204030204"/>
              </a:rPr>
              <a:t>Des mécanismes nativement gérés par Hibernate (auto-incrément des IDs, gestion des séquences) doivent être réimplantés manuellement dans chaque pipeline</a:t>
            </a:r>
            <a:endParaRPr sz="900" b="0" dirty="0">
              <a:solidFill>
                <a:srgbClr val="7A8294"/>
              </a:solidFill>
              <a:latin typeface="Calibri" panose="020F0502020204030204"/>
            </a:endParaRPr>
          </a:p>
        </p:txBody>
      </p:sp>
      <p:sp>
        <p:nvSpPr>
          <p:cNvPr id="10" name="Pointer 3"/>
          <p:cNvSpPr txBox="1"/>
          <p:nvPr/>
        </p:nvSpPr>
        <p:spPr>
          <a:xfrm>
            <a:off x="548640" y="4700000"/>
            <a:ext cx="9000000" cy="800000"/>
          </a:xfrm>
          <a:prstGeom prst="rect">
            <a:avLst/>
          </a:prstGeom>
          <a:noFill/>
        </p:spPr>
        <p:txBody>
          <a:bodyPr wrap="square">
            <a:spAutoFit/>
          </a:bodyPr>
          <a:lstStyle/>
          <a:p>
            <a:pPr algn="l"/>
            <a:r>
              <a:rPr sz="1100" b="1" dirty="0">
                <a:solidFill>
                  <a:srgbClr val="1F4E9C"/>
                </a:solidFill>
                <a:latin typeface="Calibri" panose="020F0502020204030204"/>
              </a:rPr>
              <a:t>Non extensible aux modules métier complexes</a:t>
            </a:r>
            <a:endParaRPr sz="1100" b="1" dirty="0">
              <a:solidFill>
                <a:srgbClr val="1F4E9C"/>
              </a:solidFill>
              <a:latin typeface="Calibri" panose="020F0502020204030204"/>
            </a:endParaRPr>
          </a:p>
          <a:p>
            <a:pPr algn="l"/>
            <a:r>
              <a:rPr sz="900" b="0" dirty="0">
                <a:solidFill>
                  <a:srgbClr val="7A8294"/>
                </a:solidFill>
                <a:latin typeface="Calibri" panose="020F0502020204030204"/>
              </a:rPr>
              <a:t>Reproduire le comportement d'Axelor pour les stocks, achats ou production nécessiterait de réécrire toute la logique métier en Apache Hop, ce qui n'est pas viable</a:t>
            </a:r>
            <a:endParaRPr sz="900" b="0" dirty="0">
              <a:solidFill>
                <a:srgbClr val="7A8294"/>
              </a:solidFill>
              <a:latin typeface="Calibri" panose="020F0502020204030204"/>
            </a:endParaRPr>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19</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COURT TERME</a:t>
            </a:r>
            <a:endParaRPr lang="en-US" sz="1100" dirty="0"/>
          </a:p>
          <a:p>
            <a:pPr marL="177800" indent="-177800">
              <a:spcAft>
                <a:spcPts val="1200"/>
              </a:spcAft>
              <a:buSzPct val="100000"/>
              <a:buChar char="•"/>
            </a:pPr>
            <a:r>
              <a:rPr lang="en-US" sz="1400" dirty="0">
                <a:solidFill>
                  <a:srgbClr val="2A3142"/>
                </a:solidFill>
              </a:rPr>
              <a:t>Extension aux ordres de fabrication et mouvements de stock</a:t>
            </a:r>
            <a:endParaRPr lang="en-US" sz="1100" dirty="0"/>
          </a:p>
          <a:p>
            <a:pPr marL="177800" indent="-177800">
              <a:spcAft>
                <a:spcPts val="1200"/>
              </a:spcAft>
              <a:buSzPct val="100000"/>
              <a:buChar char="•"/>
            </a:pPr>
            <a:r>
              <a:rPr lang="en-US" sz="1400" dirty="0">
                <a:solidFill>
                  <a:srgbClr val="2A3142"/>
                </a:solidFill>
              </a:rPr>
              <a:t>Élargissement des sources : Excel, bases SQL, XML d'autres ERP</a:t>
            </a:r>
            <a:endParaRPr lang="en-US" sz="1100" dirty="0"/>
          </a:p>
          <a:p>
            <a:pPr marL="177800" indent="-177800">
              <a:buSzPct val="100000"/>
              <a:buChar char="•"/>
            </a:pPr>
            <a:r>
              <a:rPr lang="en-US" sz="1400" dirty="0">
                <a:solidFill>
                  <a:srgbClr val="2A3142"/>
                </a:solidFill>
              </a:rPr>
              <a:t>Rapport de qualité de données pré-import (profiling avant injection)</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LONG TERME</a:t>
            </a:r>
            <a:endParaRPr lang="en-US" sz="1100" dirty="0"/>
          </a:p>
          <a:p>
            <a:pPr marL="177800" indent="-177800">
              <a:spcAft>
                <a:spcPts val="1200"/>
              </a:spcAft>
              <a:buSzPct val="100000"/>
              <a:buChar char="•"/>
            </a:pPr>
            <a:r>
              <a:rPr lang="en-US" sz="1400" dirty="0">
                <a:solidFill>
                  <a:srgbClr val="2A3142"/>
                </a:solidFill>
              </a:rPr>
              <a:t>Publication open source du framework</a:t>
            </a:r>
            <a:endParaRPr lang="en-US" sz="1100" dirty="0"/>
          </a:p>
          <a:p>
            <a:pPr marL="177800" indent="-177800">
              <a:spcAft>
                <a:spcPts val="1200"/>
              </a:spcAft>
              <a:buSzPct val="100000"/>
              <a:buChar char="•"/>
            </a:pPr>
            <a:r>
              <a:rPr lang="en-US" sz="1400" dirty="0">
                <a:solidFill>
                  <a:srgbClr val="2A3142"/>
                </a:solidFill>
              </a:rPr>
              <a:t>Généralisation à d'autres ERP open source : Odoo, ERPNext</a:t>
            </a:r>
            <a:endParaRPr lang="en-US" sz="1100" dirty="0"/>
          </a:p>
          <a:p>
            <a:pPr marL="177800" indent="-177800">
              <a:buSzPct val="100000"/>
              <a:buChar char="•"/>
            </a:pPr>
            <a:r>
              <a:rPr lang="en-US" sz="1400" dirty="0">
                <a:solidFill>
                  <a:srgbClr val="2A3142"/>
                </a:solidFill>
              </a:rPr>
              <a:t>Capitalisation IA : apprentissage sur l'historique des mappings réussis</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0</a:t>
            </a:r>
            <a:r>
              <a:rPr sz="1000" b="0">
                <a:solidFill>
                  <a:srgbClr val="7A8294"/>
                </a:solidFill>
                <a:latin typeface="Calibri" panose="020F0502020204030204"/>
              </a:rPr>
              <a:t> / </a:t>
            </a:r>
            <a:r>
              <a:rPr lang="fr-FR" sz="1000" b="0">
                <a:solidFill>
                  <a:srgbClr val="7A8294"/>
                </a:solidFill>
                <a:latin typeface="Calibri" panose="020F0502020204030204"/>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