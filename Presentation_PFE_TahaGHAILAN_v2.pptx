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docProps\app.xml><?xml version="1.0" encoding="utf-8"?>
<Properties xmlns="http://schemas.openxmlformats.org/officeDocument/2006/extended-properties" xmlns:vt="http://schemas.openxmlformats.org/officeDocument/2006/docPropsVTypes">
  <TotalTime>0</TotalTime>
  <Words>7547</Words>
  <Application>WPS Presentation</Application>
  <PresentationFormat>On-screen Show (16:9)</PresentationFormat>
  <Paragraphs>611</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18</cp:revision>
  <dcterms:created xsi:type="dcterms:W3CDTF">2026-06-26T14:43:00Z</dcterms:created>
  <dcterms:modified xsi:type="dcterms:W3CDTF">2026-07-02T13:32:09Z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Maintenant que les outils sont justifiés, voici comment la solution fonctionne dans son ensemble.</a:t>
            </a:r>
            <a:endParaRPr lang="en-US" altLang="en-US"/>
          </a:p>
          <a:p>
            <a:endParaRPr lang="en-US" altLang="en-US"/>
          </a:p>
          <a:p>
            <a:r>
              <a:rPr lang="en-US" altLang="en-US"/>
              <a:t>Le flux est linéaire. L'utilisateur charge un fichier CSV — les données source du client. L'agent IA l'analyse, comprend la structure, propose un mapping vers le schéma Axelor, et produit un manifeste JSON. Ce manifeste c'est le contrat entre l'analyse et la génération : il décrit quoi importer, dans quel ordre, avec quelles transformations. Une fois validé, le deuxi</a:t>
            </a:r>
            <a:r>
              <a:rPr lang="" altLang="en-US"/>
              <a:t>è</a:t>
            </a:r>
            <a:r>
              <a:rPr lang="en-US" altLang="en-US"/>
              <a:t>me agent lit ce manifeste et gén</a:t>
            </a:r>
            <a:r>
              <a:rPr lang="" altLang="en-US"/>
              <a:t>è</a:t>
            </a:r>
            <a:r>
              <a:rPr lang="en-US" altLang="en-US"/>
              <a:t>re les pipelines Apache Hop. Apache Hop exécute, et les données arrivent directement dans PostgreSQL.</a:t>
            </a:r>
            <a:endParaRPr lang="en-US" altLang="en-US"/>
          </a:p>
          <a:p>
            <a:endParaRPr lang="en-US" altLang="en-US"/>
          </a:p>
          <a:p>
            <a:r>
              <a:rPr lang="en-US" altLang="en-US"/>
              <a:t>Le manifeste JSON est la pi</a:t>
            </a:r>
            <a:r>
              <a:rPr lang="" altLang="en-US"/>
              <a:t>è</a:t>
            </a:r>
            <a:r>
              <a:rPr lang="en-US" altLang="en-US"/>
              <a:t>ce centrale de l'architecture. Il découple les deux agents — si on améliore la génération, on ne touche pas à l'analyse. Et l'utilisateur peut le modifier manuellement avant de lancer la génération, sans repartir de zéro.</a:t>
            </a:r>
            <a:endParaRPr lang="en-US" altLang="en-US"/>
          </a:p>
          <a:p>
            <a:endParaRPr lang="en-US" altLang="en-US"/>
          </a:p>
          <a:p>
            <a:r>
              <a:rPr lang="en-US" altLang="en-US"/>
              <a:t>Pour gérer les différents cas d'import, on a identifié 3 patterns ETL. L'upsert garantit l'idempotence : si un enregistrement avec le même import_id existe déjà, on met à jour plutôt qu'insérer en doublon. Le pattern junction g</a:t>
            </a:r>
            <a:r>
              <a:rPr lang="" altLang="en-US"/>
              <a:t>è</a:t>
            </a:r>
            <a:r>
              <a:rPr lang="en-US" altLang="en-US"/>
              <a:t>re les relations many-to-many. Et le post-SQL traite les champs dérivés et les séquences apr</a:t>
            </a:r>
            <a:r>
              <a:rPr lang="" altLang="en-US"/>
              <a:t>è</a:t>
            </a:r>
            <a:r>
              <a:rPr lang="en-US" altLang="en-US"/>
              <a:t>s l'insertion principale.</a:t>
            </a:r>
            <a:endParaRPr lang="en-US" altLang="en-US"/>
          </a:p>
          <a:p>
            <a:endParaRPr lang="en-US" altLang="en-US"/>
          </a:p>
          <a:p>
            <a:r>
              <a:rPr lang="en-US" altLang="en-US"/>
              <a:t>Le framework repose donc sur trois piliers : Apache Hop pour les pipelines, les 3 skills Claude pour l'analyse et la génération, et Axelor Import Studio comme interface pour l'utilisateur.</a:t>
            </a:r>
            <a:endParaRPr lang="en-US" altLang="en-US"/>
          </a:p>
          <a:p>
            <a:endParaRPr lang="en-US" altLang="en-US"/>
          </a:p>
          <a:p>
            <a:endParaRPr lang="en-US" altLang="en-US"/>
          </a:p>
          <a:p>
            <a:r>
              <a:rPr lang="fr-FR" altLang="en-US"/>
              <a:t>Questions potentielles:</a:t>
            </a:r>
            <a:endParaRPr lang="en-US" altLang="en-US"/>
          </a:p>
          <a:p>
            <a:endParaRPr lang="en-US" altLang="en-US"/>
          </a:p>
          <a:p>
            <a:r>
              <a:rPr lang="en-US" altLang="en-US"/>
              <a:t>Q : Pourquoi passer par un manifeste JSON intermédiaire plutôt que générer directement les pipelines ?</a:t>
            </a:r>
            <a:endParaRPr lang="en-US" altLang="en-US"/>
          </a:p>
          <a:p>
            <a:endParaRPr lang="en-US" altLang="en-US"/>
          </a:p>
          <a:p>
            <a:r>
              <a:rPr lang="en-US" altLang="en-US"/>
              <a:t>▎ Le manifeste découple l'analyse de la génération. Les deux peuvent évoluer indépendamment. Et l'utilisateur peut corriger le mapping à la main avant de lancer la génération, sans relancer toute l'analyse.</a:t>
            </a:r>
            <a:endParaRPr lang="en-US" altLang="en-US"/>
          </a:p>
          <a:p>
            <a:endParaRPr lang="en-US" altLang="en-US"/>
          </a:p>
          <a:p>
            <a:r>
              <a:rPr lang="en-US" altLang="en-US"/>
              <a:t>Q : Que se passe-t-il si un import échoue à mi-parcours — par exemple les commandes sont insérées mais les lignes échouent ?</a:t>
            </a:r>
            <a:endParaRPr lang="en-US" altLang="en-US"/>
          </a:p>
          <a:p>
            <a:endParaRPr lang="en-US" altLang="en-US"/>
          </a:p>
          <a:p>
            <a:r>
              <a:rPr lang="en-US" altLang="en-US"/>
              <a:t>▎ Les imports ne sont pas transactionnels, c'est un compromis assumé pour la performance. La mitigation c'est l'idempotence : on corrige l'erreur dans le CSV et on relance le pipeline concerné sans risque de doublons.</a:t>
            </a:r>
            <a:endParaRPr lang="en-US" altLang="en-US"/>
          </a:p>
          <a:p>
            <a:endParaRPr lang="en-US" altLang="en-US"/>
          </a:p>
          <a:p>
            <a:r>
              <a:rPr lang="en-US" altLang="en-US"/>
              <a:t>Q : Comment Apache Hop ins</a:t>
            </a:r>
            <a:r>
              <a:rPr lang="" altLang="en-US"/>
              <a:t>è</a:t>
            </a:r>
            <a:r>
              <a:rPr lang="en-US" altLang="en-US"/>
              <a:t>re-t-il dans PostgreSQL sans passer par Axelor ?</a:t>
            </a:r>
            <a:endParaRPr lang="en-US" altLang="en-US"/>
          </a:p>
          <a:p>
            <a:endParaRPr lang="en-US" altLang="en-US"/>
          </a:p>
          <a:p>
            <a:r>
              <a:rPr lang="en-US" altLang="en-US"/>
              <a:t>▎ Acc</a:t>
            </a:r>
            <a:r>
              <a:rPr lang="" altLang="en-US"/>
              <a:t>è</a:t>
            </a:r>
            <a:r>
              <a:rPr lang="en-US" altLang="en-US"/>
              <a:t>s direct JDBC. On contourne la couche ORM et les validations métier d'Axelor — c'est ce qui donne le gain de performance. En contrepartie, les pipelines reproduisent eux-mêmes les comportements que la couche applicative gérerait normalement : résolution des FK, calcul des champs dérivés, incrémentation des séquences.</a:t>
            </a:r>
            <a:endParaRPr lang="en-US" altLang="en-US"/>
          </a:p>
          <a:p>
            <a:endParaRPr lang="en-US" altLang="en-US"/>
          </a:p>
          <a:p>
            <a:r>
              <a:rPr lang="en-US" altLang="en-US"/>
              <a:t>Q : C'est quoi concr</a:t>
            </a:r>
            <a:r>
              <a:rPr lang="" altLang="en-US"/>
              <a:t>è</a:t>
            </a:r>
            <a:r>
              <a:rPr lang="en-US" altLang="en-US"/>
              <a:t>tement l'idempotence ?</a:t>
            </a:r>
            <a:endParaRPr lang="en-US" altLang="en-US"/>
          </a:p>
          <a:p>
            <a:endParaRPr lang="en-US" altLang="en-US"/>
          </a:p>
          <a:p>
            <a:r>
              <a:rPr lang="en-US" altLang="en-US"/>
              <a:t>▎ Chaque enregistrement a un champ import_id. Si on relance le même import, le pipeline détecte que l'import_id existe déjà et fait un update au lieu d'un insert. Zéro doublon garanti.</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Axelor Import Studio, c'est l'interface qui orchestre tout ça. Ce diagramme représente la phase de mapping, c'est-à-dire ce que le responsable d'intégration peut faire pour préparer l'import.</a:t>
            </a:r>
            <a:endParaRPr lang="fr-FR" dirty="0"/>
          </a:p>
          <a:p>
            <a:endParaRPr lang="fr-FR" dirty="0"/>
          </a:p>
          <a:p>
            <a:r>
              <a:rPr lang="fr-FR" dirty="0"/>
              <a:t>Il démarre une session, dépose ses fichiers CSV, puis lance la génération du manifeste. L'étape clé c'est la résolution des dépendances FK : c'est là que l'agent IA intervient. Les deux travaillent ensemble pour s'assurer que toutes les relations entre entités sont correctement résolues avant de générer les pipelines.</a:t>
            </a:r>
            <a:endParaRPr lang="fr-FR" dirty="0"/>
          </a:p>
          <a:p>
            <a:endParaRPr lang="fr-FR" dirty="0"/>
          </a:p>
          <a:p>
            <a:r>
              <a:rPr lang="fr-FR" dirty="0"/>
              <a:t>Une fois le manifeste validé, on passe à la phase suivante.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Conclure par une phrase de synthèse forte.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remerciement. Rester affichée pendant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63" r:id="rId21"/>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2.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1.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El Bouzekri El Idrissi 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s,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Aabane,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22</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22</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alt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chaque composant du framework livré et validé séparément. Suivi Redmine.</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954645" y="307340"/>
            <a:ext cx="2405380" cy="62433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568960" y="152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TextBox 8"/>
          <p:cNvSpPr txBox="1"/>
          <p:nvPr/>
        </p:nvSpPr>
        <p:spPr>
          <a:xfrm>
            <a:off x="189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0" name="Rounded Rectangle 9"/>
          <p:cNvSpPr/>
          <p:nvPr/>
        </p:nvSpPr>
        <p:spPr>
          <a:xfrm>
            <a:off x="2128960" y="152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TextBox 10"/>
          <p:cNvSpPr txBox="1"/>
          <p:nvPr/>
        </p:nvSpPr>
        <p:spPr>
          <a:xfrm>
            <a:off x="415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2" name="Rounded Rectangle 11"/>
          <p:cNvSpPr/>
          <p:nvPr/>
        </p:nvSpPr>
        <p:spPr>
          <a:xfrm>
            <a:off x="4388960" y="152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3" name="TextBox 12"/>
          <p:cNvSpPr txBox="1"/>
          <p:nvPr/>
        </p:nvSpPr>
        <p:spPr>
          <a:xfrm>
            <a:off x="6268640" y="1860000"/>
            <a:ext cx="3480000" cy="320000"/>
          </a:xfrm>
          <a:prstGeom prst="rect">
            <a:avLst/>
          </a:prstGeom>
          <a:noFill/>
        </p:spPr>
        <p:txBody>
          <a:bodyPr wrap="square">
            <a:spAutoFit/>
          </a:bodyPr>
          <a:lstStyle/>
          <a:p>
            <a:pPr algn="l"/>
            <a:r>
              <a:rPr sz="850" b="0" i="0">
                <a:solidFill>
                  <a:srgbClr val="7A8294"/>
                </a:solidFill>
                <a:latin typeface="Calibri" panose="020F0502020204030204"/>
              </a:rPr>
              <a:t>Lit le CSV, introspècte la BD,</a:t>
            </a:r>
            <a:endParaRPr sz="850" b="0" i="0">
              <a:solidFill>
                <a:srgbClr val="7A8294"/>
              </a:solidFill>
              <a:latin typeface="Calibri" panose="020F0502020204030204"/>
            </a:endParaRPr>
          </a:p>
        </p:txBody>
      </p:sp>
      <p:sp>
        <p:nvSpPr>
          <p:cNvPr id="14" name="TextBox 13"/>
          <p:cNvSpPr txBox="1"/>
          <p:nvPr/>
        </p:nvSpPr>
        <p:spPr>
          <a:xfrm>
            <a:off x="6268640" y="2200000"/>
            <a:ext cx="3480000" cy="320000"/>
          </a:xfrm>
          <a:prstGeom prst="rect">
            <a:avLst/>
          </a:prstGeom>
          <a:noFill/>
        </p:spPr>
        <p:txBody>
          <a:bodyPr wrap="square">
            <a:spAutoFit/>
          </a:bodyPr>
          <a:lstStyle/>
          <a:p>
            <a:pPr algn="l"/>
            <a:r>
              <a:rPr sz="850" b="0" i="0">
                <a:solidFill>
                  <a:srgbClr val="7A8294"/>
                </a:solidFill>
                <a:latin typeface="Calibri" panose="020F0502020204030204"/>
              </a:rPr>
              <a:t>résout les FK interactivement</a:t>
            </a:r>
            <a:endParaRPr sz="850" b="0" i="0">
              <a:solidFill>
                <a:srgbClr val="7A8294"/>
              </a:solidFill>
              <a:latin typeface="Calibri" panose="020F0502020204030204"/>
            </a:endParaRPr>
          </a:p>
        </p:txBody>
      </p:sp>
      <p:sp>
        <p:nvSpPr>
          <p:cNvPr id="15" name="TextBox 14"/>
          <p:cNvSpPr txBox="1"/>
          <p:nvPr/>
        </p:nvSpPr>
        <p:spPr>
          <a:xfrm>
            <a:off x="6268640" y="2540000"/>
            <a:ext cx="3480000" cy="320000"/>
          </a:xfrm>
          <a:prstGeom prst="rect">
            <a:avLst/>
          </a:prstGeom>
          <a:noFill/>
        </p:spPr>
        <p:txBody>
          <a:bodyPr wrap="square">
            <a:spAutoFit/>
          </a:bodyPr>
          <a:lstStyle/>
          <a:p>
            <a:pPr algn="l"/>
            <a:r>
              <a:rPr sz="850" b="0" i="0">
                <a:solidFill>
                  <a:srgbClr val="7A8294"/>
                </a:solidFill>
                <a:latin typeface="Calibri" panose="020F0502020204030204"/>
              </a:rPr>
              <a:t>avec le consultant</a:t>
            </a:r>
            <a:endParaRPr sz="850" b="0" i="0">
              <a:solidFill>
                <a:srgbClr val="7A8294"/>
              </a:solidFill>
              <a:latin typeface="Calibri" panose="020F0502020204030204"/>
            </a:endParaRPr>
          </a:p>
        </p:txBody>
      </p:sp>
      <p:sp>
        <p:nvSpPr>
          <p:cNvPr id="16" name="Rounded Rectangle 15"/>
          <p:cNvSpPr/>
          <p:nvPr/>
        </p:nvSpPr>
        <p:spPr>
          <a:xfrm>
            <a:off x="568960" y="316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7" name="TextBox 16"/>
          <p:cNvSpPr txBox="1"/>
          <p:nvPr/>
        </p:nvSpPr>
        <p:spPr>
          <a:xfrm>
            <a:off x="189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8" name="Rounded Rectangle 17"/>
          <p:cNvSpPr/>
          <p:nvPr/>
        </p:nvSpPr>
        <p:spPr>
          <a:xfrm>
            <a:off x="2128960" y="316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9" name="TextBox 18"/>
          <p:cNvSpPr txBox="1"/>
          <p:nvPr/>
        </p:nvSpPr>
        <p:spPr>
          <a:xfrm>
            <a:off x="415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0" name="Rounded Rectangle 19"/>
          <p:cNvSpPr/>
          <p:nvPr/>
        </p:nvSpPr>
        <p:spPr>
          <a:xfrm>
            <a:off x="4388960" y="316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 (Apache Hop)</a:t>
            </a:r>
            <a:endParaRPr sz="800" b="0">
              <a:solidFill>
                <a:srgbClr val="12203F"/>
              </a:solidFill>
              <a:latin typeface="Calibri" panose="020F0502020204030204"/>
            </a:endParaRPr>
          </a:p>
        </p:txBody>
      </p:sp>
      <p:sp>
        <p:nvSpPr>
          <p:cNvPr id="21" name="TextBox 20"/>
          <p:cNvSpPr txBox="1"/>
          <p:nvPr/>
        </p:nvSpPr>
        <p:spPr>
          <a:xfrm>
            <a:off x="6268640" y="350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les pipelines XML</a:t>
            </a:r>
            <a:endParaRPr sz="850" b="0" i="0">
              <a:solidFill>
                <a:srgbClr val="7A8294"/>
              </a:solidFill>
              <a:latin typeface="Calibri" panose="020F0502020204030204"/>
            </a:endParaRPr>
          </a:p>
        </p:txBody>
      </p:sp>
      <p:sp>
        <p:nvSpPr>
          <p:cNvPr id="22" name="TextBox 21"/>
          <p:cNvSpPr txBox="1"/>
          <p:nvPr/>
        </p:nvSpPr>
        <p:spPr>
          <a:xfrm>
            <a:off x="6268640" y="3840000"/>
            <a:ext cx="3480000" cy="320000"/>
          </a:xfrm>
          <a:prstGeom prst="rect">
            <a:avLst/>
          </a:prstGeom>
          <a:noFill/>
        </p:spPr>
        <p:txBody>
          <a:bodyPr wrap="square">
            <a:spAutoFit/>
          </a:bodyPr>
          <a:lstStyle/>
          <a:p>
            <a:pPr algn="l"/>
            <a:r>
              <a:rPr sz="850" b="0" i="0">
                <a:solidFill>
                  <a:srgbClr val="7A8294"/>
                </a:solidFill>
                <a:latin typeface="Calibri" panose="020F0502020204030204"/>
              </a:rPr>
              <a:t>conformes au schéma Hop</a:t>
            </a:r>
            <a:endParaRPr sz="850" b="0" i="0">
              <a:solidFill>
                <a:srgbClr val="7A8294"/>
              </a:solidFill>
              <a:latin typeface="Calibri" panose="020F0502020204030204"/>
            </a:endParaRPr>
          </a:p>
        </p:txBody>
      </p:sp>
      <p:sp>
        <p:nvSpPr>
          <p:cNvPr id="23" name="TextBox 22"/>
          <p:cNvSpPr txBox="1"/>
          <p:nvPr/>
        </p:nvSpPr>
        <p:spPr>
          <a:xfrm>
            <a:off x="6268640" y="4180000"/>
            <a:ext cx="3480000" cy="320000"/>
          </a:xfrm>
          <a:prstGeom prst="rect">
            <a:avLst/>
          </a:prstGeom>
          <a:noFill/>
        </p:spPr>
        <p:txBody>
          <a:bodyPr wrap="square">
            <a:spAutoFit/>
          </a:bodyPr>
          <a:lstStyle/>
          <a:p>
            <a:pPr algn="l"/>
            <a:r>
              <a:rPr sz="850" b="0" i="0">
                <a:solidFill>
                  <a:srgbClr val="7A8294"/>
                </a:solidFill>
                <a:latin typeface="Calibri" panose="020F0502020204030204"/>
              </a:rPr>
              <a:t>pour chaque entité</a:t>
            </a:r>
            <a:endParaRPr sz="850" b="0" i="0">
              <a:solidFill>
                <a:srgbClr val="7A8294"/>
              </a:solidFill>
              <a:latin typeface="Calibri" panose="020F0502020204030204"/>
            </a:endParaRPr>
          </a:p>
        </p:txBody>
      </p:sp>
      <p:sp>
        <p:nvSpPr>
          <p:cNvPr id="24" name="Rounded Rectangle 23"/>
          <p:cNvSpPr/>
          <p:nvPr/>
        </p:nvSpPr>
        <p:spPr>
          <a:xfrm>
            <a:off x="568960" y="480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25" name="TextBox 24"/>
          <p:cNvSpPr txBox="1"/>
          <p:nvPr/>
        </p:nvSpPr>
        <p:spPr>
          <a:xfrm>
            <a:off x="189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6" name="Rounded Rectangle 25"/>
          <p:cNvSpPr/>
          <p:nvPr/>
        </p:nvSpPr>
        <p:spPr>
          <a:xfrm>
            <a:off x="2128960" y="480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27" name="TextBox 26"/>
          <p:cNvSpPr txBox="1"/>
          <p:nvPr/>
        </p:nvSpPr>
        <p:spPr>
          <a:xfrm>
            <a:off x="415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8" name="Rounded Rectangle 27"/>
          <p:cNvSpPr/>
          <p:nvPr/>
        </p:nvSpPr>
        <p:spPr>
          <a:xfrm>
            <a:off x="4388960" y="480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29" name="TextBox 28"/>
          <p:cNvSpPr txBox="1"/>
          <p:nvPr/>
        </p:nvSpPr>
        <p:spPr>
          <a:xfrm>
            <a:off x="6268640" y="514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 workflow d'orchestration</a:t>
            </a:r>
            <a:endParaRPr sz="850" b="0" i="0">
              <a:solidFill>
                <a:srgbClr val="7A8294"/>
              </a:solidFill>
              <a:latin typeface="Calibri" panose="020F0502020204030204"/>
            </a:endParaRPr>
          </a:p>
        </p:txBody>
      </p:sp>
      <p:sp>
        <p:nvSpPr>
          <p:cNvPr id="30" name="TextBox 29"/>
          <p:cNvSpPr txBox="1"/>
          <p:nvPr/>
        </p:nvSpPr>
        <p:spPr>
          <a:xfrm>
            <a:off x="6268640" y="5480000"/>
            <a:ext cx="3480000" cy="320000"/>
          </a:xfrm>
          <a:prstGeom prst="rect">
            <a:avLst/>
          </a:prstGeom>
          <a:noFill/>
        </p:spPr>
        <p:txBody>
          <a:bodyPr wrap="square">
            <a:spAutoFit/>
          </a:bodyPr>
          <a:lstStyle/>
          <a:p>
            <a:pPr algn="l"/>
            <a:r>
              <a:rPr sz="850" b="0" i="0">
                <a:solidFill>
                  <a:srgbClr val="7A8294"/>
                </a:solidFill>
                <a:latin typeface="Calibri" panose="020F0502020204030204"/>
              </a:rPr>
              <a:t>qui enchaîne les pipelines</a:t>
            </a:r>
            <a:endParaRPr sz="850" b="0" i="0">
              <a:solidFill>
                <a:srgbClr val="7A8294"/>
              </a:solidFill>
              <a:latin typeface="Calibri" panose="020F0502020204030204"/>
            </a:endParaRPr>
          </a:p>
        </p:txBody>
      </p:sp>
      <p:sp>
        <p:nvSpPr>
          <p:cNvPr id="31" name="TextBox 30"/>
          <p:cNvSpPr txBox="1"/>
          <p:nvPr/>
        </p:nvSpPr>
        <p:spPr>
          <a:xfrm>
            <a:off x="6268640" y="5820000"/>
            <a:ext cx="3480000" cy="320000"/>
          </a:xfrm>
          <a:prstGeom prst="rect">
            <a:avLst/>
          </a:prstGeom>
          <a:noFill/>
        </p:spPr>
        <p:txBody>
          <a:bodyPr wrap="square">
            <a:spAutoFit/>
          </a:bodyPr>
          <a:lstStyle/>
          <a:p>
            <a:pPr algn="l"/>
            <a:r>
              <a:rPr sz="850" b="0" i="0">
                <a:solidFill>
                  <a:srgbClr val="7A8294"/>
                </a:solidFill>
                <a:latin typeface="Calibri" panose="020F0502020204030204"/>
              </a:rPr>
              <a:t>dans le bon ordre topologique</a:t>
            </a:r>
            <a:endParaRPr sz="850" b="0" i="0">
              <a:solidFill>
                <a:srgbClr val="7A8294"/>
              </a:solidFill>
              <a:latin typeface="Calibri" panose="020F05020202040302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7" name="TextBox 6"/>
          <p:cNvSpPr txBox="1"/>
          <p:nvPr/>
        </p:nvSpPr>
        <p:spPr>
          <a:xfrm>
            <a:off x="548640" y="3200000"/>
            <a:ext cx="11094720" cy="500000"/>
          </a:xfrm>
          <a:prstGeom prst="rect">
            <a:avLst/>
          </a:prstGeom>
          <a:noFill/>
        </p:spPr>
        <p:txBody>
          <a:bodyPr wrap="square">
            <a:spAutoFit/>
          </a:bodyPr>
          <a:lstStyle/>
          <a:p>
            <a:pPr algn="ctr"/>
            <a:r>
              <a:rPr sz="1400" b="0" i="1">
                <a:solidFill>
                  <a:srgbClr val="7A8294"/>
                </a:solidFill>
                <a:latin typeface="Calibri" panose="020F0502020204030204"/>
              </a:rPr>
              <a:t>[Insérer capture d'écran de l'interface ici]</a:t>
            </a:r>
            <a:endParaRPr sz="1400" b="0" i="1">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Bilan des réalisations</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ectangle 7"/>
          <p:cNvSpPr/>
          <p:nvPr/>
        </p:nvSpPr>
        <p:spPr>
          <a:xfrm>
            <a:off x="548640" y="17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0000" y="1760000"/>
            <a:ext cx="8900000" cy="350000"/>
          </a:xfrm>
          <a:prstGeom prst="rect">
            <a:avLst/>
          </a:prstGeom>
          <a:noFill/>
        </p:spPr>
        <p:txBody>
          <a:bodyPr wrap="square">
            <a:spAutoFit/>
          </a:bodyPr>
          <a:lstStyle/>
          <a:p>
            <a:pPr algn="l"/>
            <a:r>
              <a:rPr sz="1100" b="1" i="0">
                <a:solidFill>
                  <a:srgbClr val="12203F"/>
                </a:solidFill>
                <a:latin typeface="Calibri" panose="020F0502020204030204"/>
              </a:rPr>
              <a:t>19 pipelines ETL réutilisables</a:t>
            </a:r>
            <a:endParaRPr sz="1100" b="1" i="0">
              <a:solidFill>
                <a:srgbClr val="12203F"/>
              </a:solidFill>
              <a:latin typeface="Calibri" panose="020F0502020204030204"/>
            </a:endParaRPr>
          </a:p>
        </p:txBody>
      </p:sp>
      <p:sp>
        <p:nvSpPr>
          <p:cNvPr id="10" name="TextBox 9"/>
          <p:cNvSpPr txBox="1"/>
          <p:nvPr/>
        </p:nvSpPr>
        <p:spPr>
          <a:xfrm>
            <a:off x="680000" y="2130000"/>
            <a:ext cx="8900000" cy="300000"/>
          </a:xfrm>
          <a:prstGeom prst="rect">
            <a:avLst/>
          </a:prstGeom>
          <a:noFill/>
        </p:spPr>
        <p:txBody>
          <a:bodyPr wrap="square">
            <a:spAutoFit/>
          </a:bodyPr>
          <a:lstStyle/>
          <a:p>
            <a:pPr algn="l"/>
            <a:r>
              <a:rPr sz="950" b="0" i="0">
                <a:solidFill>
                  <a:srgbClr val="7A8294"/>
                </a:solidFill>
                <a:latin typeface="Calibri" panose="020F0502020204030204"/>
              </a:rPr>
              <a:t>Couvrant 4 domaines : produits, partenaires, commandes de vente, factures</a:t>
            </a:r>
            <a:endParaRPr sz="950" b="0" i="0">
              <a:solidFill>
                <a:srgbClr val="7A8294"/>
              </a:solidFill>
              <a:latin typeface="Calibri" panose="020F0502020204030204"/>
            </a:endParaRPr>
          </a:p>
        </p:txBody>
      </p:sp>
      <p:sp>
        <p:nvSpPr>
          <p:cNvPr id="11" name="Rectangle 10"/>
          <p:cNvSpPr/>
          <p:nvPr/>
        </p:nvSpPr>
        <p:spPr>
          <a:xfrm>
            <a:off x="548640" y="28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000" y="2810000"/>
            <a:ext cx="8900000" cy="350000"/>
          </a:xfrm>
          <a:prstGeom prst="rect">
            <a:avLst/>
          </a:prstGeom>
          <a:noFill/>
        </p:spPr>
        <p:txBody>
          <a:bodyPr wrap="square">
            <a:spAutoFit/>
          </a:bodyPr>
          <a:lstStyle/>
          <a:p>
            <a:pPr algn="l"/>
            <a:r>
              <a:rPr sz="1100" b="1" i="0">
                <a:solidFill>
                  <a:srgbClr val="12203F"/>
                </a:solidFill>
                <a:latin typeface="Calibri" panose="020F0502020204030204"/>
              </a:rPr>
              <a:t>3 skills Claude Code</a:t>
            </a:r>
            <a:endParaRPr sz="1100" b="1" i="0">
              <a:solidFill>
                <a:srgbClr val="12203F"/>
              </a:solidFill>
              <a:latin typeface="Calibri" panose="020F0502020204030204"/>
            </a:endParaRPr>
          </a:p>
        </p:txBody>
      </p:sp>
      <p:sp>
        <p:nvSpPr>
          <p:cNvPr id="13" name="TextBox 12"/>
          <p:cNvSpPr txBox="1"/>
          <p:nvPr/>
        </p:nvSpPr>
        <p:spPr>
          <a:xfrm>
            <a:off x="680000" y="3180000"/>
            <a:ext cx="8900000" cy="300000"/>
          </a:xfrm>
          <a:prstGeom prst="rect">
            <a:avLst/>
          </a:prstGeom>
          <a:noFill/>
        </p:spPr>
        <p:txBody>
          <a:bodyPr wrap="square">
            <a:spAutoFit/>
          </a:bodyPr>
          <a:lstStyle/>
          <a:p>
            <a:pPr algn="l"/>
            <a:r>
              <a:rPr sz="950" b="0" i="0">
                <a:solidFill>
                  <a:srgbClr val="7A8294"/>
                </a:solidFill>
                <a:latin typeface="Calibri" panose="020F0502020204030204"/>
              </a:rPr>
              <a:t>analyze-and-map-entity · generate-pipeline · generate-workflow</a:t>
            </a:r>
            <a:endParaRPr sz="950" b="0" i="0">
              <a:solidFill>
                <a:srgbClr val="7A8294"/>
              </a:solidFill>
              <a:latin typeface="Calibri" panose="020F0502020204030204"/>
            </a:endParaRPr>
          </a:p>
        </p:txBody>
      </p:sp>
      <p:sp>
        <p:nvSpPr>
          <p:cNvPr id="14" name="Rectangle 13"/>
          <p:cNvSpPr/>
          <p:nvPr/>
        </p:nvSpPr>
        <p:spPr>
          <a:xfrm>
            <a:off x="548640" y="38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0000" y="3860000"/>
            <a:ext cx="8900000" cy="350000"/>
          </a:xfrm>
          <a:prstGeom prst="rect">
            <a:avLst/>
          </a:prstGeom>
          <a:noFill/>
        </p:spPr>
        <p:txBody>
          <a:bodyPr wrap="square">
            <a:spAutoFit/>
          </a:bodyPr>
          <a:lstStyle/>
          <a:p>
            <a:pPr algn="l"/>
            <a:r>
              <a:rPr sz="1100" b="1" i="0">
                <a:solidFill>
                  <a:srgbClr val="12203F"/>
                </a:solidFill>
                <a:latin typeface="Calibri" panose="020F0502020204030204"/>
              </a:rPr>
              <a:t>Axelor Import Studio</a:t>
            </a:r>
            <a:endParaRPr sz="1100" b="1" i="0">
              <a:solidFill>
                <a:srgbClr val="12203F"/>
              </a:solidFill>
              <a:latin typeface="Calibri" panose="020F0502020204030204"/>
            </a:endParaRPr>
          </a:p>
        </p:txBody>
      </p:sp>
      <p:sp>
        <p:nvSpPr>
          <p:cNvPr id="16" name="TextBox 15"/>
          <p:cNvSpPr txBox="1"/>
          <p:nvPr/>
        </p:nvSpPr>
        <p:spPr>
          <a:xfrm>
            <a:off x="680000" y="4230000"/>
            <a:ext cx="8900000" cy="300000"/>
          </a:xfrm>
          <a:prstGeom prst="rect">
            <a:avLst/>
          </a:prstGeom>
          <a:noFill/>
        </p:spPr>
        <p:txBody>
          <a:bodyPr wrap="square">
            <a:spAutoFit/>
          </a:bodyPr>
          <a:lstStyle/>
          <a:p>
            <a:pPr algn="l"/>
            <a:r>
              <a:rPr sz="950" b="0" i="0">
                <a:solidFill>
                  <a:srgbClr val="7A8294"/>
                </a:solidFill>
                <a:latin typeface="Calibri" panose="020F0502020204030204"/>
              </a:rPr>
              <a:t>Application web FastAPI + React + terminal PTY (xterm.js + WebSocket)</a:t>
            </a:r>
            <a:endParaRPr sz="950" b="0" i="0">
              <a:solidFill>
                <a:srgbClr val="7A8294"/>
              </a:solidFill>
              <a:latin typeface="Calibri" panose="020F0502020204030204"/>
            </a:endParaRPr>
          </a:p>
        </p:txBody>
      </p:sp>
      <p:sp>
        <p:nvSpPr>
          <p:cNvPr id="17" name="Rectangle 16"/>
          <p:cNvSpPr/>
          <p:nvPr/>
        </p:nvSpPr>
        <p:spPr>
          <a:xfrm>
            <a:off x="548640" y="49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0000" y="4910000"/>
            <a:ext cx="8900000" cy="350000"/>
          </a:xfrm>
          <a:prstGeom prst="rect">
            <a:avLst/>
          </a:prstGeom>
          <a:noFill/>
        </p:spPr>
        <p:txBody>
          <a:bodyPr wrap="square">
            <a:spAutoFit/>
          </a:bodyPr>
          <a:lstStyle/>
          <a:p>
            <a:pPr algn="l"/>
            <a:r>
              <a:rPr sz="1100" b="1" i="0">
                <a:solidFill>
                  <a:srgbClr val="12203F"/>
                </a:solidFill>
                <a:latin typeface="Calibri" panose="020F0502020204030204"/>
              </a:rPr>
              <a:t>Manifeste JSON</a:t>
            </a:r>
            <a:endParaRPr sz="1100" b="1" i="0">
              <a:solidFill>
                <a:srgbClr val="12203F"/>
              </a:solidFill>
              <a:latin typeface="Calibri" panose="020F0502020204030204"/>
            </a:endParaRPr>
          </a:p>
        </p:txBody>
      </p:sp>
      <p:sp>
        <p:nvSpPr>
          <p:cNvPr id="19" name="TextBox 18"/>
          <p:cNvSpPr txBox="1"/>
          <p:nvPr/>
        </p:nvSpPr>
        <p:spPr>
          <a:xfrm>
            <a:off x="680000" y="5280000"/>
            <a:ext cx="8900000" cy="300000"/>
          </a:xfrm>
          <a:prstGeom prst="rect">
            <a:avLst/>
          </a:prstGeom>
          <a:noFill/>
        </p:spPr>
        <p:txBody>
          <a:bodyPr wrap="square">
            <a:spAutoFit/>
          </a:bodyPr>
          <a:lstStyle/>
          <a:p>
            <a:pPr algn="l"/>
            <a:r>
              <a:rPr sz="950" b="0" i="0">
                <a:solidFill>
                  <a:srgbClr val="7A8294"/>
                </a:solidFill>
                <a:latin typeface="Calibri" panose="020F0502020204030204"/>
              </a:rPr>
              <a:t>Contrat versionnable entre analyse IA et génération de pipelines</a:t>
            </a:r>
            <a:endParaRPr sz="950" b="0" i="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19</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0</a:t>
                      </a:r>
                      <a:endParaRPr sz="900" b="0">
                        <a:solidFill>
                          <a:srgbClr val="2A3142"/>
                        </a:solidFill>
                        <a:latin typeface="Calibri" panose="020F0502020204030204"/>
                      </a:endParaRPr>
                    </a:p>
                  </a:txBody>
                  <a:tcPr>
                    <a:solidFill>
                      <a:srgbClr val="F5F5F5"/>
                    </a:solidFill>
                  </a:tcPr>
                </a:tc>
              </a:tr>
            </a:tbl>
          </a:graphicData>
        </a:graphic>
      </p:graphicFrame>
      <p:sp>
        <p:nvSpPr>
          <p:cNvPr id="9" name="Rounded Rectangle 8"/>
          <p:cNvSpPr/>
          <p:nvPr/>
        </p:nvSpPr>
        <p:spPr>
          <a:xfrm>
            <a:off x="548640"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Ventilation des factures</a:t>
            </a:r>
            <a:endParaRPr sz="950" b="1">
              <a:solidFill>
                <a:srgbClr val="12203F"/>
              </a:solidFill>
              <a:latin typeface="Calibri" panose="020F0502020204030204"/>
            </a:endParaRPr>
          </a:p>
          <a:p>
            <a:pPr algn="ctr"/>
            <a:r>
              <a:rPr sz="850" b="0">
                <a:solidFill>
                  <a:srgbClr val="2A3142"/>
                </a:solidFill>
                <a:latin typeface="Calibri" panose="020F0502020204030204"/>
              </a:rPr>
              <a:t>Réussie — mouvements et lignes comptables créés</a:t>
            </a:r>
            <a:endParaRPr sz="850" b="0">
              <a:solidFill>
                <a:srgbClr val="2A3142"/>
              </a:solidFill>
              <a:latin typeface="Calibri" panose="020F0502020204030204"/>
            </a:endParaRPr>
          </a:p>
        </p:txBody>
      </p:sp>
      <p:sp>
        <p:nvSpPr>
          <p:cNvPr id="10" name="Rounded Rectangle 9"/>
          <p:cNvSpPr/>
          <p:nvPr/>
        </p:nvSpPr>
        <p:spPr>
          <a:xfrm>
            <a:off x="3581973"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Idempotence</a:t>
            </a:r>
            <a:endParaRPr sz="950" b="1">
              <a:solidFill>
                <a:srgbClr val="12203F"/>
              </a:solidFill>
              <a:latin typeface="Calibri" panose="020F0502020204030204"/>
            </a:endParaRPr>
          </a:p>
          <a:p>
            <a:pPr algn="ctr"/>
            <a:r>
              <a:rPr sz="850" b="0">
                <a:solidFill>
                  <a:srgbClr val="2A3142"/>
                </a:solidFill>
                <a:latin typeface="Calibri" panose="020F0502020204030204"/>
              </a:rPr>
              <a:t>0 doublon sur ré-exécution complète du workflow</a:t>
            </a:r>
            <a:endParaRPr sz="850" b="0">
              <a:solidFill>
                <a:srgbClr val="2A3142"/>
              </a:solidFill>
              <a:latin typeface="Calibri" panose="020F0502020204030204"/>
            </a:endParaRPr>
          </a:p>
        </p:txBody>
      </p:sp>
      <p:sp>
        <p:nvSpPr>
          <p:cNvPr id="11" name="Rounded Rectangle 10"/>
          <p:cNvSpPr/>
          <p:nvPr/>
        </p:nvSpPr>
        <p:spPr>
          <a:xfrm>
            <a:off x="6615306" y="4620000"/>
            <a:ext cx="2833333" cy="150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Performance</a:t>
            </a:r>
            <a:endParaRPr sz="950" b="1">
              <a:solidFill>
                <a:srgbClr val="12203F"/>
              </a:solidFill>
              <a:latin typeface="Calibri" panose="020F0502020204030204"/>
            </a:endParaRPr>
          </a:p>
          <a:p>
            <a:pPr algn="ctr"/>
            <a:r>
              <a:rPr sz="850" b="0">
                <a:solidFill>
                  <a:srgbClr val="2A3142"/>
                </a:solidFill>
                <a:latin typeface="Calibri" panose="020F0502020204030204"/>
              </a:rPr>
              <a:t>3.6× plus rapide que l'import natif Axelor</a:t>
            </a:r>
            <a:endParaRPr sz="850" b="0">
              <a:solidFill>
                <a:srgbClr val="2A3142"/>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TECHNIQUES</a:t>
            </a:r>
            <a:endParaRPr lang="en-US" sz="1100" dirty="0"/>
          </a:p>
          <a:p>
            <a:pPr marL="177800" indent="-177800">
              <a:spcAft>
                <a:spcPts val="1200"/>
              </a:spcAft>
              <a:buSzPct val="100000"/>
              <a:buChar char="•"/>
            </a:pPr>
            <a:r>
              <a:rPr lang="en-US" sz="1400" dirty="0">
                <a:solidFill>
                  <a:srgbClr val="2A3142"/>
                </a:solidFill>
              </a:rPr>
              <a:t>Génération de pipelines partielle — cas complexes nécessitent du tuning manuel</a:t>
            </a:r>
            <a:endParaRPr lang="en-US" sz="1100" dirty="0"/>
          </a:p>
          <a:p>
            <a:pPr marL="177800" indent="-177800">
              <a:spcAft>
                <a:spcPts val="1200"/>
              </a:spcAft>
              <a:buSzPct val="100000"/>
              <a:buChar char="•"/>
            </a:pPr>
            <a:r>
              <a:rPr lang="en-US" sz="1400" dirty="0">
                <a:solidFill>
                  <a:srgbClr val="2A3142"/>
                </a:solidFill>
              </a:rPr>
              <a:t>Débit modéré — ~15 lignes/sec (lookups FK ligne par ligne, pas en batch)</a:t>
            </a:r>
            <a:endParaRPr lang="en-US" sz="1100" dirty="0"/>
          </a:p>
          <a:p>
            <a:pPr marL="177800" indent="-177800">
              <a:buSzPct val="100000"/>
              <a:buChar char="•"/>
            </a:pPr>
            <a:r>
              <a:rPr lang="en-US" sz="1400" dirty="0">
                <a:solidFill>
                  <a:srgbClr val="2A3142"/>
                </a:solidFill>
              </a:rPr>
              <a:t>Sources CSV uniquement — Excel, SQL, XML d'autres ERP non supportés</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ORGANISATIONNELLES</a:t>
            </a:r>
            <a:endParaRPr lang="en-US" sz="1100" dirty="0"/>
          </a:p>
          <a:p>
            <a:pPr marL="177800" indent="-177800">
              <a:spcAft>
                <a:spcPts val="1200"/>
              </a:spcAft>
              <a:buSzPct val="100000"/>
              <a:buChar char="•"/>
            </a:pPr>
            <a:r>
              <a:rPr lang="en-US" sz="1400" dirty="0">
                <a:solidFill>
                  <a:srgbClr val="2A3142"/>
                </a:solidFill>
              </a:rPr>
              <a:t>Données personnelles transmises à l'IA — pas d'anonymisation automatique</a:t>
            </a:r>
            <a:endParaRPr lang="en-US" sz="1100" dirty="0"/>
          </a:p>
          <a:p>
            <a:pPr marL="177800" indent="-177800">
              <a:spcAft>
                <a:spcPts val="1200"/>
              </a:spcAft>
              <a:buSzPct val="100000"/>
              <a:buChar char="•"/>
            </a:pPr>
            <a:r>
              <a:rPr lang="en-US" sz="1400" dirty="0">
                <a:solidFill>
                  <a:srgbClr val="2A3142"/>
                </a:solidFill>
              </a:rPr>
              <a:t>Rapport de qualité de données pré-import absent</a:t>
            </a:r>
            <a:endParaRPr lang="en-US" sz="1100" dirty="0"/>
          </a:p>
          <a:p>
            <a:pPr marL="177800" indent="-177800">
              <a:buSzPct val="100000"/>
              <a:buChar char="•"/>
            </a:pPr>
            <a:r>
              <a:rPr lang="en-US" sz="1400" dirty="0">
                <a:solidFill>
                  <a:srgbClr val="2A3142"/>
                </a:solidFill>
              </a:rPr>
              <a:t>Interface web non authentifiée — usage interne uniquement</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20</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COURT TERME</a:t>
            </a:r>
            <a:endParaRPr lang="en-US" sz="1100" dirty="0"/>
          </a:p>
          <a:p>
            <a:pPr marL="177800" indent="-177800">
              <a:spcAft>
                <a:spcPts val="1200"/>
              </a:spcAft>
              <a:buSzPct val="100000"/>
              <a:buChar char="•"/>
            </a:pPr>
            <a:r>
              <a:rPr lang="en-US" sz="1400" dirty="0">
                <a:solidFill>
                  <a:srgbClr val="2A3142"/>
                </a:solidFill>
              </a:rPr>
              <a:t>Extension aux ordres de fabrication et mouvements de stock</a:t>
            </a:r>
            <a:endParaRPr lang="en-US" sz="1100" dirty="0"/>
          </a:p>
          <a:p>
            <a:pPr marL="177800" indent="-177800">
              <a:spcAft>
                <a:spcPts val="1200"/>
              </a:spcAft>
              <a:buSzPct val="100000"/>
              <a:buChar char="•"/>
            </a:pPr>
            <a:r>
              <a:rPr lang="en-US" sz="1400" dirty="0">
                <a:solidFill>
                  <a:srgbClr val="2A3142"/>
                </a:solidFill>
              </a:rPr>
              <a:t>Élargissement des sources : Excel, bases SQL, XML d'autres ERP</a:t>
            </a:r>
            <a:endParaRPr lang="en-US" sz="1100" dirty="0"/>
          </a:p>
          <a:p>
            <a:pPr marL="177800" indent="-177800">
              <a:buSzPct val="100000"/>
              <a:buChar char="•"/>
            </a:pPr>
            <a:r>
              <a:rPr lang="en-US" sz="1400" dirty="0">
                <a:solidFill>
                  <a:srgbClr val="2A3142"/>
                </a:solidFill>
              </a:rPr>
              <a:t>Rapport de qualité de données pré-import (profiling avant injection)</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LONG TERME</a:t>
            </a:r>
            <a:endParaRPr lang="en-US" sz="1100" dirty="0"/>
          </a:p>
          <a:p>
            <a:pPr marL="177800" indent="-177800">
              <a:spcAft>
                <a:spcPts val="1200"/>
              </a:spcAft>
              <a:buSzPct val="100000"/>
              <a:buChar char="•"/>
            </a:pPr>
            <a:r>
              <a:rPr lang="en-US" sz="1400" dirty="0">
                <a:solidFill>
                  <a:srgbClr val="2A3142"/>
                </a:solidFill>
              </a:rPr>
              <a:t>Publication open source du framework</a:t>
            </a:r>
            <a:endParaRPr lang="en-US" sz="1100" dirty="0"/>
          </a:p>
          <a:p>
            <a:pPr marL="177800" indent="-177800">
              <a:spcAft>
                <a:spcPts val="1200"/>
              </a:spcAft>
              <a:buSzPct val="100000"/>
              <a:buChar char="•"/>
            </a:pPr>
            <a:r>
              <a:rPr lang="en-US" sz="1400" dirty="0">
                <a:solidFill>
                  <a:srgbClr val="2A3142"/>
                </a:solidFill>
              </a:rPr>
              <a:t>Généralisation à d'autres ERP open source : Odoo, ERPNext</a:t>
            </a:r>
            <a:endParaRPr lang="en-US" sz="1100" dirty="0"/>
          </a:p>
          <a:p>
            <a:pPr marL="177800" indent="-177800">
              <a:buSzPct val="100000"/>
              <a:buChar char="•"/>
            </a:pPr>
            <a:r>
              <a:rPr lang="en-US" sz="1400" dirty="0">
                <a:solidFill>
                  <a:srgbClr val="2A3142"/>
                </a:solidFill>
              </a:rPr>
              <a:t>Capitalisation IA : apprentissage sur l'historique des mappings réussis</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1</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