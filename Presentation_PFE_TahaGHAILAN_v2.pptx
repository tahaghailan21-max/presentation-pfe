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7927</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29</cp:revision>
  <dcterms:created xsi:type="dcterms:W3CDTF">2026-06-26T14:43:00Z</dcterms:created>
  <dcterms:modified xsi:type="dcterms:W3CDTF">2026-07-03T10:28:18Z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valider le framework, on a travaillé sur un golden dataset conçu pour tester les cas les plus difficiles. Des produits avec des clés étrangères embarquées directement dans la table source, des partenaires avec des adresses intégrées alors qu'Axelor les stocke dans des tables séparées, et des taxes imbriquées dans les commandes et les factures.</a:t>
            </a:r>
            <a:endParaRPr lang="fr-FR" dirty="0"/>
          </a:p>
          <a:p>
            <a:endParaRPr lang="fr-FR" dirty="0"/>
          </a:p>
          <a:p>
            <a:r>
              <a:rPr lang="fr-FR" dirty="0"/>
              <a:t>Le tableau résume les résultats par entité. Les taux d'import sont élevés, et les quelques erreurs sont volontaires. On les a introduites pour tester la robustesse du système face à des données incomplètes ou incohérentes.</a:t>
            </a:r>
            <a:endParaRPr lang="fr-FR" dirty="0"/>
          </a:p>
          <a:p>
            <a:endParaRPr lang="fr-FR" dirty="0"/>
          </a:p>
          <a:p>
            <a:r>
              <a:rPr lang="fr-FR" dirty="0"/>
              <a:t>Le critère principal de validation c'était la ventilation des factures. Une facture ventilée, ça veut dire que les partenaires sont bien présents, les produits aussi, les comptes comptables sont correctement associés et les taxes sont bien remontées. Sur notre jeu de données, c'est réussi.</a:t>
            </a:r>
            <a:endParaRPr lang="fr-FR" dirty="0"/>
          </a:p>
          <a:p>
            <a:endParaRPr lang="fr-FR" dirty="0"/>
          </a:p>
          <a:p>
            <a:r>
              <a:rPr lang="fr-FR" dirty="0"/>
              <a:t>Côté idempotence, on peut relancer le workflow complet plusieurs fois de suite sans créer de doublons. C'est un comportement important pour un outil destiné à un usage en production.</a:t>
            </a:r>
            <a:endParaRPr lang="fr-FR" dirty="0"/>
          </a:p>
          <a:p>
            <a:endParaRPr lang="fr-FR" dirty="0"/>
          </a:p>
          <a:p>
            <a:r>
              <a:rPr lang="fr-FR" dirty="0"/>
              <a:t>Sur les performances, le framework est 3,6 fois plus rapide que l'import natif Axelor. Concrètement, environ 10 minutes pour traiter 2 000 documents et presque 10 000 lignes, contre près de 40 minutes avec l'approche native. La différence vient du contournement de la couche ORM d'Axelor et de l'écriture directe dans PostgreSQL.</a:t>
            </a:r>
            <a:endParaRPr lang="fr-FR" dirty="0"/>
          </a:p>
          <a:p>
            <a:endParaRPr lang="fr-FR" dirty="0"/>
          </a:p>
          <a:p>
            <a:r>
              <a:rPr lang="fr-FR" dirty="0"/>
              <a:t>Et enfin le mapping. Avec le skill, analyser une entité et produire un manifeste prend quelques minutes. Sans le framework, c'est plusieurs heures de configuration manuelle par entité.</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21</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21</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3"/>
          <a:srcRect t="5283"/>
          <a:stretch>
            <a:fillRect/>
          </a:stretch>
        </p:blipFill>
        <p:spPr>
          <a:xfrm>
            <a:off x="93345" y="1793875"/>
            <a:ext cx="5754370" cy="3289935"/>
          </a:xfrm>
          <a:prstGeom prst="rect">
            <a:avLst/>
          </a:prstGeom>
        </p:spPr>
      </p:pic>
      <p:pic>
        <p:nvPicPr>
          <p:cNvPr id="10" name="Screenshot Manifest Review"/>
          <p:cNvPicPr>
            <a:picLocks noChangeAspect="1"/>
          </p:cNvPicPr>
          <p:nvPr/>
        </p:nvPicPr>
        <p:blipFill>
          <a:blip r:embed="rId4"/>
          <a:srcRect t="4889"/>
          <a:stretch>
            <a:fillRect/>
          </a:stretch>
        </p:blipFill>
        <p:spPr>
          <a:xfrm>
            <a:off x="6193790" y="1700530"/>
            <a:ext cx="5895975" cy="3384550"/>
          </a:xfrm>
          <a:prstGeom prst="rect">
            <a:avLst/>
          </a:prstGeom>
        </p:spPr>
      </p:pic>
      <p:sp>
        <p:nvSpPr>
          <p:cNvPr id="11" name="Caption Left"/>
          <p:cNvSpPr txBox="1"/>
          <p:nvPr/>
        </p:nvSpPr>
        <p:spPr>
          <a:xfrm>
            <a:off x="548640"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6922165"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200 — cmd/fact parente non existantes</a:t>
                      </a:r>
                      <a:endParaRPr sz="900" b="0">
                        <a:solidFill>
                          <a:srgbClr val="2A3142"/>
                        </a:solidFill>
                        <a:latin typeface="Calibri" panose="020F0502020204030204"/>
                      </a:endParaRPr>
                    </a:p>
                  </a:txBody>
                  <a:tcPr>
                    <a:solidFill>
                      <a:srgbClr val="F5F5F5"/>
                    </a:solidFill>
                  </a:tcPr>
                </a:tc>
              </a:tr>
            </a:tbl>
          </a:graphicData>
        </a:graphic>
      </p:graphicFrame>
      <p:sp>
        <p:nvSpPr>
          <p:cNvPr id="9" name="Pointer 1"/>
          <p:cNvSpPr txBox="1"/>
          <p:nvPr/>
        </p:nvSpPr>
        <p:spPr>
          <a:xfrm>
            <a:off x="5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Validation — ventilation des factures</a:t>
            </a:r>
            <a:endParaRPr sz="900" b="1" dirty="0">
              <a:solidFill>
                <a:srgbClr val="1F4E9C"/>
              </a:solidFill>
              <a:latin typeface="Calibri" panose="020F0502020204030204"/>
            </a:endParaRPr>
          </a:p>
          <a:p>
            <a:pPr algn="l"/>
            <a:r>
              <a:rPr sz="820" b="0" dirty="0">
                <a:solidFill>
                  <a:srgbClr val="7A8294"/>
                </a:solidFill>
                <a:latin typeface="Calibri" panose="020F0502020204030204"/>
              </a:rPr>
              <a:t>Partenaires, produits, comptes comptables et taxes correctement liés dans chaque facture</a:t>
            </a:r>
            <a:endParaRPr sz="820" b="0" dirty="0">
              <a:solidFill>
                <a:srgbClr val="7A8294"/>
              </a:solidFill>
              <a:latin typeface="Calibri" panose="020F0502020204030204"/>
            </a:endParaRPr>
          </a:p>
        </p:txBody>
      </p:sp>
      <p:sp>
        <p:nvSpPr>
          <p:cNvPr id="10" name="Pointer 2"/>
          <p:cNvSpPr txBox="1"/>
          <p:nvPr/>
        </p:nvSpPr>
        <p:spPr>
          <a:xfrm>
            <a:off x="28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Idempotence garantie</a:t>
            </a:r>
            <a:endParaRPr sz="900" b="1" dirty="0">
              <a:solidFill>
                <a:srgbClr val="1F4E9C"/>
              </a:solidFill>
              <a:latin typeface="Calibri" panose="020F0502020204030204"/>
            </a:endParaRPr>
          </a:p>
          <a:p>
            <a:pPr algn="l"/>
            <a:r>
              <a:rPr sz="820" b="0" dirty="0">
                <a:solidFill>
                  <a:srgbClr val="7A8294"/>
                </a:solidFill>
                <a:latin typeface="Calibri" panose="020F0502020204030204"/>
              </a:rPr>
              <a:t>0 doublon sur ré-exécution complète du workflow</a:t>
            </a:r>
            <a:endParaRPr sz="820" b="0" dirty="0">
              <a:solidFill>
                <a:srgbClr val="7A8294"/>
              </a:solidFill>
              <a:latin typeface="Calibri" panose="020F0502020204030204"/>
            </a:endParaRPr>
          </a:p>
        </p:txBody>
      </p:sp>
      <p:sp>
        <p:nvSpPr>
          <p:cNvPr id="11" name="Pointer 3"/>
          <p:cNvSpPr txBox="1"/>
          <p:nvPr/>
        </p:nvSpPr>
        <p:spPr>
          <a:xfrm>
            <a:off x="51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3.6× plus rapide que l'import natif</a:t>
            </a:r>
            <a:endParaRPr sz="900" b="1" dirty="0">
              <a:solidFill>
                <a:srgbClr val="1F4E9C"/>
              </a:solidFill>
              <a:latin typeface="Calibri" panose="020F0502020204030204"/>
            </a:endParaRPr>
          </a:p>
          <a:p>
            <a:pPr algn="l"/>
            <a:r>
              <a:rPr sz="820" b="0" dirty="0">
                <a:solidFill>
                  <a:srgbClr val="7A8294"/>
                </a:solidFill>
                <a:latin typeface="Calibri" panose="020F0502020204030204"/>
              </a:rPr>
              <a:t>642s vs 2 340s pour 2 000 documents et ~10 000 lignes</a:t>
            </a:r>
            <a:endParaRPr sz="820" b="0" dirty="0">
              <a:solidFill>
                <a:srgbClr val="7A8294"/>
              </a:solidFill>
              <a:latin typeface="Calibri" panose="020F0502020204030204"/>
            </a:endParaRPr>
          </a:p>
        </p:txBody>
      </p:sp>
      <p:sp>
        <p:nvSpPr>
          <p:cNvPr id="12" name="Pointer 4"/>
          <p:cNvSpPr txBox="1"/>
          <p:nvPr/>
        </p:nvSpPr>
        <p:spPr>
          <a:xfrm>
            <a:off x="74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Mapping IA — quelques minutes</a:t>
            </a:r>
            <a:endParaRPr sz="900" b="1" dirty="0">
              <a:solidFill>
                <a:srgbClr val="1F4E9C"/>
              </a:solidFill>
              <a:latin typeface="Calibri" panose="020F0502020204030204"/>
            </a:endParaRPr>
          </a:p>
          <a:p>
            <a:pPr algn="l"/>
            <a:r>
              <a:rPr sz="820" b="0" dirty="0">
                <a:solidFill>
                  <a:srgbClr val="7A8294"/>
                </a:solidFill>
                <a:latin typeface="Calibri" panose="020F0502020204030204"/>
              </a:rPr>
              <a:t>Contre plusieurs heures de configuration manuelle par entité</a:t>
            </a:r>
            <a:endParaRPr sz="820" b="0" dirty="0">
              <a:solidFill>
                <a:srgbClr val="7A8294"/>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19</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