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7" r:id="rId3"/>
    <p:sldId id="257" r:id="rId5"/>
    <p:sldId id="268" r:id="rId6"/>
    <p:sldId id="259" r:id="rId7"/>
    <p:sldId id="260" r:id="rId8"/>
    <p:sldId id="261" r:id="rId9"/>
    <p:sldId id="262" r:id="rId10"/>
    <p:sldId id="263" r:id="rId11"/>
    <p:sldId id="265" r:id="rId12"/>
    <p:sldId id="266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Bonjour à tous. Messieurs les membres du jury, cher encadrant, mesdames et messieurs les invités, je vous remercie de me recevoir aujourd'hui pour la soutenance de mon projet de fin d'études.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m'appelle Taha Ghailan.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vais vous présenter mon travail réalisé au sein d'Axelor Maroc, portant sur la conception d'un framework ETL générique assisté par agents IA génératifs.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Je vais structurer ma présentation en six parties.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Je commencerai par présenter le contexte général et l'organisme d'accueil. Ensuite j'aborderai la problématique, puis la méthodologie adoptée. Je passerai ensuite à la conception de la solution, suivie de la réalisation et des résultats obtenus. Et je terminerai par une conclusion en trois parties : le bilan, les limitations et les perspectives d'évolution.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Axelor est un éditeur fran</a:t>
            </a:r>
            <a:r>
              <a:rPr lang="en-US" altLang="en-US" dirty="0"/>
              <a:t>ç</a:t>
            </a:r>
            <a:r>
              <a:rPr lang="en-US" altLang="en-US" dirty="0"/>
              <a:t>ais de logiciels open source spécialisé dans les solutions ERP, CRM et BPM. Fondée en 2005, la société est aujourd'hui présente dans 4 pays : la France, le Maroc, l'Inde et le Canada. C'est au sein de la filiale Axelor Maroc, dans l'équipe R&amp;D, que j'ai effectué mon stage.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Dans tout projet de déploiement ERP, les entreprises doivent migrer leurs données historiques depuis leurs anciens syst</a:t>
            </a:r>
            <a:r>
              <a:rPr lang="en-US" altLang="en-US" dirty="0"/>
              <a:t>è</a:t>
            </a:r>
            <a:r>
              <a:rPr lang="en-US" altLang="en-US" dirty="0"/>
              <a:t>mes — qu'il s'agisse d'anciens ERP, de bases de données relationnelles, de fichiers Excel ou CSV, ou encore d'APIs tierces. C'est une étape critique qui conditionne directement la mise en production.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Mon stage avait donc deux volets : participer aux projets d'intégration clients aux côtés des équipes Axelor, et contribuer à l'effort R&amp;D pour résoudre un probl</a:t>
            </a:r>
            <a:r>
              <a:rPr lang="en-US" altLang="en-US" dirty="0"/>
              <a:t>è</a:t>
            </a:r>
            <a:r>
              <a:rPr lang="en-US" altLang="en-US" dirty="0"/>
              <a:t>me récurrent dans les projets de déploiement.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"Ce probl</a:t>
            </a:r>
            <a:r>
              <a:rPr lang="" altLang="en-US" dirty="0"/>
              <a:t>è</a:t>
            </a:r>
            <a:r>
              <a:rPr lang="en-US" altLang="en-US" dirty="0"/>
              <a:t>me récurrent, c'est la migration de données historiques.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Quand Axelor déploie son ERP chez un nouveau client, le client veut garder ses données — ses produits, ses partenaires, ses commandes. Aujourd'hui, </a:t>
            </a:r>
            <a:r>
              <a:rPr lang="" altLang="en-US" dirty="0"/>
              <a:t>ç</a:t>
            </a:r>
            <a:r>
              <a:rPr lang="en-US" altLang="en-US" dirty="0"/>
              <a:t>a se fait avec des scripts Java écrits sur mesure, projet par projet. Plus de 20 scripts à chaque fois.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Le probl</a:t>
            </a:r>
            <a:r>
              <a:rPr lang="" altLang="en-US" dirty="0"/>
              <a:t>è</a:t>
            </a:r>
            <a:r>
              <a:rPr lang="en-US" altLang="en-US" dirty="0"/>
              <a:t>me c'est que ces scripts ne servent qu'une fois. Le projet suivant, même si les données se ressemblent, on repart de zéro. </a:t>
            </a:r>
            <a:r>
              <a:rPr lang="" altLang="en-US" dirty="0"/>
              <a:t>Ç</a:t>
            </a:r>
            <a:r>
              <a:rPr lang="en-US" altLang="en-US" dirty="0"/>
              <a:t>a co</a:t>
            </a:r>
            <a:r>
              <a:rPr lang="" altLang="en-US" dirty="0"/>
              <a:t>û</a:t>
            </a:r>
            <a:r>
              <a:rPr lang="en-US" altLang="en-US" dirty="0"/>
              <a:t>te cher et </a:t>
            </a:r>
            <a:r>
              <a:rPr lang="" altLang="en-US" dirty="0"/>
              <a:t>ç</a:t>
            </a:r>
            <a:r>
              <a:rPr lang="en-US" altLang="en-US" dirty="0"/>
              <a:t>a mobilise des ingénieurs à chaque déploiement.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Et même quand on arrive à importer, l'import natif d'Axelor passe par toute la couche ORM. Sur de gros volumes, c'est lent.</a:t>
            </a:r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Donc la question que ce projet essaie de répondre : est-ce qu'on peut concevoir un framework générique qui standardise ce processus et automatise la configuration grâce à des agents IA ?</a:t>
            </a:r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Justifier le choix de la méthode en une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seul diagramme lisible. Commenter, ne pas lire.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solution en action. Les chiffres clés marquent les esprits.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par une phrase de synthèse forte.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remerciement. Rester affichée pendant les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57200" y="-502920"/>
            <a:ext cx="3014472" cy="786384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502920"/>
            <a:ext cx="990234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531352" y="56692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3200400" y="150876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École Nationale des Sciences Appliquées de Kénitra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3200400" y="180136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Université Ibn Tofail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3200400" y="221284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Mémoire de Projet de Fin d'Études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3200400" y="2889250"/>
            <a:ext cx="841248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Conception d'un Framework ETL Générique pour l'Import de Données Axelor, Assisté par Agents IA Génératifs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3200400" y="3977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Filière Génie Informatique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200400" y="4526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Réalisé par   </a:t>
            </a: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Taha GHAILAN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200400" y="4892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Encadré par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474720" y="51663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Pr. El Bouzekri El Idrissi Youn</a:t>
            </a:r>
            <a:r>
              <a:rPr lang="en-US" alt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è</a:t>
            </a: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s, encadrant (ENSAK)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474720" y="5440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M. Abderrahim Aabane, encadrant (Axelor)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200400" y="58521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Soutenu le </a:t>
            </a:r>
            <a:r>
              <a:rPr lang="fr-FR" alt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r>
              <a:rPr lang="en-US" sz="1200" b="1" dirty="0">
                <a:solidFill>
                  <a:srgbClr val="1220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/07/2026 devant le jury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474720" y="6126480"/>
            <a:ext cx="8595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Pr.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Youn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è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L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B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OUZEKRI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E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L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I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DRISSI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 Pr. 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Aniss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MOUMEN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 Pr. </a:t>
            </a:r>
            <a:r>
              <a:rPr lang="en-US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Ayoub</a:t>
            </a:r>
            <a:r>
              <a:rPr lang="fr-FR" alt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AIT LAHCEN</a:t>
            </a:r>
            <a:r>
              <a:rPr lang="en-US" sz="11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   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20040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Année universitaire 2025/2026</a:t>
            </a:r>
            <a:endParaRPr lang="en-US" sz="1000" dirty="0"/>
          </a:p>
        </p:txBody>
      </p:sp>
      <p:pic>
        <p:nvPicPr>
          <p:cNvPr id="17" name="Picture 16" descr="logo_axe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0" y="596265"/>
            <a:ext cx="995045" cy="336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Plan de la présentation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745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600200" y="18745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Contexte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29200" y="187452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Organisme d'accueil et cadre du projet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8368" y="2624328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00200" y="262432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Problématique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029200" y="2624328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Limites de l'existant et besoin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8368" y="3374136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00200" y="3374136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Méthodologie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5029200" y="3374136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Cadrage, besoins et démarche de travail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8368" y="4123944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00200" y="4123944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Conception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029200" y="4123944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Cas d'utilisation et modélisation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" y="487375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600200" y="4873752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Réalisation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029200" y="4873752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Architecture, implémentation et résultats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58368" y="562356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600200" y="562356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Conclusion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5029200" y="56235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Bilan, Limitations et Perspectives d'évolution</a:t>
            </a:r>
            <a:endParaRPr lang="en-US" sz="130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  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Contexte du projet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28800"/>
            <a:ext cx="5669280" cy="3840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ORGANISME D'ACCUEIL</a:t>
            </a:r>
            <a:endParaRPr lang="en-US" sz="11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1400" dirty="0">
                <a:solidFill>
                  <a:srgbClr val="2A3142"/>
                </a:solidFill>
              </a:rPr>
              <a:t>Axelor SAS</a:t>
            </a:r>
            <a:r>
              <a:rPr lang="fr-FR" altLang="en-US" sz="1400" dirty="0">
                <a:solidFill>
                  <a:srgbClr val="2A3142"/>
                </a:solidFill>
              </a:rPr>
              <a:t>: </a:t>
            </a:r>
            <a:r>
              <a:rPr lang="en-US" sz="1400" dirty="0">
                <a:solidFill>
                  <a:srgbClr val="2A3142"/>
                </a:solidFill>
              </a:rPr>
              <a:t> éditeur français de solutions ERP/CRM/BPM open source, fondé en 2005, présent dans 4 pays (France, Maroc, Inde, Canada)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CADRE DU PROJET</a:t>
            </a:r>
            <a:endParaRPr lang="en-US" sz="1100" dirty="0"/>
          </a:p>
          <a:p>
            <a:pPr marL="0" indent="0">
              <a:spcAft>
                <a:spcPts val="1800"/>
              </a:spcAft>
              <a:buNone/>
            </a:pPr>
            <a:r>
              <a:rPr lang="en-US" altLang="en-US" sz="1100" dirty="0"/>
              <a:t> </a:t>
            </a:r>
            <a:r>
              <a:rPr lang="en-US" altLang="en-US" sz="1400" dirty="0"/>
              <a:t>Tout déploiement ERP implique une migration des données historiques du client, étape critique qui conditionne la mise en production.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OBJECTIF</a:t>
            </a:r>
            <a:endParaRPr lang="en-US" sz="1100" dirty="0"/>
          </a:p>
          <a:p>
            <a:pPr marL="0" indent="0">
              <a:buNone/>
            </a:pPr>
            <a:r>
              <a:rPr lang="en-US" altLang="en-US" sz="1400" dirty="0"/>
              <a:t>Participer aux projets d'intégration clients et contribuer à l'effort R&amp;D d'Axelor Maroc.</a:t>
            </a:r>
            <a:endParaRPr lang="en-US" alt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1828800"/>
            <a:ext cx="4114800" cy="3749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09</a:t>
            </a:r>
            <a:endParaRPr lang="en-US" sz="1000" dirty="0"/>
          </a:p>
        </p:txBody>
      </p:sp>
      <p:pic>
        <p:nvPicPr>
          <p:cNvPr id="11" name="Picture 10" descr="Siege-Axe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54480"/>
            <a:ext cx="3183890" cy="31838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  PROBLÉMATIQUE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Le problème à résoudre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26515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«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1371600" y="1289050"/>
            <a:ext cx="969264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Comment concevoir un framework ETL générique qui </a:t>
            </a:r>
            <a:r>
              <a:rPr lang="fr-FR" alt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standarise la migration de donn</a:t>
            </a:r>
            <a:r>
              <a:rPr lang="en-US" altLang="en-US" sz="2400" dirty="0">
                <a:sym typeface="+mn-ea"/>
              </a:rPr>
              <a:t>é</a:t>
            </a:r>
            <a:r>
              <a:rPr lang="fr-FR" altLang="en-US" sz="2400" dirty="0">
                <a:sym typeface="+mn-ea"/>
              </a:rPr>
              <a:t>s vers Axelor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fr-FR" alt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 automatise la configuration gr</a:t>
            </a:r>
            <a:r>
              <a:rPr lang="en-US" altLang="en-US" sz="2400" dirty="0">
                <a:sym typeface="+mn-ea"/>
              </a:rPr>
              <a:t>â</a:t>
            </a:r>
            <a:r>
              <a:rPr lang="fr-FR" altLang="en-US" sz="2400" dirty="0">
                <a:sym typeface="+mn-ea"/>
              </a:rPr>
              <a:t>ce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US" altLang="en-US" sz="2400" dirty="0">
                <a:sym typeface="+mn-ea"/>
              </a:rPr>
              <a:t>à </a:t>
            </a:r>
            <a:r>
              <a:rPr lang="en-US" sz="2400" i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des agents IA ?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58368" y="2845435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LIMITES DE L'EXISTANT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30429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040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Coût élevé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20+ scripts Java </a:t>
            </a:r>
            <a:r>
              <a:rPr lang="en-US" altLang="en-US" sz="1200" dirty="0">
                <a:solidFill>
                  <a:srgbClr val="2A314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développés sur mesure par projet, mobilisant des ressources d'ingénierie significatives</a:t>
            </a:r>
            <a:endParaRPr lang="en-US" altLang="en-US" sz="1200" dirty="0">
              <a:solidFill>
                <a:srgbClr val="2A3142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15968" y="304292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3616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Non-réutilisabilité</a:t>
            </a:r>
            <a:r>
              <a:rPr lang="fr-FR" alt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616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en-US" sz="1200" dirty="0"/>
              <a:t> Les scripts d'un projet ne sont pas réutilisables sur le suivant, même lorsque les structures de données sont similaires</a:t>
            </a:r>
            <a:endParaRPr lang="en-US" alt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73568" y="3061335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DEE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019288" y="349059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Performance limitée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019288" y="387223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en-US" sz="1200" dirty="0"/>
              <a:t>L'import natif Axelor, passant par la couche ORM, devient lent sur les grandes volumétries</a:t>
            </a:r>
            <a:endParaRPr lang="en-US" altLang="en-US" sz="12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185" y="4522470"/>
            <a:ext cx="4968240" cy="1638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  MÉTHODOLOGIE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Approche méthodologique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" y="3200400"/>
            <a:ext cx="10451592" cy="0"/>
          </a:xfrm>
          <a:prstGeom prst="line">
            <a:avLst/>
          </a:prstGeom>
          <a:noFill/>
          <a:ln w="15875">
            <a:solidFill>
              <a:srgbClr val="D9DE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" y="3118104"/>
            <a:ext cx="164592" cy="164592"/>
          </a:xfrm>
          <a:prstGeom prst="ellipse">
            <a:avLst/>
          </a:prstGeom>
          <a:solidFill>
            <a:srgbClr val="1F4E9C"/>
          </a:solidFill>
        </p:spPr>
      </p:sp>
      <p:sp>
        <p:nvSpPr>
          <p:cNvPr id="7" name="Text 4"/>
          <p:cNvSpPr/>
          <p:nvPr/>
        </p:nvSpPr>
        <p:spPr>
          <a:xfrm>
            <a:off x="41148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-45720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-45720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AOP &amp; Apache Hop (sem. 1-6)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3118104"/>
            <a:ext cx="164592" cy="164592"/>
          </a:xfrm>
          <a:prstGeom prst="ellipse">
            <a:avLst/>
          </a:prstGeom>
          <a:solidFill>
            <a:srgbClr val="1F4E9C"/>
          </a:solidFill>
        </p:spPr>
      </p:sp>
      <p:sp>
        <p:nvSpPr>
          <p:cNvPr id="11" name="Text 8"/>
          <p:cNvSpPr/>
          <p:nvPr/>
        </p:nvSpPr>
        <p:spPr>
          <a:xfrm>
            <a:off x="3024378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567178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Pipelines ETL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7178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entités (sem. 7-10)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12180" y="3118104"/>
            <a:ext cx="164592" cy="164592"/>
          </a:xfrm>
          <a:prstGeom prst="ellipse">
            <a:avLst/>
          </a:prstGeom>
          <a:solidFill>
            <a:srgbClr val="1F4E9C"/>
          </a:solidFill>
        </p:spPr>
      </p:sp>
      <p:sp>
        <p:nvSpPr>
          <p:cNvPr id="15" name="Text 12"/>
          <p:cNvSpPr/>
          <p:nvPr/>
        </p:nvSpPr>
        <p:spPr>
          <a:xfrm>
            <a:off x="5637276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180076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180076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Axelor Import Studio (sem. 11-14)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625078" y="3118104"/>
            <a:ext cx="164592" cy="164592"/>
          </a:xfrm>
          <a:prstGeom prst="ellipse">
            <a:avLst/>
          </a:prstGeom>
          <a:solidFill>
            <a:srgbClr val="1F4E9C"/>
          </a:solidFill>
        </p:spPr>
      </p:sp>
      <p:sp>
        <p:nvSpPr>
          <p:cNvPr id="19" name="Text 16"/>
          <p:cNvSpPr/>
          <p:nvPr/>
        </p:nvSpPr>
        <p:spPr>
          <a:xfrm>
            <a:off x="8250174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792974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Skills IA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792974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Claude Code (sem. 15-18)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1237976" y="3118104"/>
            <a:ext cx="164592" cy="164592"/>
          </a:xfrm>
          <a:prstGeom prst="ellipse">
            <a:avLst/>
          </a:prstGeom>
          <a:solidFill>
            <a:srgbClr val="1F4E9C"/>
          </a:solidFill>
        </p:spPr>
      </p:sp>
      <p:sp>
        <p:nvSpPr>
          <p:cNvPr id="23" name="Text 20"/>
          <p:cNvSpPr/>
          <p:nvPr/>
        </p:nvSpPr>
        <p:spPr>
          <a:xfrm>
            <a:off x="10863072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405872" y="34290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Tests &amp; Validation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405872" y="37490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Golden dataset (sem. 19-20)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5074920"/>
            <a:ext cx="94183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Méthode incrémentale — un sprint par domaine fonctionnel, suivi Redmine. Critère de réussite : ventilation comptable des factures importées.</a:t>
            </a:r>
            <a:endParaRPr lang="en-US" sz="120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 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Conception de la solution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1828800"/>
            <a:ext cx="7315200" cy="3794760"/>
          </a:xfrm>
          <a:prstGeom prst="rect">
            <a:avLst/>
          </a:prstGeom>
          <a:solidFill>
            <a:srgbClr val="F5F7FA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1828800"/>
            <a:ext cx="6766560" cy="3794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CSV → Agent IA (analyse) → Manifeste JSON → Agent IA (génération) → Apache Hop → PostgreSQL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1920240"/>
            <a:ext cx="32004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À RETENIR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A3142"/>
                </a:solidFill>
              </a:rPr>
              <a:t>Manifeste JSON : contrat versionnable entre phase d'analyse et génération de pipelines</a:t>
            </a:r>
            <a:endParaRPr lang="en-US" sz="11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A3142"/>
                </a:solidFill>
              </a:rPr>
              <a:t>3 patterns ETL standardisés : upsert, junction M2M, post-SQL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A3142"/>
                </a:solidFill>
              </a:rPr>
              <a:t>3 piliers : Apache Hop + 3 skills IA Claude + application web Axelor Import Studio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  RÉALISATION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Réalisation et résultats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1828800"/>
            <a:ext cx="7315200" cy="3794760"/>
          </a:xfrm>
          <a:prstGeom prst="rect">
            <a:avLst/>
          </a:prstGeom>
          <a:solidFill>
            <a:srgbClr val="F5F7FA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1828800"/>
            <a:ext cx="6766560" cy="3794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Axelor Import Studio — interface conversationnelle (terminal Claude + review manifeste + génération pipelines)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1874520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75320" y="258775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pipelines Apache Hop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0" y="3200400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19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275320" y="391363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skills IA Claude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0" y="4526280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9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19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275320" y="523951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plus rapide que l'import natif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 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Bilan des réalisations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65960"/>
            <a:ext cx="521208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BILAN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19 pipelines ETL réutilisables couvrant produits, partenaires, commandes et factures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3 skills IA (analyze-and-map, generate-pipeline, generate-workflow) + application Axelor Import Studio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Maîtrise Apache Hop, prompt engineering LLM, FastAPI + React + PTY WebSocket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0" y="196596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VALIDATION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Golden dataset : 75 produits, 68 partenaires, 1 000 commandes, 1 000 factures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Ventilation comptable des factures validée — preuve d'intégrité de la chaîne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Idempotence confirmée : 0 doublon sur ré-exécution complète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08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 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Limitations actuelles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65960"/>
            <a:ext cx="521208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TECHNIQUES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Génération de pipelines partielle — cas complexes nécessitent du tuning manuel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Débit modéré — ~15 lignes/sec (lookups FK ligne par ligne, pas en batch)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Sources CSV uniquement — Excel, SQL, XML d'autres ERP non supportés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0" y="196596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ORGANISATIONNELLES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Données personnelles transmises à l'IA — pas d'anonymisation automatique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Rapport de qualité de données pré-import absent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Interface web non authentifiée — usage interne uniquement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09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 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Perspectives d'évolution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2848" y="2286000"/>
            <a:ext cx="2173224" cy="5669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65960"/>
            <a:ext cx="521208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COURT TERME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Extension aux ordres de fabrication et mouvements de stock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Élargissement des sources : Excel, bases SQL, XML d'autres ERP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Rapport de qualité de données pré-import (profiling avant injection)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0" y="196596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100" b="1" kern="0" spc="200" dirty="0">
                <a:solidFill>
                  <a:srgbClr val="1F4E9C"/>
                </a:solidFill>
              </a:rPr>
              <a:t>LONG TERME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Publication open source du framework</a:t>
            </a:r>
            <a:endParaRPr lang="en-US" sz="11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Généralisation à d'autres ERP open source : Odoo, ERPNext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A3142"/>
                </a:solidFill>
              </a:rPr>
              <a:t>Capitalisation IA : apprentissage sur l'historique des mappings réussis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27648"/>
            <a:ext cx="415260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Projet de Fin d'Études : Génie Informatique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360152" y="63093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r>
              <a:rPr lang="en-US" sz="1000" dirty="0">
                <a:solidFill>
                  <a:srgbClr val="7A82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0240" y="-502920"/>
            <a:ext cx="3014472" cy="7863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203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822960" y="3657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4E9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Place à vos questions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754880"/>
            <a:ext cx="958291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4709</Words>
  <Application>WPS Presentation</Application>
  <PresentationFormat>On-screen Show (16:9)</PresentationFormat>
  <Paragraphs>250</Paragraphs>
  <Slides>11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Soutenance PFE : ENSA Kénitra</dc:title>
  <dc:creator>ENSA Kénitra</dc:creator>
  <dc:subject>PptxGenJS Presentation</dc:subject>
  <cp:lastModifiedBy>Electronic Store</cp:lastModifiedBy>
  <cp:revision>11</cp:revision>
  <dcterms:created xsi:type="dcterms:W3CDTF">2026-06-26T14:43:00Z</dcterms:created>
  <dcterms:modified xsi:type="dcterms:W3CDTF">2026-06-29T16:35:10Z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B31F9A9E087F457B963121568B17B29E_12</vt:lpwstr>
  </property>
  <property fmtid="{D5CDD505-2E9C-101B-9397-08002B2CF9AE}" pid="3" name="KSOProductBuildVer">
    <vt:lpwstr>1033-12.1.0.26880</vt:lpwstr>
  </property>
</Properties>
</file>