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docProps\app.xml><?xml version="1.0" encoding="utf-8"?>
<Properties xmlns="http://schemas.openxmlformats.org/officeDocument/2006/extended-properties" xmlns:vt="http://schemas.openxmlformats.org/officeDocument/2006/docPropsVTypes">
  <TotalTime>0</TotalTime>
  <Words>7592</Words>
  <Application>WPS Presentation</Application>
  <PresentationFormat>On-screen Show (16:9)</PresentationFormat>
  <Paragraphs>611</Paragraphs>
  <Slides>22</Slides>
  <Notes>9</Notes>
  <HiddenSlides>0</HiddenSlides>
  <MMClips>0</MMClips>
  <ScaleCrop>false</ScaleCrop>
  <HeadingPairs>
    <vt:vector size="6" baseType="variant">
      <vt:variant>
        <vt:lpstr>已用的字体</vt:lpstr>
      </vt:variant>
      <vt:variant>
        <vt:i4>12</vt:i4>
      </vt:variant>
      <vt:variant>
        <vt:lpstr>主题</vt:lpstr>
      </vt:variant>
      <vt:variant>
        <vt:i4>1</vt:i4>
      </vt:variant>
      <vt:variant>
        <vt:lpstr>幻灯片标题</vt:lpstr>
      </vt:variant>
      <vt:variant>
        <vt:i4>22</vt:i4>
      </vt:variant>
    </vt:vector>
  </HeadingPairs>
  <TitlesOfParts>
    <vt:vector size="35" baseType="lpstr">
      <vt:lpstr>Arial</vt:lpstr>
      <vt:lpstr>SimSun</vt:lpstr>
      <vt:lpstr>Wingdings</vt:lpstr>
      <vt:lpstr>Calibri</vt:lpstr>
      <vt:lpstr>Calibri</vt:lpstr>
      <vt:lpstr>Calibri</vt:lpstr>
      <vt:lpstr>Cambria</vt:lpstr>
      <vt:lpstr>Cambria</vt:lpstr>
      <vt:lpstr>Cambria</vt:lpstr>
      <vt:lpstr>Calibri</vt:lpstr>
      <vt:lpstr>Microsoft YaHei</vt:lpstr>
      <vt:lpstr>Arial Unicode MS</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PptxGenJS</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Template Soutenance PFE : ENSA Kénitra</dc:title>
  <dc:creator>ENSA Kénitra</dc:creator>
  <dc:subject>PptxGenJS Presentation</dc:subject>
  <cp:lastModifiedBy>Electronic Store</cp:lastModifiedBy>
  <cp:revision>16</cp:revision>
  <dcterms:created xsi:type="dcterms:W3CDTF">2026-06-26T14:43:00Z</dcterms:created>
  <dcterms:modified xsi:type="dcterms:W3CDTF">2026-07-02T09:24:23Z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B31F9A9E087F457B963121568B17B29E_12</vt:lpwstr>
  </property>
  <property fmtid="{D5CDD505-2E9C-101B-9397-08002B2CF9AE}" pid="3" name="KSOProductBuildVer">
    <vt:lpwstr>1033-12.1.0.26880</vt:lpwstr>
  </property>
</Properties>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8" Type="http://schemas.openxmlformats.org/officeDocument/2006/relationships/tableStyles" Target="tableStyles.xml"/><Relationship Id="rId27" Type="http://schemas.openxmlformats.org/officeDocument/2006/relationships/viewProps" Target="viewProps.xml"/><Relationship Id="rId26" Type="http://schemas.openxmlformats.org/officeDocument/2006/relationships/presProps" Target="presProps.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dirty="0"/>
              <a:t>Bonjour à tous. Messieurs les membres du jury, cher encadrant, mesdames et messieurs les invités, je vous remercie de me recevoir aujourd'hui pour la soutenance de mon projet de fin d'études.</a:t>
            </a:r>
            <a:endParaRPr lang="en-US" altLang="en-US" dirty="0"/>
          </a:p>
          <a:p>
            <a:endParaRPr lang="en-US" altLang="en-US" dirty="0"/>
          </a:p>
          <a:p>
            <a:r>
              <a:rPr lang="en-US" altLang="en-US" dirty="0"/>
              <a:t>Je m'appelle Taha Ghailan.</a:t>
            </a:r>
            <a:endParaRPr lang="en-US" altLang="en-US" dirty="0"/>
          </a:p>
          <a:p>
            <a:endParaRPr lang="en-US" altLang="en-US" dirty="0"/>
          </a:p>
          <a:p>
            <a:r>
              <a:rPr lang="en-US" altLang="en-US" dirty="0"/>
              <a:t>Je vais vous présenter mon travail réalisé au sein d'Axelor Maroc, portant sur la conception d'un framework ETL générique assisté par agents IA génératifs.</a:t>
            </a:r>
            <a:endParaRPr lang="en-US" alt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dirty="0"/>
              <a:t>Je vais structurer ma présentation en six parties.</a:t>
            </a:r>
            <a:endParaRPr lang="en-US" altLang="en-US" dirty="0"/>
          </a:p>
          <a:p>
            <a:endParaRPr lang="en-US" altLang="en-US" dirty="0"/>
          </a:p>
          <a:p>
            <a:r>
              <a:rPr lang="en-US" altLang="en-US" dirty="0"/>
              <a:t>Je commencerai par présenter le contexte général et l'organisme d'accueil. Ensuite j'aborderai la problématique, puis la méthodologie adoptée. Je passerai ensuite à la conception de la solution, suivie de la réalisation et des résultats obtenus. Et je terminerai par une conclusion en trois parties : le bilan, les limitations et les perspectives d'évolution.</a:t>
            </a:r>
            <a:endParaRPr lang="en-US" alt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dirty="0"/>
              <a:t>Axelor est un éditeur fran</a:t>
            </a:r>
            <a:r>
              <a:rPr lang="en-US" altLang="en-US" dirty="0"/>
              <a:t>ç</a:t>
            </a:r>
            <a:r>
              <a:rPr lang="en-US" altLang="en-US" dirty="0"/>
              <a:t>ais de logiciels open source spécialisé dans les solutions ERP, CRM et BPM. Fondée en 2005, la société est aujourd'hui présente dans 4 pays : la France, le Maroc, l'Inde et le Canada. C'est au sein de la filiale Axelor Maroc, dans l'équipe R&amp;D, que j'ai effectué mon stage.</a:t>
            </a:r>
            <a:endParaRPr lang="en-US" altLang="en-US" dirty="0"/>
          </a:p>
          <a:p>
            <a:endParaRPr lang="en-US" altLang="en-US" dirty="0"/>
          </a:p>
          <a:p>
            <a:r>
              <a:rPr lang="en-US" altLang="en-US" dirty="0"/>
              <a:t>Dans tout projet de déploiement ERP, les entreprises doivent migrer leurs données historiques depuis leurs anciens syst</a:t>
            </a:r>
            <a:r>
              <a:rPr lang="en-US" altLang="en-US" dirty="0"/>
              <a:t>è</a:t>
            </a:r>
            <a:r>
              <a:rPr lang="en-US" altLang="en-US" dirty="0"/>
              <a:t>mes — qu'il s'agisse d'anciens ERP, de bases de données relationnelles, de fichiers Excel ou CSV, ou encore d'APIs tierces. C'est une étape critique qui conditionne directement la mise en production.</a:t>
            </a:r>
            <a:endParaRPr lang="en-US" altLang="en-US" dirty="0"/>
          </a:p>
          <a:p>
            <a:endParaRPr lang="en-US" altLang="en-US" dirty="0"/>
          </a:p>
          <a:p>
            <a:r>
              <a:rPr lang="en-US" altLang="en-US" dirty="0"/>
              <a:t>Mon stage avait donc deux volets : participer aux projets d'intégration clients aux côtés des équipes Axelor, et contribuer à l'effort R&amp;D pour résoudre un probl</a:t>
            </a:r>
            <a:r>
              <a:rPr lang="en-US" altLang="en-US" dirty="0"/>
              <a:t>è</a:t>
            </a:r>
            <a:r>
              <a:rPr lang="en-US" altLang="en-US" dirty="0"/>
              <a:t>me récurrent dans les projets de déploiement.</a:t>
            </a:r>
            <a:endParaRPr lang="en-US" alt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dirty="0"/>
              <a:t>"Ce probl</a:t>
            </a:r>
            <a:r>
              <a:rPr lang="en-US" altLang="en-US" dirty="0"/>
              <a:t>è</a:t>
            </a:r>
            <a:r>
              <a:rPr lang="en-US" altLang="en-US" dirty="0"/>
              <a:t>me récurrent, c'est la migration de données historiques.</a:t>
            </a:r>
            <a:endParaRPr lang="en-US" altLang="en-US" dirty="0"/>
          </a:p>
          <a:p>
            <a:endParaRPr lang="en-US" altLang="en-US" dirty="0"/>
          </a:p>
          <a:p>
            <a:r>
              <a:rPr lang="en-US" altLang="en-US" dirty="0"/>
              <a:t>Quand Axelor déploie son ERP chez un nouveau client, le client veut garder ses données — ses produits, ses partenaires, ses commandes. Aujourd'hui, </a:t>
            </a:r>
            <a:r>
              <a:rPr lang="en-US" altLang="en-US" dirty="0"/>
              <a:t>ç</a:t>
            </a:r>
            <a:r>
              <a:rPr lang="en-US" altLang="en-US" dirty="0"/>
              <a:t>a se fait avec des scripts Java écrits sur mesure, projet par projet. Plus de 20 scripts à chaque fois.</a:t>
            </a:r>
            <a:endParaRPr lang="en-US" altLang="en-US" dirty="0"/>
          </a:p>
          <a:p>
            <a:endParaRPr lang="en-US" altLang="en-US" dirty="0"/>
          </a:p>
          <a:p>
            <a:r>
              <a:rPr lang="en-US" altLang="en-US" dirty="0"/>
              <a:t>Le probl</a:t>
            </a:r>
            <a:r>
              <a:rPr lang="en-US" altLang="en-US" dirty="0"/>
              <a:t>è</a:t>
            </a:r>
            <a:r>
              <a:rPr lang="en-US" altLang="en-US" dirty="0"/>
              <a:t>me c'est que ces scripts ne servent qu'une fois. Le projet suivant, même si les données se ressemblent, on repart de zéro. </a:t>
            </a:r>
            <a:r>
              <a:rPr lang="en-US" altLang="en-US" dirty="0"/>
              <a:t>Ç</a:t>
            </a:r>
            <a:r>
              <a:rPr lang="en-US" altLang="en-US" dirty="0"/>
              <a:t>a co</a:t>
            </a:r>
            <a:r>
              <a:rPr lang="en-US" altLang="en-US" dirty="0"/>
              <a:t>û</a:t>
            </a:r>
            <a:r>
              <a:rPr lang="en-US" altLang="en-US" dirty="0"/>
              <a:t>te cher et </a:t>
            </a:r>
            <a:r>
              <a:rPr lang="en-US" altLang="en-US" dirty="0"/>
              <a:t>ç</a:t>
            </a:r>
            <a:r>
              <a:rPr lang="en-US" altLang="en-US" dirty="0"/>
              <a:t>a mobilise des ingénieurs à chaque déploiement.</a:t>
            </a:r>
            <a:endParaRPr lang="en-US" altLang="en-US" dirty="0"/>
          </a:p>
          <a:p>
            <a:endParaRPr lang="en-US" altLang="en-US" dirty="0"/>
          </a:p>
          <a:p>
            <a:r>
              <a:rPr lang="en-US" altLang="en-US" dirty="0"/>
              <a:t>Et même quand on arrive à importer, l'import natif d'Axelor passe par toute la couche ORM. Sur de gros volumes, c'est lent.</a:t>
            </a:r>
            <a:endParaRPr lang="en-US" altLang="en-US" dirty="0"/>
          </a:p>
          <a:p>
            <a:endParaRPr lang="en-US" altLang="en-US" dirty="0"/>
          </a:p>
          <a:p>
            <a:r>
              <a:rPr lang="en-US" altLang="en-US" dirty="0"/>
              <a:t>Donc la question que ce projet essaie de répondre : est-ce qu'on peut concevoir un framework générique qui standardise ce processus et automatise la configuration grâce à des agents IA ?</a:t>
            </a:r>
            <a:endParaRPr lang="en-US" alt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Pour répondre à cette question, voici comment on a structuré le travail.</a:t>
            </a:r>
            <a:endParaRPr lang="fr-FR" dirty="0"/>
          </a:p>
          <a:p>
            <a:endParaRPr lang="fr-FR" dirty="0"/>
          </a:p>
          <a:p>
            <a:r>
              <a:rPr lang="fr-FR" dirty="0"/>
              <a:t>On a choisi la méthode incrémentale : à chaque incrément, quelque chose fonctionne et peut être validé. Le cycle en V était inadapté, les besoins évoluaient au fil du stage, la complexité d'Axelor se découvre en travaillant dessus, pas sur papier avant de commencer. Scrum, c'était trop lourd pour un projet mono-développeur sans Product Owner. L'incrémental permettait de livrer quelque chose de fonctionnel à chaque incrément, valider avec l'encadrant, et ajuster les priorités pour le suivant.</a:t>
            </a:r>
            <a:endParaRPr lang="fr-FR" dirty="0"/>
          </a:p>
          <a:p>
            <a:endParaRPr lang="fr-FR" dirty="0"/>
          </a:p>
          <a:p>
            <a:r>
              <a:rPr lang="fr-FR" dirty="0"/>
              <a:t>Les 6 premières semaines, c'était de la formation sur AOP, le framework interne qu'Axelor développe et commercialise : l'architecture modulaire, les mécanismes d'import, le modèle de données. Il fallait maîtriser l'écosystème avant de commencer à produire quoi que ce soit.</a:t>
            </a:r>
            <a:endParaRPr lang="fr-FR" dirty="0"/>
          </a:p>
          <a:p>
            <a:endParaRPr lang="fr-FR" dirty="0"/>
          </a:p>
          <a:p>
            <a:r>
              <a:rPr lang="fr-FR" dirty="0"/>
              <a:t>À partir de la semaine 7, deux activités en parallèle. Moitié du temps sur le PFE, moitié sur des projets clients réels au sein de l'équipe. La timeline en haut c'est le PFE, la barre en bas c'est les projets d'intégration.</a:t>
            </a:r>
            <a:endParaRPr lang="fr-FR" dirty="0"/>
          </a:p>
          <a:p>
            <a:endParaRPr lang="fr-FR" dirty="0"/>
          </a:p>
          <a:p>
            <a:r>
              <a:rPr lang="fr-FR" dirty="0"/>
              <a:t>Pour les incréments PFE, on a commencé par les pipelines ETL pour les 4 entités métier, ensuite l'application web Axelor Import Studio, puis les 3 skills IA sur Claude Code, et enfin la validation sur un golden dataset.</a:t>
            </a:r>
            <a:endParaRPr lang="fr-FR" dirty="0"/>
          </a:p>
          <a:p>
            <a:endParaRPr lang="fr-FR" dirty="0"/>
          </a:p>
          <a:p>
            <a:r>
              <a:rPr lang="fr-FR" dirty="0"/>
              <a:t>Le critère qu'on s'était fixé : réussir la ventilation comptable des factures importées. C'est l'entité la plus complexe du lot. Si ce test passe, le framework est validé. On va y revenir dans les résultats.</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Pour choisir l'outil ETL, j'ai évalué trois solutions open source : Apache Hop, Talend, et Apache NiFi.</a:t>
            </a:r>
          </a:p>
          <a:p/>
          <a:p>
            <a:r>
              <a:t>Le critère décisif n'était pas la richesse fonctionnelle — les trois outils sont capables de faire des transformations de données. Le critère décisif, c'est la générabilité par LLM.</a:t>
            </a:r>
          </a:p>
          <a:p/>
          <a:p>
            <a:r>
              <a:t>Puisque l'objectif du framework est de faire générer les pipelines automatiquement par un agent IA, il fallait un format de fichier texte, lisible et structuré. Apache Hop stocke ses pipelines en XML — un fichier par pipeline, versionnable sous Git, que le modèle peut lire comme contexte et reproduire. Talend génère du bytecode Java compilé, NiFi stocke sa configuration dans un état interne non orienté production programmatisée — ni l'un ni l'autre n'est exploitable par un LLM.</a:t>
            </a:r>
          </a:p>
          <a:p/>
          <a:p>
            <a:r>
              <a:t>Apache Hop était donc le seul choix possible pour notre architecture.</a:t>
            </a:r>
          </a:p>
          <a:p/>
          <a:p>
            <a:r>
              <a:t>[Transition] Le même raisonnement s'applique au choix de l'agent IA.</a:t>
            </a:r>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Pour l'agent IA de génération de code, j'ai comparé trois outils : Claude Code d'Anthropic, Codex CLI d'OpenAI, et Gemini CLI de Google, en m'appuyant sur les benchmarks indépendants d'Artificial Analysis de juin 2026.</a:t>
            </a:r>
          </a:p>
          <a:p/>
          <a:p>
            <a:r>
              <a:t>Les scores sont très proches : 77 pour Claude Code contre 76 pour Codex sur le Coding Agent Index. Aucun ne se démarque de manière décisive sur la qualité de génération.</a:t>
            </a:r>
          </a:p>
          <a:p/>
          <a:p>
            <a:r>
              <a:t>Le choix s'est donc fait sur un critère pragmatique : Axelor disposait déjà d'un abonnement Anthropic actif au démarrage du projet. Choisir Claude Code évitait la mise en place d'une nouvelle infrastructure de facturation et d'authentification pour un gain de performance marginal.</a:t>
            </a:r>
          </a:p>
          <a:p/>
          <a:p>
            <a:r>
              <a:t>[Transition] Maintenant que les choix technologiques sont posés, voici comment la solution s'articule concrètement.</a:t>
            </a:r>
          </a:p>
          <a:p/>
          <a:p>
            <a:r>
              <a:t>---</a:t>
            </a:r>
          </a:p>
          <a:p/>
          <a:p>
            <a:r>
              <a:t>Notes :</a:t>
            </a:r>
          </a:p>
          <a:p/>
          <a:p>
            <a:r>
              <a:t>Coding Agent Index (77 pour Claude)</a:t>
            </a:r>
          </a:p>
          <a:p>
            <a:r>
              <a:t>Score composite qui mesure comment un agent IA accomplit du vrai travail de développement logiciel. Il agrège 3 benchmarks : DeepSWE (113 tâches : ajout de features et correction de bugs sur de vrais dépôts), Terminal-Bench (84 tâches en ligne de commande), et SWE-Atlas-QnA (124 questions sur des dépôts). C'est le score le plus pertinent pour ton projet — il mesure exactement ce que font tes skills.</a:t>
            </a:r>
          </a:p>
          <a:p/>
          <a:p>
            <a:r>
              <a:t>Terminal-Bench Hard (63% pour Claude)</a:t>
            </a:r>
          </a:p>
          <a:p>
            <a:r>
              <a:t>Sous-ensemble des 84 tâches les plus difficiles de Terminal-Bench : infrastructure (configurer un serveur web, récupérer une base de données), machine learning (inférence et training de modèles), cryptographie. Les tâches sont réussies ou échouées selon si les tests passent. Encore une fois très pertinent — ton skill analyze-and-map tourne dans un terminal.</a:t>
            </a:r>
          </a:p>
          <a:p/>
          <a:p>
            <a:r>
              <a:t>Intelligence Index (65 pour Claude)</a:t>
            </a:r>
          </a:p>
          <a:p>
            <a:r>
              <a:t>Score global sur 4 domaines : raisonnement avec outils (34%), code (24%), raisonnement scientifique (24%), connaissances générales (18%). Basé sur 9 benchmarks dont GPQA Diamond et Humanity's Last Exam. C'est une mesure de capacité générale, moins spécifique à ton use case que les deux premiers.</a:t>
            </a:r>
          </a:p>
          <a:p/>
          <a:p>
            <a:r>
              <a:t>---</a:t>
            </a:r>
          </a:p>
          <a:p/>
          <a:p>
            <a:r>
              <a:t>Artificial Analysis :</a:t>
            </a:r>
          </a:p>
          <a:p>
            <a:r>
              <a:t>Site indépendant qui fait des benchmarks comparatifs de modèles d'IA. Ils testent tous les grands modèles (OpenAI, Anthropic, Google, Meta...) sur des critères standardisés — qualité, vitesse, prix, capacités de code — et publient les résultats publiquement. Ni Anthropic ni OpenAI ne finance leurs tests, donc les comparaisons sont neutres. C'est pour ça que c'est une source crédible à citer dans un rapport ou une soutenance.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Montrer la solution en action. Les chiffres clés marquent les esprits.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Conclure par une phrase de synthèse forte.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Diapositive de remerciement. Rester affichée pendant les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4"/>
  </p:notesMasterIdLst>
  <p:sldIdLst>
    <p:sldId id="267" r:id="rId3"/>
    <p:sldId id="257" r:id="rId5"/>
    <p:sldId id="268" r:id="rId6"/>
    <p:sldId id="259" r:id="rId7"/>
    <p:sldId id="260" r:id="rId8"/>
    <p:sldId id="261" r:id="rId9"/>
    <p:sldId id="269" r:id="rId10"/>
    <p:sldId id="272" r:id="rId11"/>
    <p:sldId id="270" r:id="rId12"/>
    <p:sldId id="273" r:id="rId13"/>
    <p:sldId id="271" r:id="rId14"/>
    <p:sldId id="274" r:id="rId15"/>
    <p:sldId id="262" r:id="rId16"/>
    <p:sldId id="275" r:id="rId17"/>
    <p:sldId id="276" r:id="rId18"/>
    <p:sldId id="277" r:id="rId19"/>
    <p:sldId id="278" r:id="rId20"/>
    <p:sldId id="263" r:id="rId21"/>
    <p:sldId id="279" r:id="rId22"/>
    <p:sldId id="265" r:id="rId23"/>
    <p:sldId id="266" r:id="rId24"/>
    <p:sldId id="264" r:id="rId2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notesSlide" Target="../notesSlides/notesSlide1.xml"/><Relationship Id="rId4" Type="http://schemas.openxmlformats.org/officeDocument/2006/relationships/slideLayout" Target="../slideLayouts/slideLayout1.xml"/><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4" Type="http://schemas.openxmlformats.org/officeDocument/2006/relationships/notesSlide" Target="../notesSlides/notesSlide2.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3.xml.rels><?xml version="1.0" encoding="UTF-8" standalone="yes"?>
<Relationships xmlns="http://schemas.openxmlformats.org/package/2006/relationships"><Relationship Id="rId5" Type="http://schemas.openxmlformats.org/officeDocument/2006/relationships/notesSlide" Target="../notesSlides/notesSlide3.xml"/><Relationship Id="rId4" Type="http://schemas.openxmlformats.org/officeDocument/2006/relationships/slideLayout" Target="../slideLayouts/slideLayout1.xml"/><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image" Target="../media/image4.png"/></Relationships>
</file>

<file path=ppt\slides\_rels\slide4.xml.rels><?xml version="1.0" encoding="UTF-8" standalone="yes"?>
<Relationships xmlns="http://schemas.openxmlformats.org/package/2006/relationships"><Relationship Id="rId5" Type="http://schemas.openxmlformats.org/officeDocument/2006/relationships/notesSlide" Target="../notesSlides/notesSlide4.xml"/><Relationship Id="rId4" Type="http://schemas.openxmlformats.org/officeDocument/2006/relationships/slideLayout" Target="../slideLayouts/slideLayout1.xml"/><Relationship Id="rId3" Type="http://schemas.openxmlformats.org/officeDocument/2006/relationships/image" Target="../media/image6.png"/><Relationship Id="rId2" Type="http://schemas.openxmlformats.org/officeDocument/2006/relationships/image" Target="../media/image2.png"/><Relationship Id="rId1" Type="http://schemas.openxmlformats.org/officeDocument/2006/relationships/image" Target="../media/image4.png"/></Relationships>
</file>

<file path=ppt\slides\_rels\slide5.xml.rels><?xml version="1.0" encoding="UTF-8" standalone="yes"?>
<Relationships xmlns="http://schemas.openxmlformats.org/package/2006/relationships"><Relationship Id="rId4" Type="http://schemas.openxmlformats.org/officeDocument/2006/relationships/notesSlide" Target="../notesSlides/notesSlide5.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6.xml.rels><?xml version="1.0" encoding="UTF-8" standalone="yes"?>
<Relationships xmlns="http://schemas.openxmlformats.org/package/2006/relationships"><Relationship Id="rId4" Type="http://schemas.openxmlformats.org/officeDocument/2006/relationships/notesSlide" Target="../notesSlides/notesSlide6.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7.xml.rels><?xml version="1.0" encoding="UTF-8" standalone="yes"?>
<Relationships xmlns="http://schemas.openxmlformats.org/package/2006/relationships"><Relationship Id="rId4" Type="http://schemas.openxmlformats.org/officeDocument/2006/relationships/notesSlide" Target="../notesSlides/notesSlide7.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9.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image" Target="../media/image4.png"/><Relationship Id="rId2" Type="http://schemas.openxmlformats.org/officeDocument/2006/relationships/image" Target="../media/image7.png"/><Relationship Id="rId1" Type="http://schemas.openxmlformats.org/officeDocument/2006/relationships/image" Target="../media/image2.png"/></Relationships>
</file>

<file path=ppt\slides\_rels\slide10.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image" Target="../media/image8.png"/><Relationship Id="rId2" Type="http://schemas.openxmlformats.org/officeDocument/2006/relationships/image" Target="../media/image4.png"/><Relationship Id="rId1" Type="http://schemas.openxmlformats.org/officeDocument/2006/relationships/image" Target="../media/image2.png"/></Relationships>
</file>

<file path=ppt\slides\_rels\slide11.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image" Target="../media/image9.png"/><Relationship Id="rId2" Type="http://schemas.openxmlformats.org/officeDocument/2006/relationships/image" Target="../media/image2.png"/><Relationship Id="rId1" Type="http://schemas.openxmlformats.org/officeDocument/2006/relationships/image" Target="../media/image4.png"/></Relationships>
</file>

<file path=ppt\slides\_rels\slide12.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image" Target="../media/image10.png"/><Relationship Id="rId2" Type="http://schemas.openxmlformats.org/officeDocument/2006/relationships/image" Target="../media/image4.png"/><Relationship Id="rId1" Type="http://schemas.openxmlformats.org/officeDocument/2006/relationships/image" Target="../media/image2.png"/></Relationships>
</file>

<file path=ppt\slides\_rels\slide13.xml.rels><?xml version="1.0" encoding="UTF-8" standalone="yes"?>
<Relationships xmlns="http://schemas.openxmlformats.org/package/2006/relationships"><Relationship Id="rId5" Type="http://schemas.openxmlformats.org/officeDocument/2006/relationships/notesSlide" Target="../notesSlides/notesSlide8.xml"/><Relationship Id="rId4" Type="http://schemas.openxmlformats.org/officeDocument/2006/relationships/slideLayout" Target="../slideLayouts/slideLayout1.xml"/><Relationship Id="rId3" Type="http://schemas.openxmlformats.org/officeDocument/2006/relationships/image" Target="../media/image11.png"/><Relationship Id="rId2" Type="http://schemas.openxmlformats.org/officeDocument/2006/relationships/image" Target="../media/image2.png"/><Relationship Id="rId1" Type="http://schemas.openxmlformats.org/officeDocument/2006/relationships/image" Target="../media/image4.png"/></Relationships>
</file>

<file path=ppt\slides\_rels\slide14.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image" Target="../media/image4.png"/><Relationship Id="rId2" Type="http://schemas.openxmlformats.org/officeDocument/2006/relationships/image" Target="../media/image12.png"/><Relationship Id="rId1" Type="http://schemas.openxmlformats.org/officeDocument/2006/relationships/image" Target="../media/image2.png"/></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4.png"/><Relationship Id="rId1" Type="http://schemas.openxmlformats.org/officeDocument/2006/relationships/image" Target="../media/image2.png"/></Relationships>
</file>

<file path=ppt\slides\_rels\slide18.xml.rels><?xml version="1.0" encoding="UTF-8" standalone="yes"?>
<Relationships xmlns="http://schemas.openxmlformats.org/package/2006/relationships"><Relationship Id="rId4" Type="http://schemas.openxmlformats.org/officeDocument/2006/relationships/notesSlide" Target="../notesSlides/notesSlide9.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22.xml.rels><?xml version="1.0" encoding="UTF-8" standalone="yes"?>
<Relationships xmlns="http://schemas.openxmlformats.org/package/2006/relationships"><Relationship Id="rId4" Type="http://schemas.openxmlformats.org/officeDocument/2006/relationships/notesSlide" Target="../notesSlides/notesSlide10.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1"/>
          <a:stretch>
            <a:fillRect/>
          </a:stretch>
        </p:blipFill>
        <p:spPr>
          <a:xfrm>
            <a:off x="-457200" y="-502920"/>
            <a:ext cx="3014472" cy="7863840"/>
          </a:xfrm>
          <a:prstGeom prst="rect">
            <a:avLst/>
          </a:prstGeom>
        </p:spPr>
      </p:pic>
      <p:pic>
        <p:nvPicPr>
          <p:cNvPr id="3" name="Image 1" descr="preencoded.png"/>
          <p:cNvPicPr>
            <a:picLocks noChangeAspect="1"/>
          </p:cNvPicPr>
          <p:nvPr/>
        </p:nvPicPr>
        <p:blipFill>
          <a:blip r:embed="rId2"/>
          <a:stretch>
            <a:fillRect/>
          </a:stretch>
        </p:blipFill>
        <p:spPr>
          <a:xfrm>
            <a:off x="3200400" y="502920"/>
            <a:ext cx="990234" cy="566928"/>
          </a:xfrm>
          <a:prstGeom prst="rect">
            <a:avLst/>
          </a:prstGeom>
        </p:spPr>
      </p:pic>
      <p:sp>
        <p:nvSpPr>
          <p:cNvPr id="4" name="Text 0"/>
          <p:cNvSpPr/>
          <p:nvPr/>
        </p:nvSpPr>
        <p:spPr>
          <a:xfrm>
            <a:off x="8531352" y="566928"/>
            <a:ext cx="3017520" cy="457200"/>
          </a:xfrm>
          <a:prstGeom prst="rect">
            <a:avLst/>
          </a:prstGeom>
          <a:noFill/>
        </p:spPr>
        <p:txBody>
          <a:bodyPr wrap="square" lIns="0" tIns="0" rIns="0" bIns="0" rtlCol="0" anchor="ctr"/>
          <a:lstStyle/>
          <a:p>
            <a:pPr marL="0" indent="0" algn="r">
              <a:buNone/>
            </a:pPr>
            <a:endParaRPr lang="en-US" sz="1000" dirty="0"/>
          </a:p>
        </p:txBody>
      </p:sp>
      <p:sp>
        <p:nvSpPr>
          <p:cNvPr id="5" name="Text 1"/>
          <p:cNvSpPr/>
          <p:nvPr/>
        </p:nvSpPr>
        <p:spPr>
          <a:xfrm>
            <a:off x="3200400" y="1508760"/>
            <a:ext cx="8412480" cy="274320"/>
          </a:xfrm>
          <a:prstGeom prst="rect">
            <a:avLst/>
          </a:prstGeom>
          <a:noFill/>
        </p:spPr>
        <p:txBody>
          <a:bodyPr wrap="square" lIns="0" tIns="0" rIns="0" bIns="0" rtlCol="0" anchor="ctr"/>
          <a:lstStyle/>
          <a:p>
            <a:pPr marL="0" indent="0">
              <a:buNone/>
            </a:pPr>
            <a:r>
              <a:rPr lang="en-US" sz="1200" b="1" dirty="0">
                <a:solidFill>
                  <a:srgbClr val="1F4E9C"/>
                </a:solidFill>
                <a:latin typeface="Calibri" panose="020F0502020204030204" pitchFamily="34" charset="0"/>
                <a:ea typeface="Calibri" panose="020F0502020204030204" pitchFamily="34" charset="-122"/>
                <a:cs typeface="Calibri" panose="020F0502020204030204" pitchFamily="34" charset="-120"/>
              </a:rPr>
              <a:t>École Nationale des Sciences Appliquées de Kénitra</a:t>
            </a:r>
            <a:endParaRPr lang="en-US" sz="1200" dirty="0"/>
          </a:p>
        </p:txBody>
      </p:sp>
      <p:sp>
        <p:nvSpPr>
          <p:cNvPr id="6" name="Text 2"/>
          <p:cNvSpPr/>
          <p:nvPr/>
        </p:nvSpPr>
        <p:spPr>
          <a:xfrm>
            <a:off x="3200400" y="1801368"/>
            <a:ext cx="8229600" cy="274320"/>
          </a:xfrm>
          <a:prstGeom prst="rect">
            <a:avLst/>
          </a:prstGeom>
          <a:noFill/>
        </p:spPr>
        <p:txBody>
          <a:bodyPr wrap="square" lIns="0" tIns="0" rIns="0" bIns="0" rtlCol="0" anchor="ctr"/>
          <a:lstStyle/>
          <a:p>
            <a:pPr marL="0" indent="0">
              <a:buNone/>
            </a:pPr>
            <a:r>
              <a:rPr lang="en-US" sz="1100" dirty="0">
                <a:solidFill>
                  <a:srgbClr val="7A8294"/>
                </a:solidFill>
                <a:latin typeface="Calibri" panose="020F0502020204030204" pitchFamily="34" charset="0"/>
                <a:ea typeface="Calibri" panose="020F0502020204030204" pitchFamily="34" charset="-122"/>
                <a:cs typeface="Calibri" panose="020F0502020204030204" pitchFamily="34" charset="-120"/>
              </a:rPr>
              <a:t>Université Ibn Tofail</a:t>
            </a:r>
            <a:endParaRPr lang="en-US" sz="1100" dirty="0"/>
          </a:p>
        </p:txBody>
      </p:sp>
      <p:sp>
        <p:nvSpPr>
          <p:cNvPr id="7" name="Text 3"/>
          <p:cNvSpPr/>
          <p:nvPr/>
        </p:nvSpPr>
        <p:spPr>
          <a:xfrm>
            <a:off x="3200400" y="2212848"/>
            <a:ext cx="8229600" cy="3200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Mémoire de Projet de Fin d'Études</a:t>
            </a:r>
            <a:endParaRPr lang="en-US" sz="1300" dirty="0"/>
          </a:p>
        </p:txBody>
      </p:sp>
      <p:sp>
        <p:nvSpPr>
          <p:cNvPr id="8" name="Text 4"/>
          <p:cNvSpPr/>
          <p:nvPr/>
        </p:nvSpPr>
        <p:spPr>
          <a:xfrm>
            <a:off x="3200400" y="2889250"/>
            <a:ext cx="8412480" cy="1188720"/>
          </a:xfrm>
          <a:prstGeom prst="rect">
            <a:avLst/>
          </a:prstGeom>
          <a:noFill/>
        </p:spPr>
        <p:txBody>
          <a:bodyPr wrap="square" lIns="0" tIns="0" rIns="0" bIns="0" rtlCol="0" anchor="t"/>
          <a:lstStyle/>
          <a:p>
            <a:pPr marL="0" indent="0">
              <a:buNone/>
            </a:pPr>
            <a:r>
              <a:rPr lang="en-US" sz="24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Conception d'un Framework ETL Générique pour l'Import de Données Axelor, Assisté par Agents IA Génératifs</a:t>
            </a:r>
            <a:endParaRPr lang="en-US" sz="2400" dirty="0"/>
          </a:p>
        </p:txBody>
      </p:sp>
      <p:sp>
        <p:nvSpPr>
          <p:cNvPr id="9" name="Text 5"/>
          <p:cNvSpPr/>
          <p:nvPr/>
        </p:nvSpPr>
        <p:spPr>
          <a:xfrm>
            <a:off x="3200400" y="3977640"/>
            <a:ext cx="8229600" cy="320040"/>
          </a:xfrm>
          <a:prstGeom prst="rect">
            <a:avLst/>
          </a:prstGeom>
          <a:noFill/>
        </p:spPr>
        <p:txBody>
          <a:bodyPr wrap="square" lIns="0" tIns="0" rIns="0" bIns="0" rtlCol="0" anchor="ctr"/>
          <a:lstStyle/>
          <a:p>
            <a:pPr marL="0" indent="0">
              <a:buNone/>
            </a:pPr>
            <a:r>
              <a:rPr lang="en-US" sz="1300" b="1" dirty="0">
                <a:solidFill>
                  <a:srgbClr val="2A3142"/>
                </a:solidFill>
                <a:latin typeface="Calibri" panose="020F0502020204030204" pitchFamily="34" charset="0"/>
                <a:ea typeface="Calibri" panose="020F0502020204030204" pitchFamily="34" charset="-122"/>
                <a:cs typeface="Calibri" panose="020F0502020204030204" pitchFamily="34" charset="-120"/>
              </a:rPr>
              <a:t>Filière Génie Informatique</a:t>
            </a:r>
            <a:endParaRPr lang="en-US" sz="1300" dirty="0"/>
          </a:p>
        </p:txBody>
      </p:sp>
      <p:sp>
        <p:nvSpPr>
          <p:cNvPr id="10" name="Text 6"/>
          <p:cNvSpPr/>
          <p:nvPr/>
        </p:nvSpPr>
        <p:spPr>
          <a:xfrm>
            <a:off x="3200400" y="4526280"/>
            <a:ext cx="8229600" cy="292608"/>
          </a:xfrm>
          <a:prstGeom prst="rect">
            <a:avLst/>
          </a:prstGeom>
          <a:noFill/>
        </p:spPr>
        <p:txBody>
          <a:bodyPr wrap="square" lIns="0" tIns="0" rIns="0" bIns="0" rtlCol="0" anchor="ctr"/>
          <a:lstStyle/>
          <a:p>
            <a:pPr marL="0" indent="0">
              <a:buNone/>
            </a:pPr>
            <a:r>
              <a:rPr 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Réalisé par   </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Taha GHAILAN</a:t>
            </a:r>
            <a:endParaRPr lang="en-US" sz="1200" dirty="0"/>
          </a:p>
        </p:txBody>
      </p:sp>
      <p:sp>
        <p:nvSpPr>
          <p:cNvPr id="11" name="Text 7"/>
          <p:cNvSpPr/>
          <p:nvPr/>
        </p:nvSpPr>
        <p:spPr>
          <a:xfrm>
            <a:off x="3200400" y="4892040"/>
            <a:ext cx="8229600" cy="274320"/>
          </a:xfrm>
          <a:prstGeom prst="rect">
            <a:avLst/>
          </a:prstGeom>
          <a:noFill/>
        </p:spPr>
        <p:txBody>
          <a:bodyPr wrap="square" lIns="0" tIns="0" rIns="0" bIns="0" rtlCol="0" anchor="ctr"/>
          <a:lstStyle/>
          <a:p>
            <a:pPr marL="0" indent="0">
              <a:buNone/>
            </a:pPr>
            <a:r>
              <a:rPr 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Encadré par</a:t>
            </a:r>
            <a:endParaRPr lang="en-US" sz="1200" dirty="0"/>
          </a:p>
        </p:txBody>
      </p:sp>
      <p:sp>
        <p:nvSpPr>
          <p:cNvPr id="12" name="Text 8"/>
          <p:cNvSpPr/>
          <p:nvPr/>
        </p:nvSpPr>
        <p:spPr>
          <a:xfrm>
            <a:off x="3474720" y="5166360"/>
            <a:ext cx="8229600" cy="274320"/>
          </a:xfrm>
          <a:prstGeom prst="rect">
            <a:avLst/>
          </a:prstGeom>
          <a:noFill/>
        </p:spPr>
        <p:txBody>
          <a:bodyPr wrap="square" lIns="0" tIns="0" rIns="0" bIns="0" rtlCol="0" anchor="ctr"/>
          <a:lstStyle/>
          <a:p>
            <a:pPr marL="0" indent="0">
              <a:buNone/>
            </a:pP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Pr. El Bouzekri El Idrissi Youn</a:t>
            </a:r>
            <a:r>
              <a:rPr lang="en-US"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è</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s, encadrant (ENSAK)</a:t>
            </a:r>
            <a:endParaRPr lang="en-US" sz="1200" dirty="0"/>
          </a:p>
        </p:txBody>
      </p:sp>
      <p:sp>
        <p:nvSpPr>
          <p:cNvPr id="13" name="Text 9"/>
          <p:cNvSpPr/>
          <p:nvPr/>
        </p:nvSpPr>
        <p:spPr>
          <a:xfrm>
            <a:off x="3474720" y="5440680"/>
            <a:ext cx="8229600" cy="274320"/>
          </a:xfrm>
          <a:prstGeom prst="rect">
            <a:avLst/>
          </a:prstGeom>
          <a:noFill/>
        </p:spPr>
        <p:txBody>
          <a:bodyPr wrap="square" lIns="0" tIns="0" rIns="0" bIns="0" rtlCol="0" anchor="ctr"/>
          <a:lstStyle/>
          <a:p>
            <a:pPr marL="0" indent="0">
              <a:buNone/>
            </a:pP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M. Abderrahim Aabane, encadrant (Axelor)</a:t>
            </a:r>
            <a:endParaRPr lang="en-US" sz="1200" dirty="0"/>
          </a:p>
        </p:txBody>
      </p:sp>
      <p:sp>
        <p:nvSpPr>
          <p:cNvPr id="14" name="Text 10"/>
          <p:cNvSpPr/>
          <p:nvPr/>
        </p:nvSpPr>
        <p:spPr>
          <a:xfrm>
            <a:off x="3200400" y="5852160"/>
            <a:ext cx="8229600" cy="274320"/>
          </a:xfrm>
          <a:prstGeom prst="rect">
            <a:avLst/>
          </a:prstGeom>
          <a:noFill/>
        </p:spPr>
        <p:txBody>
          <a:bodyPr wrap="square" lIns="0" tIns="0" rIns="0" bIns="0" rtlCol="0" anchor="ctr"/>
          <a:lstStyle/>
          <a:p>
            <a:pPr marL="0" indent="0">
              <a:buNone/>
            </a:pPr>
            <a:r>
              <a:rPr 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Soutenu le </a:t>
            </a:r>
            <a:r>
              <a:rPr lang="fr-FR" alt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07</a:t>
            </a:r>
            <a:r>
              <a:rPr 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/07/2026 devant le jury</a:t>
            </a:r>
            <a:endParaRPr lang="en-US" sz="1200" dirty="0"/>
          </a:p>
        </p:txBody>
      </p:sp>
      <p:sp>
        <p:nvSpPr>
          <p:cNvPr id="15" name="Text 11"/>
          <p:cNvSpPr/>
          <p:nvPr/>
        </p:nvSpPr>
        <p:spPr>
          <a:xfrm>
            <a:off x="3474720" y="6126480"/>
            <a:ext cx="8595360" cy="274320"/>
          </a:xfrm>
          <a:prstGeom prst="rect">
            <a:avLst/>
          </a:prstGeom>
          <a:noFill/>
        </p:spPr>
        <p:txBody>
          <a:bodyPr wrap="square" lIns="0" tIns="0" rIns="0" bIns="0" rtlCol="0" anchor="ctr"/>
          <a:lstStyle/>
          <a:p>
            <a:pPr marL="0" indent="0">
              <a:buNone/>
            </a:pP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Pr. </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Youn</a:t>
            </a:r>
            <a:r>
              <a:rPr lang="en-US"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è</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s</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E</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L</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B</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OUZEKRI</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E</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L</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I</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DRISSI</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Pr. </a:t>
            </a:r>
            <a:r>
              <a:rPr lang="en-US"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Aniss</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MOUMEN</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Pr. </a:t>
            </a:r>
            <a:r>
              <a:rPr lang="en-US"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Ayoub</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AIT LAHCEN</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a:t>
            </a:r>
            <a:endParaRPr lang="en-US" sz="1100" dirty="0"/>
          </a:p>
        </p:txBody>
      </p:sp>
      <p:sp>
        <p:nvSpPr>
          <p:cNvPr id="16" name="Text 12"/>
          <p:cNvSpPr/>
          <p:nvPr/>
        </p:nvSpPr>
        <p:spPr>
          <a:xfrm>
            <a:off x="3200400" y="6446520"/>
            <a:ext cx="8229600" cy="274320"/>
          </a:xfrm>
          <a:prstGeom prst="rect">
            <a:avLst/>
          </a:prstGeom>
          <a:noFill/>
        </p:spPr>
        <p:txBody>
          <a:bodyPr wrap="square" lIns="0" tIns="0" rIns="0" bIns="0" rtlCol="0" anchor="ctr"/>
          <a:lstStyle/>
          <a:p>
            <a:pPr marL="0" indent="0">
              <a:buNone/>
            </a:pPr>
            <a:r>
              <a:rPr lang="en-US" sz="1000" dirty="0">
                <a:solidFill>
                  <a:srgbClr val="7A8294"/>
                </a:solidFill>
                <a:latin typeface="Calibri" panose="020F0502020204030204" pitchFamily="34" charset="0"/>
                <a:ea typeface="Calibri" panose="020F0502020204030204" pitchFamily="34" charset="-122"/>
                <a:cs typeface="Calibri" panose="020F0502020204030204" pitchFamily="34" charset="-120"/>
              </a:rPr>
              <a:t>Année universitaire 2025/2026</a:t>
            </a:r>
            <a:endParaRPr lang="en-US" sz="1000" dirty="0"/>
          </a:p>
        </p:txBody>
      </p:sp>
      <p:pic>
        <p:nvPicPr>
          <p:cNvPr id="17" name="Picture 16" descr="logo_axelor"/>
          <p:cNvPicPr>
            <a:picLocks noChangeAspect="1"/>
          </p:cNvPicPr>
          <p:nvPr/>
        </p:nvPicPr>
        <p:blipFill>
          <a:blip r:embed="rId3"/>
          <a:stretch>
            <a:fillRect/>
          </a:stretch>
        </p:blipFill>
        <p:spPr>
          <a:xfrm>
            <a:off x="10172700" y="596265"/>
            <a:ext cx="995045" cy="33655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SOMMAIRE</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Plan de la présentation</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658368" y="1874520"/>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01</a:t>
            </a:r>
            <a:endParaRPr lang="en-US" sz="2400" dirty="0"/>
          </a:p>
        </p:txBody>
      </p:sp>
      <p:sp>
        <p:nvSpPr>
          <p:cNvPr id="6" name="Text 3"/>
          <p:cNvSpPr/>
          <p:nvPr/>
        </p:nvSpPr>
        <p:spPr>
          <a:xfrm>
            <a:off x="1600200" y="1874520"/>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Contexte</a:t>
            </a:r>
            <a:endParaRPr lang="en-US" sz="1900" dirty="0"/>
          </a:p>
        </p:txBody>
      </p:sp>
      <p:sp>
        <p:nvSpPr>
          <p:cNvPr id="7" name="Text 4"/>
          <p:cNvSpPr/>
          <p:nvPr/>
        </p:nvSpPr>
        <p:spPr>
          <a:xfrm>
            <a:off x="5029200" y="1874520"/>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Organisme d'accueil et cadre du projet</a:t>
            </a:r>
            <a:endParaRPr lang="en-US" sz="1300" dirty="0"/>
          </a:p>
        </p:txBody>
      </p:sp>
      <p:sp>
        <p:nvSpPr>
          <p:cNvPr id="8" name="Text 5"/>
          <p:cNvSpPr/>
          <p:nvPr/>
        </p:nvSpPr>
        <p:spPr>
          <a:xfrm>
            <a:off x="658368" y="2624328"/>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02</a:t>
            </a:r>
            <a:endParaRPr lang="en-US" sz="2400" dirty="0"/>
          </a:p>
        </p:txBody>
      </p:sp>
      <p:sp>
        <p:nvSpPr>
          <p:cNvPr id="9" name="Text 6"/>
          <p:cNvSpPr/>
          <p:nvPr/>
        </p:nvSpPr>
        <p:spPr>
          <a:xfrm>
            <a:off x="1600200" y="2624328"/>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Problématique</a:t>
            </a:r>
            <a:endParaRPr lang="en-US" sz="1900" dirty="0"/>
          </a:p>
        </p:txBody>
      </p:sp>
      <p:sp>
        <p:nvSpPr>
          <p:cNvPr id="10" name="Text 7"/>
          <p:cNvSpPr/>
          <p:nvPr/>
        </p:nvSpPr>
        <p:spPr>
          <a:xfrm>
            <a:off x="5029200" y="2624328"/>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Limites de l'existant et besoin</a:t>
            </a:r>
            <a:endParaRPr lang="en-US" sz="1300" dirty="0"/>
          </a:p>
        </p:txBody>
      </p:sp>
      <p:sp>
        <p:nvSpPr>
          <p:cNvPr id="11" name="Text 8"/>
          <p:cNvSpPr/>
          <p:nvPr/>
        </p:nvSpPr>
        <p:spPr>
          <a:xfrm>
            <a:off x="658368" y="3374136"/>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03</a:t>
            </a:r>
            <a:endParaRPr lang="en-US" sz="2400" dirty="0"/>
          </a:p>
        </p:txBody>
      </p:sp>
      <p:sp>
        <p:nvSpPr>
          <p:cNvPr id="12" name="Text 9"/>
          <p:cNvSpPr/>
          <p:nvPr/>
        </p:nvSpPr>
        <p:spPr>
          <a:xfrm>
            <a:off x="1600200" y="3374136"/>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Méthodologie</a:t>
            </a:r>
            <a:endParaRPr lang="en-US" sz="1900" dirty="0"/>
          </a:p>
        </p:txBody>
      </p:sp>
      <p:sp>
        <p:nvSpPr>
          <p:cNvPr id="13" name="Text 10"/>
          <p:cNvSpPr/>
          <p:nvPr/>
        </p:nvSpPr>
        <p:spPr>
          <a:xfrm>
            <a:off x="5029200" y="3374136"/>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Cadrage, besoins et démarche de travail</a:t>
            </a:r>
            <a:endParaRPr lang="en-US" sz="1300" dirty="0"/>
          </a:p>
        </p:txBody>
      </p:sp>
      <p:sp>
        <p:nvSpPr>
          <p:cNvPr id="14" name="Text 11"/>
          <p:cNvSpPr/>
          <p:nvPr/>
        </p:nvSpPr>
        <p:spPr>
          <a:xfrm>
            <a:off x="658368" y="4123944"/>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04</a:t>
            </a:r>
            <a:endParaRPr lang="en-US" sz="2400" dirty="0"/>
          </a:p>
        </p:txBody>
      </p:sp>
      <p:sp>
        <p:nvSpPr>
          <p:cNvPr id="15" name="Text 12"/>
          <p:cNvSpPr/>
          <p:nvPr/>
        </p:nvSpPr>
        <p:spPr>
          <a:xfrm>
            <a:off x="1600200" y="4123944"/>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Conception</a:t>
            </a:r>
            <a:endParaRPr lang="en-US" sz="1900" dirty="0"/>
          </a:p>
        </p:txBody>
      </p:sp>
      <p:sp>
        <p:nvSpPr>
          <p:cNvPr id="16" name="Text 13"/>
          <p:cNvSpPr/>
          <p:nvPr/>
        </p:nvSpPr>
        <p:spPr>
          <a:xfrm>
            <a:off x="5029200" y="4123944"/>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Cas d'utilisation et modélisation</a:t>
            </a:r>
            <a:endParaRPr lang="en-US" sz="1300" dirty="0"/>
          </a:p>
        </p:txBody>
      </p:sp>
      <p:sp>
        <p:nvSpPr>
          <p:cNvPr id="17" name="Text 14"/>
          <p:cNvSpPr/>
          <p:nvPr/>
        </p:nvSpPr>
        <p:spPr>
          <a:xfrm>
            <a:off x="658368" y="4873752"/>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05</a:t>
            </a:r>
            <a:endParaRPr lang="en-US" sz="2400" dirty="0"/>
          </a:p>
        </p:txBody>
      </p:sp>
      <p:sp>
        <p:nvSpPr>
          <p:cNvPr id="18" name="Text 15"/>
          <p:cNvSpPr/>
          <p:nvPr/>
        </p:nvSpPr>
        <p:spPr>
          <a:xfrm>
            <a:off x="1600200" y="4873752"/>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Réalisation</a:t>
            </a:r>
            <a:endParaRPr lang="en-US" sz="1900" dirty="0"/>
          </a:p>
        </p:txBody>
      </p:sp>
      <p:sp>
        <p:nvSpPr>
          <p:cNvPr id="19" name="Text 16"/>
          <p:cNvSpPr/>
          <p:nvPr/>
        </p:nvSpPr>
        <p:spPr>
          <a:xfrm>
            <a:off x="5029200" y="4873752"/>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Architecture, implémentation et résultats</a:t>
            </a:r>
            <a:endParaRPr lang="en-US" sz="1300" dirty="0"/>
          </a:p>
        </p:txBody>
      </p:sp>
      <p:sp>
        <p:nvSpPr>
          <p:cNvPr id="20" name="Text 17"/>
          <p:cNvSpPr/>
          <p:nvPr/>
        </p:nvSpPr>
        <p:spPr>
          <a:xfrm>
            <a:off x="658368" y="5623560"/>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06</a:t>
            </a:r>
            <a:endParaRPr lang="en-US" sz="2400" dirty="0"/>
          </a:p>
        </p:txBody>
      </p:sp>
      <p:sp>
        <p:nvSpPr>
          <p:cNvPr id="21" name="Text 18"/>
          <p:cNvSpPr/>
          <p:nvPr/>
        </p:nvSpPr>
        <p:spPr>
          <a:xfrm>
            <a:off x="1600200" y="5623560"/>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Conclusion</a:t>
            </a:r>
            <a:endParaRPr lang="en-US" sz="1900" dirty="0"/>
          </a:p>
        </p:txBody>
      </p:sp>
      <p:sp>
        <p:nvSpPr>
          <p:cNvPr id="22" name="Text 19"/>
          <p:cNvSpPr/>
          <p:nvPr/>
        </p:nvSpPr>
        <p:spPr>
          <a:xfrm>
            <a:off x="5029200" y="5623560"/>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Bilan, Limitations et Perspectives d'évolution</a:t>
            </a:r>
            <a:endParaRPr lang="en-US" sz="1300" dirty="0"/>
          </a:p>
        </p:txBody>
      </p:sp>
      <p:pic>
        <p:nvPicPr>
          <p:cNvPr id="23"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24" name="Text 20"/>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25" name="Text 21"/>
          <p:cNvSpPr/>
          <p:nvPr/>
        </p:nvSpPr>
        <p:spPr>
          <a:xfrm>
            <a:off x="10360152" y="6309360"/>
            <a:ext cx="1188720" cy="274320"/>
          </a:xfrm>
          <a:prstGeom prst="rect">
            <a:avLst/>
          </a:prstGeom>
          <a:noFill/>
        </p:spPr>
        <p:txBody>
          <a:bodyPr wrap="square" lIns="0" tIns="0" rIns="0" bIns="0" rtlCol="0" anchor="ctr"/>
          <a:lstStyle/>
          <a:p>
            <a:pPr marL="0" indent="0" algn="r">
              <a:buNone/>
            </a:pPr>
            <a:r>
              <a:rPr sz="1000" b="1">
                <a:solidFill>
                  <a:srgbClr val="1F4E9C"/>
                </a:solidFill>
                <a:latin typeface="Calibri" panose="020F0502020204030204"/>
              </a:rPr>
              <a:t>02</a:t>
            </a:r>
            <a:r>
              <a:rPr sz="1000" b="0">
                <a:solidFill>
                  <a:srgbClr val="7A8294"/>
                </a:solidFill>
                <a:latin typeface="Calibri" panose="020F0502020204030204"/>
              </a:rPr>
              <a:t> / </a:t>
            </a:r>
            <a:r>
              <a:rPr lang="fr-FR" sz="1000" b="0">
                <a:solidFill>
                  <a:srgbClr val="7A8294"/>
                </a:solidFill>
                <a:latin typeface="Calibri" panose="020F0502020204030204"/>
              </a:rPr>
              <a:t>22</a:t>
            </a:r>
            <a:endParaRPr lang="fr-FR" sz="1000" b="0" dirty="0">
              <a:solidFill>
                <a:srgbClr val="7A8294"/>
              </a:solidFill>
              <a:latin typeface="Calibri" panose="020F0502020204030204"/>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01  CONTEXTE</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Contexte du projet</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658368" y="1828800"/>
            <a:ext cx="5669280" cy="3840480"/>
          </a:xfrm>
          <a:prstGeom prst="rect">
            <a:avLst/>
          </a:prstGeom>
          <a:noFill/>
        </p:spPr>
        <p:txBody>
          <a:bodyPr wrap="square" lIns="0" tIns="0" rIns="0" bIns="0" rtlCol="0" anchor="t"/>
          <a:lstStyle/>
          <a:p>
            <a:pPr marL="0" indent="0">
              <a:spcAft>
                <a:spcPts val="500"/>
              </a:spcAft>
              <a:buNone/>
            </a:pPr>
            <a:r>
              <a:rPr lang="en-US" sz="1100" b="1" kern="0" spc="200" dirty="0">
                <a:solidFill>
                  <a:srgbClr val="1F4E9C"/>
                </a:solidFill>
              </a:rPr>
              <a:t>ORGANISME D'ACCUEIL</a:t>
            </a:r>
            <a:endParaRPr lang="en-US" sz="1100" dirty="0"/>
          </a:p>
          <a:p>
            <a:pPr marL="0" indent="0">
              <a:spcAft>
                <a:spcPts val="1800"/>
              </a:spcAft>
              <a:buNone/>
            </a:pPr>
            <a:r>
              <a:rPr lang="en-US" sz="1400" dirty="0">
                <a:solidFill>
                  <a:srgbClr val="2A3142"/>
                </a:solidFill>
              </a:rPr>
              <a:t>Axelor SAS</a:t>
            </a:r>
            <a:r>
              <a:rPr lang="fr-FR" altLang="en-US" sz="1400" dirty="0">
                <a:solidFill>
                  <a:srgbClr val="2A3142"/>
                </a:solidFill>
              </a:rPr>
              <a:t>: </a:t>
            </a:r>
            <a:r>
              <a:rPr lang="en-US" sz="1400" dirty="0">
                <a:solidFill>
                  <a:srgbClr val="2A3142"/>
                </a:solidFill>
              </a:rPr>
              <a:t> éditeur français de solutions ERP/CRM/BPM open source, fondé en 2005, présent dans 4 pays (France, Maroc, Inde, Canada)</a:t>
            </a:r>
            <a:endParaRPr lang="en-US" sz="1100" dirty="0"/>
          </a:p>
          <a:p>
            <a:pPr marL="0" indent="0">
              <a:spcAft>
                <a:spcPts val="500"/>
              </a:spcAft>
              <a:buNone/>
            </a:pPr>
            <a:r>
              <a:rPr lang="en-US" sz="1100" b="1" kern="0" spc="200" dirty="0">
                <a:solidFill>
                  <a:srgbClr val="1F4E9C"/>
                </a:solidFill>
              </a:rPr>
              <a:t>CADRE DU PROJET</a:t>
            </a:r>
            <a:endParaRPr lang="en-US" sz="1100" dirty="0"/>
          </a:p>
          <a:p>
            <a:pPr marL="0" indent="0">
              <a:spcAft>
                <a:spcPts val="1800"/>
              </a:spcAft>
              <a:buNone/>
            </a:pPr>
            <a:r>
              <a:rPr lang="en-US" altLang="en-US" sz="1100" dirty="0"/>
              <a:t> </a:t>
            </a:r>
            <a:r>
              <a:rPr lang="en-US" altLang="en-US" sz="1400" dirty="0"/>
              <a:t>Tout déploiement ERP implique une migration des données historiques du client, étape critique qui conditionne la mise en production.</a:t>
            </a:r>
            <a:endParaRPr lang="en-US" sz="1100" dirty="0"/>
          </a:p>
          <a:p>
            <a:pPr marL="0" indent="0">
              <a:spcAft>
                <a:spcPts val="500"/>
              </a:spcAft>
              <a:buNone/>
            </a:pPr>
            <a:r>
              <a:rPr lang="en-US" sz="1100" b="1" kern="0" spc="200" dirty="0">
                <a:solidFill>
                  <a:srgbClr val="1F4E9C"/>
                </a:solidFill>
              </a:rPr>
              <a:t>OBJECTIF</a:t>
            </a:r>
            <a:endParaRPr lang="en-US" sz="1100" dirty="0"/>
          </a:p>
          <a:p>
            <a:pPr marL="0" indent="0">
              <a:buNone/>
            </a:pPr>
            <a:r>
              <a:rPr lang="en-US" altLang="en-US" sz="1400" dirty="0"/>
              <a:t>Participer aux projets d'intégration clients et contribuer à l'effort R&amp;D d'Axelor Maroc.</a:t>
            </a:r>
            <a:endParaRPr lang="en-US" altLang="en-US" sz="1400" dirty="0"/>
          </a:p>
        </p:txBody>
      </p:sp>
      <p:sp>
        <p:nvSpPr>
          <p:cNvPr id="7" name="Text 4"/>
          <p:cNvSpPr/>
          <p:nvPr/>
        </p:nvSpPr>
        <p:spPr>
          <a:xfrm>
            <a:off x="7132320" y="1828800"/>
            <a:ext cx="4114800" cy="3749040"/>
          </a:xfrm>
          <a:prstGeom prst="rect">
            <a:avLst/>
          </a:prstGeom>
          <a:noFill/>
        </p:spPr>
        <p:txBody>
          <a:bodyPr wrap="square" rtlCol="0" anchor="ctr"/>
          <a:lstStyle/>
          <a:p>
            <a:pPr marL="0" indent="0" algn="ctr">
              <a:buNone/>
            </a:pPr>
            <a:endParaRPr lang="en-US" sz="1200" dirty="0"/>
          </a:p>
        </p:txBody>
      </p:sp>
      <p:pic>
        <p:nvPicPr>
          <p:cNvPr id="8"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9" name="Text 5"/>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10" name="Text 6"/>
          <p:cNvSpPr/>
          <p:nvPr/>
        </p:nvSpPr>
        <p:spPr>
          <a:xfrm>
            <a:off x="10360152" y="6309360"/>
            <a:ext cx="1188720" cy="274320"/>
          </a:xfrm>
          <a:prstGeom prst="rect">
            <a:avLst/>
          </a:prstGeom>
          <a:noFill/>
        </p:spPr>
        <p:txBody>
          <a:bodyPr wrap="square" lIns="0" tIns="0" rIns="0" bIns="0" rtlCol="0" anchor="ctr"/>
          <a:lstStyle/>
          <a:p>
            <a:pPr marL="0" indent="0" algn="r">
              <a:buNone/>
            </a:pPr>
            <a:r>
              <a:rPr sz="1000" b="1">
                <a:solidFill>
                  <a:srgbClr val="1F4E9C"/>
                </a:solidFill>
                <a:latin typeface="Calibri" panose="020F0502020204030204"/>
              </a:rPr>
              <a:t>03</a:t>
            </a:r>
            <a:r>
              <a:rPr sz="1000" b="0">
                <a:solidFill>
                  <a:srgbClr val="7A8294"/>
                </a:solidFill>
                <a:latin typeface="Calibri" panose="020F0502020204030204"/>
              </a:rPr>
              <a:t> / 22</a:t>
            </a:r>
            <a:endParaRPr lang="en-US" sz="1000" dirty="0"/>
          </a:p>
        </p:txBody>
      </p:sp>
      <p:pic>
        <p:nvPicPr>
          <p:cNvPr id="11" name="Picture 10" descr="Siege-Axelor"/>
          <p:cNvPicPr>
            <a:picLocks noChangeAspect="1"/>
          </p:cNvPicPr>
          <p:nvPr/>
        </p:nvPicPr>
        <p:blipFill>
          <a:blip r:embed="rId3"/>
          <a:stretch>
            <a:fillRect/>
          </a:stretch>
        </p:blipFill>
        <p:spPr>
          <a:xfrm>
            <a:off x="7132320" y="1554480"/>
            <a:ext cx="3183890" cy="318389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02  PROBLÉMATIQUE</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Le problème à résoudre</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548640" y="1326515"/>
            <a:ext cx="914400" cy="914400"/>
          </a:xfrm>
          <a:prstGeom prst="rect">
            <a:avLst/>
          </a:prstGeom>
          <a:noFill/>
        </p:spPr>
        <p:txBody>
          <a:bodyPr wrap="square" lIns="0" tIns="0" rIns="0" bIns="0" rtlCol="0" anchor="ctr"/>
          <a:lstStyle/>
          <a:p>
            <a:pPr marL="0" indent="0">
              <a:buNone/>
            </a:pPr>
            <a:r>
              <a:rPr lang="en-US" sz="6400" b="1" dirty="0">
                <a:solidFill>
                  <a:srgbClr val="1F4E9C"/>
                </a:solidFill>
                <a:latin typeface="Cambria" panose="02040503050406030204" pitchFamily="34" charset="0"/>
                <a:ea typeface="Cambria" panose="02040503050406030204" pitchFamily="34" charset="-122"/>
                <a:cs typeface="Cambria" panose="02040503050406030204" pitchFamily="34" charset="-120"/>
              </a:rPr>
              <a:t>«</a:t>
            </a:r>
            <a:endParaRPr lang="en-US" sz="6400" dirty="0"/>
          </a:p>
        </p:txBody>
      </p:sp>
      <p:sp>
        <p:nvSpPr>
          <p:cNvPr id="6" name="Text 3"/>
          <p:cNvSpPr/>
          <p:nvPr/>
        </p:nvSpPr>
        <p:spPr>
          <a:xfrm>
            <a:off x="1371600" y="1289050"/>
            <a:ext cx="9692640" cy="1554480"/>
          </a:xfrm>
          <a:prstGeom prst="rect">
            <a:avLst/>
          </a:prstGeom>
          <a:noFill/>
        </p:spPr>
        <p:txBody>
          <a:bodyPr wrap="square" lIns="0" tIns="0" rIns="0" bIns="0" rtlCol="0" anchor="ctr"/>
          <a:lstStyle/>
          <a:p>
            <a:pPr marL="0" indent="0">
              <a:buNone/>
            </a:pPr>
            <a:r>
              <a:rPr 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Comment concevoir un framework ETL générique qui </a:t>
            </a:r>
            <a:r>
              <a:rPr lang="fr-FR" alt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standarise la migration de donn</a:t>
            </a:r>
            <a:r>
              <a:rPr lang="en-US" altLang="en-US" sz="2400" dirty="0">
                <a:sym typeface="+mn-ea"/>
              </a:rPr>
              <a:t>é</a:t>
            </a:r>
            <a:r>
              <a:rPr lang="fr-FR" altLang="en-US" sz="2400" dirty="0">
                <a:sym typeface="+mn-ea"/>
              </a:rPr>
              <a:t>s vers Axelor</a:t>
            </a:r>
            <a:r>
              <a:rPr 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 </a:t>
            </a:r>
            <a:r>
              <a:rPr lang="fr-FR" alt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et automatise la configuration gr</a:t>
            </a:r>
            <a:r>
              <a:rPr lang="en-US" altLang="en-US" sz="2400" dirty="0">
                <a:sym typeface="+mn-ea"/>
              </a:rPr>
              <a:t>â</a:t>
            </a:r>
            <a:r>
              <a:rPr lang="fr-FR" altLang="en-US" sz="2400" dirty="0">
                <a:sym typeface="+mn-ea"/>
              </a:rPr>
              <a:t>ce</a:t>
            </a:r>
            <a:r>
              <a:rPr 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 </a:t>
            </a:r>
            <a:r>
              <a:rPr lang="en-US" altLang="en-US" sz="2400" dirty="0">
                <a:sym typeface="+mn-ea"/>
              </a:rPr>
              <a:t>à </a:t>
            </a:r>
            <a:r>
              <a:rPr 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des agents IA ?</a:t>
            </a:r>
            <a:endParaRPr lang="en-US" sz="2400" dirty="0"/>
          </a:p>
        </p:txBody>
      </p:sp>
      <p:sp>
        <p:nvSpPr>
          <p:cNvPr id="7" name="Text 4"/>
          <p:cNvSpPr/>
          <p:nvPr/>
        </p:nvSpPr>
        <p:spPr>
          <a:xfrm>
            <a:off x="658368" y="2845435"/>
            <a:ext cx="10058400" cy="274320"/>
          </a:xfrm>
          <a:prstGeom prst="rect">
            <a:avLst/>
          </a:prstGeom>
          <a:noFill/>
        </p:spPr>
        <p:txBody>
          <a:bodyPr wrap="square" lIns="0" tIns="0" rIns="0" bIns="0" rtlCol="0" anchor="ctr"/>
          <a:lstStyle/>
          <a:p>
            <a:pPr marL="0" indent="0">
              <a:buNone/>
            </a:pPr>
            <a:r>
              <a:rPr lang="en-US" sz="1100" b="1" kern="0" spc="200" dirty="0">
                <a:solidFill>
                  <a:srgbClr val="1F4E9C"/>
                </a:solidFill>
                <a:latin typeface="Calibri" panose="020F0502020204030204" pitchFamily="34" charset="0"/>
                <a:ea typeface="Calibri" panose="020F0502020204030204" pitchFamily="34" charset="-122"/>
                <a:cs typeface="Calibri" panose="020F0502020204030204" pitchFamily="34" charset="-120"/>
              </a:rPr>
              <a:t>LIMITES DE L'EXISTANT</a:t>
            </a:r>
            <a:endParaRPr lang="en-US" sz="1100" dirty="0"/>
          </a:p>
        </p:txBody>
      </p:sp>
      <p:sp>
        <p:nvSpPr>
          <p:cNvPr id="8" name="Text 5"/>
          <p:cNvSpPr/>
          <p:nvPr/>
        </p:nvSpPr>
        <p:spPr>
          <a:xfrm>
            <a:off x="658368" y="3042920"/>
            <a:ext cx="731520" cy="548640"/>
          </a:xfrm>
          <a:prstGeom prst="rect">
            <a:avLst/>
          </a:prstGeom>
          <a:noFill/>
        </p:spPr>
        <p:txBody>
          <a:bodyPr wrap="square" lIns="0" tIns="0" rIns="0" bIns="0" rtlCol="0" anchor="ctr"/>
          <a:lstStyle/>
          <a:p>
            <a:pPr marL="0" indent="0">
              <a:buNone/>
            </a:pPr>
            <a:r>
              <a:rPr lang="en-US" sz="2200" b="1" dirty="0">
                <a:solidFill>
                  <a:srgbClr val="D9DEE7"/>
                </a:solidFill>
                <a:latin typeface="Cambria" panose="02040503050406030204" pitchFamily="34" charset="0"/>
                <a:ea typeface="Cambria" panose="02040503050406030204" pitchFamily="34" charset="-122"/>
                <a:cs typeface="Cambria" panose="02040503050406030204" pitchFamily="34" charset="-120"/>
              </a:rPr>
              <a:t>01</a:t>
            </a:r>
            <a:endParaRPr lang="en-US" sz="2200" dirty="0"/>
          </a:p>
        </p:txBody>
      </p:sp>
      <p:sp>
        <p:nvSpPr>
          <p:cNvPr id="9" name="Text 6"/>
          <p:cNvSpPr/>
          <p:nvPr/>
        </p:nvSpPr>
        <p:spPr>
          <a:xfrm>
            <a:off x="704088" y="3490595"/>
            <a:ext cx="3291840" cy="365760"/>
          </a:xfrm>
          <a:prstGeom prst="rect">
            <a:avLst/>
          </a:prstGeom>
          <a:noFill/>
        </p:spPr>
        <p:txBody>
          <a:bodyPr wrap="square" lIns="0" tIns="0" rIns="0" bIns="0" rtlCol="0" anchor="ctr"/>
          <a:lstStyle/>
          <a:p>
            <a:pPr marL="0" indent="0">
              <a:buNone/>
            </a:pPr>
            <a:r>
              <a:rPr lang="en-US" sz="15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Coût élevé</a:t>
            </a:r>
            <a:endParaRPr lang="en-US" sz="1500" dirty="0"/>
          </a:p>
        </p:txBody>
      </p:sp>
      <p:sp>
        <p:nvSpPr>
          <p:cNvPr id="10" name="Text 7"/>
          <p:cNvSpPr/>
          <p:nvPr/>
        </p:nvSpPr>
        <p:spPr>
          <a:xfrm>
            <a:off x="704088" y="3872230"/>
            <a:ext cx="3291840" cy="822960"/>
          </a:xfrm>
          <a:prstGeom prst="rect">
            <a:avLst/>
          </a:prstGeom>
          <a:noFill/>
        </p:spPr>
        <p:txBody>
          <a:bodyPr wrap="square" lIns="0" tIns="0" rIns="0" bIns="0" rtlCol="0" anchor="t"/>
          <a:lstStyle/>
          <a:p>
            <a:pPr marL="0" indent="0">
              <a:buNone/>
            </a:pP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20+ scripts Java </a:t>
            </a:r>
            <a:r>
              <a:rPr lang="en-US"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développés sur mesure par projet, mobilisant des ressources d'ingénierie significatives</a:t>
            </a:r>
            <a:endParaRPr lang="en-US"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endParaRPr>
          </a:p>
        </p:txBody>
      </p:sp>
      <p:sp>
        <p:nvSpPr>
          <p:cNvPr id="11" name="Text 8"/>
          <p:cNvSpPr/>
          <p:nvPr/>
        </p:nvSpPr>
        <p:spPr>
          <a:xfrm>
            <a:off x="4315968" y="3042920"/>
            <a:ext cx="731520" cy="548640"/>
          </a:xfrm>
          <a:prstGeom prst="rect">
            <a:avLst/>
          </a:prstGeom>
          <a:noFill/>
        </p:spPr>
        <p:txBody>
          <a:bodyPr wrap="square" lIns="0" tIns="0" rIns="0" bIns="0" rtlCol="0" anchor="ctr"/>
          <a:lstStyle/>
          <a:p>
            <a:pPr marL="0" indent="0">
              <a:buNone/>
            </a:pPr>
            <a:r>
              <a:rPr lang="en-US" sz="2200" b="1" dirty="0">
                <a:solidFill>
                  <a:srgbClr val="D9DEE7"/>
                </a:solidFill>
                <a:latin typeface="Cambria" panose="02040503050406030204" pitchFamily="34" charset="0"/>
                <a:ea typeface="Cambria" panose="02040503050406030204" pitchFamily="34" charset="-122"/>
                <a:cs typeface="Cambria" panose="02040503050406030204" pitchFamily="34" charset="-120"/>
              </a:rPr>
              <a:t>02</a:t>
            </a:r>
            <a:endParaRPr lang="en-US" sz="2200" dirty="0"/>
          </a:p>
        </p:txBody>
      </p:sp>
      <p:sp>
        <p:nvSpPr>
          <p:cNvPr id="12" name="Text 9"/>
          <p:cNvSpPr/>
          <p:nvPr/>
        </p:nvSpPr>
        <p:spPr>
          <a:xfrm>
            <a:off x="4361688" y="3490595"/>
            <a:ext cx="3291840" cy="365760"/>
          </a:xfrm>
          <a:prstGeom prst="rect">
            <a:avLst/>
          </a:prstGeom>
          <a:noFill/>
        </p:spPr>
        <p:txBody>
          <a:bodyPr wrap="square" lIns="0" tIns="0" rIns="0" bIns="0" rtlCol="0" anchor="ctr"/>
          <a:lstStyle/>
          <a:p>
            <a:pPr marL="0" indent="0">
              <a:buNone/>
            </a:pPr>
            <a:r>
              <a:rPr lang="en-US" altLang="en-US" sz="1500" b="1" dirty="0">
                <a:solidFill>
                  <a:srgbClr val="12203F"/>
                </a:solidFill>
                <a:latin typeface="Cambria" panose="02040503050406030204" pitchFamily="34" charset="0"/>
                <a:ea typeface="Cambria" panose="02040503050406030204" pitchFamily="34" charset="-122"/>
                <a:cs typeface="Cambria" panose="02040503050406030204" pitchFamily="34" charset="-120"/>
              </a:rPr>
              <a:t> Non-réutilisabilité</a:t>
            </a:r>
            <a:r>
              <a:rPr lang="fr-FR" altLang="en-US" sz="1500" b="1" dirty="0">
                <a:solidFill>
                  <a:srgbClr val="12203F"/>
                </a:solidFill>
                <a:latin typeface="Cambria" panose="02040503050406030204" pitchFamily="34" charset="0"/>
                <a:ea typeface="Cambria" panose="02040503050406030204" pitchFamily="34" charset="-122"/>
                <a:cs typeface="Cambria" panose="02040503050406030204" pitchFamily="34" charset="-120"/>
              </a:rPr>
              <a:t> </a:t>
            </a:r>
            <a:endParaRPr lang="en-US" sz="1500" dirty="0"/>
          </a:p>
        </p:txBody>
      </p:sp>
      <p:sp>
        <p:nvSpPr>
          <p:cNvPr id="13" name="Text 10"/>
          <p:cNvSpPr/>
          <p:nvPr/>
        </p:nvSpPr>
        <p:spPr>
          <a:xfrm>
            <a:off x="4361688" y="3872230"/>
            <a:ext cx="3291840" cy="822960"/>
          </a:xfrm>
          <a:prstGeom prst="rect">
            <a:avLst/>
          </a:prstGeom>
          <a:noFill/>
        </p:spPr>
        <p:txBody>
          <a:bodyPr wrap="square" lIns="0" tIns="0" rIns="0" bIns="0" rtlCol="0" anchor="t"/>
          <a:lstStyle/>
          <a:p>
            <a:pPr marL="0" indent="0">
              <a:buNone/>
            </a:pPr>
            <a:r>
              <a:rPr lang="en-US" altLang="en-US" sz="1200" dirty="0"/>
              <a:t> Les scripts d'un projet ne sont pas réutilisables sur le suivant, même lorsque les structures de données sont similaires</a:t>
            </a:r>
            <a:endParaRPr lang="en-US" altLang="en-US" sz="1200" dirty="0"/>
          </a:p>
        </p:txBody>
      </p:sp>
      <p:sp>
        <p:nvSpPr>
          <p:cNvPr id="14" name="Text 11"/>
          <p:cNvSpPr/>
          <p:nvPr/>
        </p:nvSpPr>
        <p:spPr>
          <a:xfrm>
            <a:off x="7973568" y="3061335"/>
            <a:ext cx="731520" cy="548640"/>
          </a:xfrm>
          <a:prstGeom prst="rect">
            <a:avLst/>
          </a:prstGeom>
          <a:noFill/>
        </p:spPr>
        <p:txBody>
          <a:bodyPr wrap="square" lIns="0" tIns="0" rIns="0" bIns="0" rtlCol="0" anchor="ctr"/>
          <a:lstStyle/>
          <a:p>
            <a:pPr marL="0" indent="0">
              <a:buNone/>
            </a:pPr>
            <a:r>
              <a:rPr lang="en-US" sz="2200" b="1" dirty="0">
                <a:solidFill>
                  <a:srgbClr val="D9DEE7"/>
                </a:solidFill>
                <a:latin typeface="Cambria" panose="02040503050406030204" pitchFamily="34" charset="0"/>
                <a:ea typeface="Cambria" panose="02040503050406030204" pitchFamily="34" charset="-122"/>
                <a:cs typeface="Cambria" panose="02040503050406030204" pitchFamily="34" charset="-120"/>
              </a:rPr>
              <a:t>03</a:t>
            </a:r>
            <a:endParaRPr lang="en-US" sz="2200" dirty="0"/>
          </a:p>
        </p:txBody>
      </p:sp>
      <p:sp>
        <p:nvSpPr>
          <p:cNvPr id="15" name="Text 12"/>
          <p:cNvSpPr/>
          <p:nvPr/>
        </p:nvSpPr>
        <p:spPr>
          <a:xfrm>
            <a:off x="8019288" y="3490595"/>
            <a:ext cx="3291840" cy="365760"/>
          </a:xfrm>
          <a:prstGeom prst="rect">
            <a:avLst/>
          </a:prstGeom>
          <a:noFill/>
        </p:spPr>
        <p:txBody>
          <a:bodyPr wrap="square" lIns="0" tIns="0" rIns="0" bIns="0" rtlCol="0" anchor="ctr"/>
          <a:lstStyle/>
          <a:p>
            <a:pPr marL="0" indent="0">
              <a:buNone/>
            </a:pPr>
            <a:r>
              <a:rPr lang="en-US" sz="1500" b="1" dirty="0">
                <a:solidFill>
                  <a:srgbClr val="12203F"/>
                </a:solidFill>
                <a:latin typeface="Cambria" panose="02040503050406030204" pitchFamily="34" charset="0"/>
                <a:ea typeface="Cambria" panose="02040503050406030204" pitchFamily="34" charset="-122"/>
                <a:cs typeface="Cambria" panose="02040503050406030204" pitchFamily="34" charset="-120"/>
              </a:rPr>
              <a:t>Performance limitée</a:t>
            </a:r>
            <a:endParaRPr lang="en-US" sz="1500" dirty="0"/>
          </a:p>
        </p:txBody>
      </p:sp>
      <p:sp>
        <p:nvSpPr>
          <p:cNvPr id="16" name="Text 13"/>
          <p:cNvSpPr/>
          <p:nvPr/>
        </p:nvSpPr>
        <p:spPr>
          <a:xfrm>
            <a:off x="8019288" y="3872230"/>
            <a:ext cx="3291840" cy="822960"/>
          </a:xfrm>
          <a:prstGeom prst="rect">
            <a:avLst/>
          </a:prstGeom>
          <a:noFill/>
        </p:spPr>
        <p:txBody>
          <a:bodyPr wrap="square" lIns="0" tIns="0" rIns="0" bIns="0" rtlCol="0" anchor="t"/>
          <a:lstStyle/>
          <a:p>
            <a:pPr marL="0" indent="0">
              <a:buNone/>
            </a:pPr>
            <a:r>
              <a:rPr lang="en-US" altLang="en-US" sz="1200" dirty="0"/>
              <a:t>L'import natif Axelor, passant par la couche ORM, devient lent sur les grandes volumétries</a:t>
            </a:r>
            <a:endParaRPr lang="en-US" altLang="en-US" sz="1200" dirty="0"/>
          </a:p>
        </p:txBody>
      </p:sp>
      <p:pic>
        <p:nvPicPr>
          <p:cNvPr id="17"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18" name="Text 14"/>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19" name="Text 15"/>
          <p:cNvSpPr/>
          <p:nvPr/>
        </p:nvSpPr>
        <p:spPr>
          <a:xfrm>
            <a:off x="10360152" y="6309360"/>
            <a:ext cx="1188720" cy="274320"/>
          </a:xfrm>
          <a:prstGeom prst="rect">
            <a:avLst/>
          </a:prstGeom>
          <a:noFill/>
        </p:spPr>
        <p:txBody>
          <a:bodyPr wrap="square" lIns="0" tIns="0" rIns="0" bIns="0" rtlCol="0" anchor="ctr"/>
          <a:lstStyle/>
          <a:p>
            <a:pPr marL="0" indent="0" algn="r">
              <a:buNone/>
            </a:pPr>
            <a:r>
              <a:rPr sz="1000" b="1">
                <a:solidFill>
                  <a:srgbClr val="1F4E9C"/>
                </a:solidFill>
                <a:latin typeface="Calibri" panose="020F0502020204030204"/>
              </a:rPr>
              <a:t>04</a:t>
            </a:r>
            <a:r>
              <a:rPr sz="1000" b="0">
                <a:solidFill>
                  <a:srgbClr val="7A8294"/>
                </a:solidFill>
                <a:latin typeface="Calibri" panose="020F0502020204030204"/>
              </a:rPr>
              <a:t> / 22</a:t>
            </a:r>
            <a:endParaRPr lang="en-US" sz="1000" dirty="0"/>
          </a:p>
        </p:txBody>
      </p:sp>
      <p:pic>
        <p:nvPicPr>
          <p:cNvPr id="20" name="Picture 19"/>
          <p:cNvPicPr>
            <a:picLocks noChangeAspect="1"/>
          </p:cNvPicPr>
          <p:nvPr/>
        </p:nvPicPr>
        <p:blipFill>
          <a:blip r:embed="rId3"/>
          <a:stretch>
            <a:fillRect/>
          </a:stretch>
        </p:blipFill>
        <p:spPr>
          <a:xfrm>
            <a:off x="3385185" y="4522470"/>
            <a:ext cx="4968240" cy="16383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03  MÉTHODOLOGIE</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Approche méthodologique</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Shape 2"/>
          <p:cNvSpPr/>
          <p:nvPr/>
        </p:nvSpPr>
        <p:spPr>
          <a:xfrm>
            <a:off x="868680" y="3200400"/>
            <a:ext cx="10451592" cy="0"/>
          </a:xfrm>
          <a:prstGeom prst="line">
            <a:avLst/>
          </a:prstGeom>
          <a:noFill/>
          <a:ln w="15875">
            <a:solidFill>
              <a:srgbClr val="D9DEE7"/>
            </a:solidFill>
            <a:prstDash val="solid"/>
          </a:ln>
        </p:spPr>
      </p:sp>
      <p:sp>
        <p:nvSpPr>
          <p:cNvPr id="6" name="Shape 3"/>
          <p:cNvSpPr/>
          <p:nvPr/>
        </p:nvSpPr>
        <p:spPr>
          <a:xfrm>
            <a:off x="786384" y="3118104"/>
            <a:ext cx="164592" cy="164592"/>
          </a:xfrm>
          <a:prstGeom prst="ellipse">
            <a:avLst/>
          </a:prstGeom>
          <a:solidFill>
            <a:srgbClr val="1F4E9C"/>
          </a:solidFill>
        </p:spPr>
      </p:sp>
      <p:sp>
        <p:nvSpPr>
          <p:cNvPr id="7" name="Text 4"/>
          <p:cNvSpPr/>
          <p:nvPr/>
        </p:nvSpPr>
        <p:spPr>
          <a:xfrm>
            <a:off x="411480"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1</a:t>
            </a:r>
            <a:endParaRPr lang="en-US" sz="1800" dirty="0"/>
          </a:p>
        </p:txBody>
      </p:sp>
      <p:sp>
        <p:nvSpPr>
          <p:cNvPr id="8" name="Text 5"/>
          <p:cNvSpPr/>
          <p:nvPr/>
        </p:nvSpPr>
        <p:spPr>
          <a:xfrm>
            <a:off x="-45720"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Formation</a:t>
            </a:r>
            <a:endParaRPr lang="en-US" sz="1400" dirty="0"/>
          </a:p>
        </p:txBody>
      </p:sp>
      <p:sp>
        <p:nvSpPr>
          <p:cNvPr id="9" name="Text 6"/>
          <p:cNvSpPr/>
          <p:nvPr/>
        </p:nvSpPr>
        <p:spPr>
          <a:xfrm>
            <a:off x="-45720"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AOP &amp; Apache Hop (sem. 1-6)</a:t>
            </a:r>
            <a:endParaRPr lang="en-US" sz="1050" dirty="0"/>
          </a:p>
        </p:txBody>
      </p:sp>
      <p:sp>
        <p:nvSpPr>
          <p:cNvPr id="10" name="Shape 7"/>
          <p:cNvSpPr/>
          <p:nvPr/>
        </p:nvSpPr>
        <p:spPr>
          <a:xfrm>
            <a:off x="3399282" y="3118104"/>
            <a:ext cx="164592" cy="164592"/>
          </a:xfrm>
          <a:prstGeom prst="ellipse">
            <a:avLst/>
          </a:prstGeom>
          <a:solidFill>
            <a:srgbClr val="1F4E9C"/>
          </a:solidFill>
        </p:spPr>
      </p:sp>
      <p:sp>
        <p:nvSpPr>
          <p:cNvPr id="11" name="Text 8"/>
          <p:cNvSpPr/>
          <p:nvPr/>
        </p:nvSpPr>
        <p:spPr>
          <a:xfrm>
            <a:off x="3024378"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2</a:t>
            </a:r>
            <a:endParaRPr lang="en-US" sz="1800" dirty="0"/>
          </a:p>
        </p:txBody>
      </p:sp>
      <p:sp>
        <p:nvSpPr>
          <p:cNvPr id="12" name="Text 9"/>
          <p:cNvSpPr/>
          <p:nvPr/>
        </p:nvSpPr>
        <p:spPr>
          <a:xfrm>
            <a:off x="2567178"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Pipelines ETL</a:t>
            </a:r>
            <a:endParaRPr lang="en-US" sz="1400" dirty="0"/>
          </a:p>
        </p:txBody>
      </p:sp>
      <p:sp>
        <p:nvSpPr>
          <p:cNvPr id="13" name="Text 10"/>
          <p:cNvSpPr/>
          <p:nvPr/>
        </p:nvSpPr>
        <p:spPr>
          <a:xfrm>
            <a:off x="2567178"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4 entités (sem. 7-10)</a:t>
            </a:r>
            <a:endParaRPr lang="en-US" sz="1050" dirty="0"/>
          </a:p>
        </p:txBody>
      </p:sp>
      <p:sp>
        <p:nvSpPr>
          <p:cNvPr id="14" name="Shape 11"/>
          <p:cNvSpPr/>
          <p:nvPr/>
        </p:nvSpPr>
        <p:spPr>
          <a:xfrm>
            <a:off x="6012180" y="3118104"/>
            <a:ext cx="164592" cy="164592"/>
          </a:xfrm>
          <a:prstGeom prst="ellipse">
            <a:avLst/>
          </a:prstGeom>
          <a:solidFill>
            <a:srgbClr val="1F4E9C"/>
          </a:solidFill>
        </p:spPr>
      </p:sp>
      <p:sp>
        <p:nvSpPr>
          <p:cNvPr id="15" name="Text 12"/>
          <p:cNvSpPr/>
          <p:nvPr/>
        </p:nvSpPr>
        <p:spPr>
          <a:xfrm>
            <a:off x="5637276"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3</a:t>
            </a:r>
            <a:endParaRPr lang="en-US" sz="1800" dirty="0"/>
          </a:p>
        </p:txBody>
      </p:sp>
      <p:sp>
        <p:nvSpPr>
          <p:cNvPr id="16" name="Text 13"/>
          <p:cNvSpPr/>
          <p:nvPr/>
        </p:nvSpPr>
        <p:spPr>
          <a:xfrm>
            <a:off x="5180076"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Application</a:t>
            </a:r>
            <a:endParaRPr lang="en-US" sz="1400" dirty="0"/>
          </a:p>
        </p:txBody>
      </p:sp>
      <p:sp>
        <p:nvSpPr>
          <p:cNvPr id="17" name="Text 14"/>
          <p:cNvSpPr/>
          <p:nvPr/>
        </p:nvSpPr>
        <p:spPr>
          <a:xfrm>
            <a:off x="5180076"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Axelor Import Studio (sem. 11-14)</a:t>
            </a:r>
            <a:endParaRPr lang="en-US" sz="1050" dirty="0"/>
          </a:p>
        </p:txBody>
      </p:sp>
      <p:sp>
        <p:nvSpPr>
          <p:cNvPr id="18" name="Shape 15"/>
          <p:cNvSpPr/>
          <p:nvPr/>
        </p:nvSpPr>
        <p:spPr>
          <a:xfrm>
            <a:off x="8625078" y="3118104"/>
            <a:ext cx="164592" cy="164592"/>
          </a:xfrm>
          <a:prstGeom prst="ellipse">
            <a:avLst/>
          </a:prstGeom>
          <a:solidFill>
            <a:srgbClr val="1F4E9C"/>
          </a:solidFill>
        </p:spPr>
      </p:sp>
      <p:sp>
        <p:nvSpPr>
          <p:cNvPr id="19" name="Text 16"/>
          <p:cNvSpPr/>
          <p:nvPr/>
        </p:nvSpPr>
        <p:spPr>
          <a:xfrm>
            <a:off x="8250174"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4</a:t>
            </a:r>
            <a:endParaRPr lang="en-US" sz="1800" dirty="0"/>
          </a:p>
        </p:txBody>
      </p:sp>
      <p:sp>
        <p:nvSpPr>
          <p:cNvPr id="20" name="Text 17"/>
          <p:cNvSpPr/>
          <p:nvPr/>
        </p:nvSpPr>
        <p:spPr>
          <a:xfrm>
            <a:off x="7792974"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Skills IA</a:t>
            </a:r>
            <a:endParaRPr lang="en-US" sz="1400" dirty="0"/>
          </a:p>
        </p:txBody>
      </p:sp>
      <p:sp>
        <p:nvSpPr>
          <p:cNvPr id="21" name="Text 18"/>
          <p:cNvSpPr/>
          <p:nvPr/>
        </p:nvSpPr>
        <p:spPr>
          <a:xfrm>
            <a:off x="7792974"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Claude Code (sem. 15-18)</a:t>
            </a:r>
            <a:endParaRPr lang="en-US" sz="1050" dirty="0"/>
          </a:p>
        </p:txBody>
      </p:sp>
      <p:sp>
        <p:nvSpPr>
          <p:cNvPr id="22" name="Shape 19"/>
          <p:cNvSpPr/>
          <p:nvPr/>
        </p:nvSpPr>
        <p:spPr>
          <a:xfrm>
            <a:off x="11237976" y="3118104"/>
            <a:ext cx="164592" cy="164592"/>
          </a:xfrm>
          <a:prstGeom prst="ellipse">
            <a:avLst/>
          </a:prstGeom>
          <a:solidFill>
            <a:srgbClr val="1F4E9C"/>
          </a:solidFill>
        </p:spPr>
      </p:sp>
      <p:sp>
        <p:nvSpPr>
          <p:cNvPr id="23" name="Text 20"/>
          <p:cNvSpPr/>
          <p:nvPr/>
        </p:nvSpPr>
        <p:spPr>
          <a:xfrm>
            <a:off x="10863072"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5</a:t>
            </a:r>
            <a:endParaRPr lang="en-US" sz="1800" dirty="0"/>
          </a:p>
        </p:txBody>
      </p:sp>
      <p:sp>
        <p:nvSpPr>
          <p:cNvPr id="24" name="Text 21"/>
          <p:cNvSpPr/>
          <p:nvPr/>
        </p:nvSpPr>
        <p:spPr>
          <a:xfrm>
            <a:off x="10405872"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Tests &amp; Validation</a:t>
            </a:r>
            <a:endParaRPr lang="en-US" sz="1400" dirty="0"/>
          </a:p>
        </p:txBody>
      </p:sp>
      <p:sp>
        <p:nvSpPr>
          <p:cNvPr id="25" name="Text 22"/>
          <p:cNvSpPr/>
          <p:nvPr/>
        </p:nvSpPr>
        <p:spPr>
          <a:xfrm>
            <a:off x="10405872"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Golden dataset (sem. 19-20)</a:t>
            </a:r>
            <a:endParaRPr lang="en-US" sz="1050" dirty="0"/>
          </a:p>
        </p:txBody>
      </p:sp>
      <p:sp>
        <p:nvSpPr>
          <p:cNvPr id="26" name="Text 23"/>
          <p:cNvSpPr/>
          <p:nvPr/>
        </p:nvSpPr>
        <p:spPr>
          <a:xfrm>
            <a:off x="1371600" y="5074920"/>
            <a:ext cx="9418320" cy="640080"/>
          </a:xfrm>
          <a:prstGeom prst="rect">
            <a:avLst/>
          </a:prstGeom>
          <a:noFill/>
        </p:spPr>
        <p:txBody>
          <a:bodyPr wrap="square" rtlCol="0" anchor="ctr"/>
          <a:lstStyle/>
          <a:p>
            <a:pPr marL="0" indent="0" algn="ctr">
              <a:buNone/>
            </a:pPr>
            <a:r>
              <a:rPr lang="en-US" sz="1200" i="1" dirty="0">
                <a:solidFill>
                  <a:srgbClr val="7A8294"/>
                </a:solidFill>
                <a:latin typeface="Calibri" panose="020F0502020204030204" pitchFamily="34" charset="0"/>
                <a:ea typeface="Calibri" panose="020F0502020204030204" pitchFamily="34" charset="-122"/>
                <a:cs typeface="Calibri" panose="020F0502020204030204" pitchFamily="34" charset="-120"/>
              </a:rPr>
              <a:t>Méthode incrémentale — un sprint par domaine fonctionnel, suivi Redmine. Critère de réussite : ventilation comptable des factures importées.</a:t>
            </a:r>
            <a:endParaRPr lang="en-US" sz="1200" dirty="0"/>
          </a:p>
        </p:txBody>
      </p:sp>
      <p:pic>
        <p:nvPicPr>
          <p:cNvPr id="27"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28" name="Text 24"/>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29" name="Text 25"/>
          <p:cNvSpPr/>
          <p:nvPr/>
        </p:nvSpPr>
        <p:spPr>
          <a:xfrm>
            <a:off x="10360152" y="6309360"/>
            <a:ext cx="1188720" cy="274320"/>
          </a:xfrm>
          <a:prstGeom prst="rect">
            <a:avLst/>
          </a:prstGeom>
          <a:noFill/>
        </p:spPr>
        <p:txBody>
          <a:bodyPr wrap="square" lIns="0" tIns="0" rIns="0" bIns="0" rtlCol="0" anchor="ctr"/>
          <a:lstStyle/>
          <a:p>
            <a:pPr marL="0" indent="0" algn="r">
              <a:buNone/>
            </a:pPr>
            <a:r>
              <a:rPr lang="en-US" sz="1000" b="1" dirty="0">
                <a:solidFill>
                  <a:srgbClr val="1F4E9C"/>
                </a:solidFill>
                <a:latin typeface="Calibri" panose="020F0502020204030204" pitchFamily="34" charset="0"/>
                <a:ea typeface="Calibri" panose="020F0502020204030204" pitchFamily="34" charset="-122"/>
                <a:cs typeface="Calibri" panose="020F0502020204030204" pitchFamily="34" charset="-120"/>
              </a:rPr>
              <a:t>05</a:t>
            </a:r>
            <a:r>
              <a:rPr lang="en-US" sz="1000" dirty="0">
                <a:solidFill>
                  <a:srgbClr val="7A8294"/>
                </a:solidFill>
                <a:latin typeface="Calibri" panose="020F0502020204030204" pitchFamily="34" charset="0"/>
                <a:ea typeface="Calibri" panose="020F0502020204030204" pitchFamily="34" charset="-122"/>
                <a:cs typeface="Calibri" panose="020F0502020204030204" pitchFamily="34" charset="-120"/>
              </a:rPr>
              <a:t> / </a:t>
            </a:r>
            <a:r>
              <a:rPr lang="fr-FR" altLang="en-US" sz="1000" dirty="0">
                <a:solidFill>
                  <a:srgbClr val="7A8294"/>
                </a:solidFill>
                <a:latin typeface="Calibri" panose="020F0502020204030204" pitchFamily="34" charset="0"/>
                <a:ea typeface="Calibri" panose="020F0502020204030204" pitchFamily="34" charset="-122"/>
                <a:cs typeface="Calibri" panose="020F0502020204030204" pitchFamily="34" charset="-120"/>
              </a:rPr>
              <a:t>22</a:t>
            </a:r>
            <a:endParaRPr lang="fr-FR" altLang="en-US" sz="1000" dirty="0">
              <a:solidFill>
                <a:srgbClr val="7A8294"/>
              </a:solidFill>
              <a:latin typeface="Calibri" panose="020F0502020204030204" pitchFamily="34" charset="0"/>
              <a:ea typeface="Calibri" panose="020F0502020204030204" pitchFamily="34" charset="-122"/>
              <a:cs typeface="Calibri" panose="020F0502020204030204" pitchFamily="34" charset="-120"/>
            </a:endParaRPr>
          </a:p>
        </p:txBody>
      </p:sp>
      <p:sp>
        <p:nvSpPr>
          <p:cNvPr id="30" name="Text 26"/>
          <p:cNvSpPr/>
          <p:nvPr/>
        </p:nvSpPr>
        <p:spPr>
          <a:xfrm>
            <a:off x="868680" y="4430000"/>
            <a:ext cx="2200000" cy="200000"/>
          </a:xfrm>
          <a:prstGeom prst="rect">
            <a:avLst/>
          </a:prstGeom>
          <a:noFill/>
        </p:spPr>
        <p:txBody>
          <a:bodyPr wrap="square" lIns="0" tIns="0" rIns="0" bIns="0" rtlCol="0" anchor="ctr"/>
          <a:lstStyle/>
          <a:p>
            <a:pPr marL="0" indent="0">
              <a:buNone/>
            </a:pPr>
            <a:r>
              <a:rPr lang="en-US" sz="900" i="1" dirty="0">
                <a:solidFill>
                  <a:srgbClr val="7A8294"/>
                </a:solidFill>
                <a:latin typeface="Calibri" panose="020F0502020204030204" pitchFamily="34" charset="0"/>
                <a:ea typeface="Calibri" panose="020F0502020204030204" pitchFamily="34" charset="-122"/>
                <a:cs typeface="Calibri" panose="020F0502020204030204" pitchFamily="34" charset="-120"/>
              </a:rPr>
              <a:t>En parallèle (sem. 7-20) :</a:t>
            </a:r>
            <a:endParaRPr lang="en-US" sz="900" dirty="0"/>
          </a:p>
        </p:txBody>
      </p:sp>
      <p:sp>
        <p:nvSpPr>
          <p:cNvPr id="31" name="Shape 27"/>
          <p:cNvSpPr/>
          <p:nvPr/>
        </p:nvSpPr>
        <p:spPr>
          <a:xfrm>
            <a:off x="3399282" y="4430000"/>
            <a:ext cx="8003286" cy="200000"/>
          </a:xfrm>
          <a:prstGeom prst="rect">
            <a:avLst/>
          </a:prstGeom>
          <a:solidFill>
            <a:srgbClr val="EEF2FB"/>
          </a:solidFill>
          <a:ln w="6350">
            <a:solidFill>
              <a:srgbClr val="1F4E9C"/>
            </a:solidFill>
            <a:prstDash val="solid"/>
          </a:ln>
        </p:spPr>
        <p:txBody>
          <a:bodyPr wrap="square" lIns="91440" tIns="0" rIns="91440" bIns="0" rtlCol="0" anchor="ctr"/>
          <a:lstStyle/>
          <a:p>
            <a:pPr marL="0" indent="0" algn="ctr">
              <a:buNone/>
            </a:pPr>
            <a:r>
              <a:rPr lang="en-US" sz="900" b="1" dirty="0">
                <a:solidFill>
                  <a:srgbClr val="1F4E9C"/>
                </a:solidFill>
                <a:latin typeface="Calibri" panose="020F0502020204030204" pitchFamily="34" charset="0"/>
                <a:ea typeface="Calibri" panose="020F0502020204030204" pitchFamily="34" charset="-122"/>
                <a:cs typeface="Calibri" panose="020F0502020204030204" pitchFamily="34" charset="-120"/>
              </a:rPr>
              <a:t>Projets clients Axelor</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553085"/>
          </a:xfrm>
          <a:prstGeom prst="rect">
            <a:avLst/>
          </a:prstGeom>
          <a:noFill/>
        </p:spPr>
        <p:txBody>
          <a:bodyPr wrap="square">
            <a:spAutoFit/>
          </a:bodyPr>
          <a:lstStyle/>
          <a:p>
            <a:pPr algn="l"/>
            <a:r>
              <a:rPr sz="3000" b="1" i="0">
                <a:solidFill>
                  <a:srgbClr val="12203F"/>
                </a:solidFill>
                <a:latin typeface="Calibri" panose="020F0502020204030204"/>
              </a:rPr>
              <a:t>Benchmark</a:t>
            </a:r>
            <a:r>
              <a:rPr lang="fr-FR" sz="3000" b="1" i="0">
                <a:solidFill>
                  <a:srgbClr val="12203F"/>
                </a:solidFill>
                <a:latin typeface="Calibri" panose="020F0502020204030204"/>
              </a:rPr>
              <a:t>:</a:t>
            </a:r>
            <a:r>
              <a:rPr sz="3000" b="1" i="0">
                <a:solidFill>
                  <a:srgbClr val="12203F"/>
                </a:solidFill>
                <a:latin typeface="Calibri" panose="020F0502020204030204"/>
              </a:rPr>
              <a:t> Outil ETL</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06</a:t>
            </a:r>
            <a:r>
              <a:rPr sz="1000" b="0">
                <a:solidFill>
                  <a:srgbClr val="7A8294"/>
                </a:solidFill>
                <a:latin typeface="Calibri" panose="020F0502020204030204"/>
              </a:rPr>
              <a:t> / 22</a:t>
            </a:r>
            <a:endParaRPr sz="1000" b="0">
              <a:solidFill>
                <a:srgbClr val="7A8294"/>
              </a:solidFill>
              <a:latin typeface="Calibri" panose="020F0502020204030204"/>
            </a:endParaRPr>
          </a:p>
        </p:txBody>
      </p:sp>
      <p:graphicFrame>
        <p:nvGraphicFramePr>
          <p:cNvPr id="8" name="Table 7"/>
          <p:cNvGraphicFramePr>
            <a:graphicFrameLocks noGrp="1"/>
          </p:cNvGraphicFramePr>
          <p:nvPr/>
        </p:nvGraphicFramePr>
        <p:xfrm>
          <a:off x="548640" y="1706400"/>
          <a:ext cx="9200000" cy="3900000"/>
        </p:xfrm>
        <a:graphic>
          <a:graphicData uri="http://schemas.openxmlformats.org/drawingml/2006/table">
            <a:tbl>
              <a:tblPr firstRow="1" bandRow="1">
                <a:tableStyleId>{5C22544A-7EE6-4342-B048-85BDC9FD1C3A}</a:tableStyleId>
              </a:tblPr>
              <a:tblGrid>
                <a:gridCol w="3200000"/>
                <a:gridCol w="2000000"/>
                <a:gridCol w="2000000"/>
                <a:gridCol w="2000000"/>
              </a:tblGrid>
              <a:tr h="650000">
                <a:tc>
                  <a:txBody>
                    <a:bodyPr wrap="square"/>
                    <a:lstStyle/>
                    <a:p>
                      <a:pPr algn="ctr"/>
                      <a:r>
                        <a:rPr sz="1000" b="1">
                          <a:solidFill>
                            <a:srgbClr val="12203F"/>
                          </a:solidFill>
                          <a:latin typeface="Calibri" panose="020F0502020204030204"/>
                        </a:rPr>
                        <a:t>Critère</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Apache Hop</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Talend</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Apache NiFi</a:t>
                      </a:r>
                      <a:endParaRPr sz="1000" b="1">
                        <a:solidFill>
                          <a:srgbClr val="12203F"/>
                        </a:solidFill>
                        <a:latin typeface="Calibri" panose="020F0502020204030204"/>
                      </a:endParaRPr>
                    </a:p>
                  </a:txBody>
                  <a:tcPr>
                    <a:solidFill>
                      <a:srgbClr val="D6E4F0"/>
                    </a:solidFill>
                  </a:tcPr>
                </a:tc>
              </a:tr>
              <a:tr h="650000">
                <a:tc>
                  <a:txBody>
                    <a:bodyPr wrap="square"/>
                    <a:lstStyle/>
                    <a:p>
                      <a:pPr algn="l"/>
                      <a:r>
                        <a:rPr sz="900" b="1">
                          <a:solidFill>
                            <a:srgbClr val="12203F"/>
                          </a:solidFill>
                          <a:latin typeface="Calibri" panose="020F0502020204030204"/>
                        </a:rPr>
                        <a:t>Format pipelines</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XML lisible (.hpl)</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Java compilé (.jar)</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JSON interne</a:t>
                      </a:r>
                      <a:endParaRPr sz="900" b="0">
                        <a:solidFill>
                          <a:srgbClr val="2A3142"/>
                        </a:solidFill>
                        <a:latin typeface="Calibri" panose="020F0502020204030204"/>
                      </a:endParaRPr>
                    </a:p>
                  </a:txBody>
                  <a:tcPr>
                    <a:solidFill>
                      <a:srgbClr val="F5F5F5"/>
                    </a:solidFill>
                  </a:tcPr>
                </a:tc>
              </a:tr>
              <a:tr h="650000">
                <a:tc>
                  <a:txBody>
                    <a:bodyPr wrap="square"/>
                    <a:lstStyle/>
                    <a:p>
                      <a:pPr algn="l"/>
                      <a:r>
                        <a:rPr sz="900" b="1">
                          <a:solidFill>
                            <a:srgbClr val="12203F"/>
                          </a:solidFill>
                          <a:latin typeface="Calibri" panose="020F0502020204030204"/>
                        </a:rPr>
                        <a:t>Générable par LLM</a:t>
                      </a:r>
                      <a:endParaRPr sz="900" b="1">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Oui</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Non</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Non</a:t>
                      </a:r>
                      <a:endParaRPr sz="900" b="0">
                        <a:solidFill>
                          <a:srgbClr val="2A3142"/>
                        </a:solidFill>
                        <a:latin typeface="Calibri" panose="020F0502020204030204"/>
                      </a:endParaRPr>
                    </a:p>
                  </a:txBody>
                  <a:tcPr>
                    <a:solidFill>
                      <a:srgbClr val="FFFFFF"/>
                    </a:solidFill>
                  </a:tcPr>
                </a:tc>
              </a:tr>
              <a:tr h="650000">
                <a:tc>
                  <a:txBody>
                    <a:bodyPr wrap="square"/>
                    <a:lstStyle/>
                    <a:p>
                      <a:pPr algn="l"/>
                      <a:r>
                        <a:rPr sz="900" b="1">
                          <a:solidFill>
                            <a:srgbClr val="12203F"/>
                          </a:solidFill>
                          <a:latin typeface="Calibri" panose="020F0502020204030204"/>
                        </a:rPr>
                        <a:t>Upsert natif</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 Oui</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 Oui (tMap)</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 Non</a:t>
                      </a:r>
                      <a:endParaRPr sz="900" b="0">
                        <a:solidFill>
                          <a:srgbClr val="2A3142"/>
                        </a:solidFill>
                        <a:latin typeface="Calibri" panose="020F0502020204030204"/>
                      </a:endParaRPr>
                    </a:p>
                  </a:txBody>
                  <a:tcPr>
                    <a:solidFill>
                      <a:srgbClr val="F5F5F5"/>
                    </a:solidFill>
                  </a:tcPr>
                </a:tc>
              </a:tr>
              <a:tr h="650000">
                <a:tc>
                  <a:txBody>
                    <a:bodyPr wrap="square"/>
                    <a:lstStyle/>
                    <a:p>
                      <a:pPr algn="l"/>
                      <a:r>
                        <a:rPr sz="900" b="1">
                          <a:solidFill>
                            <a:srgbClr val="12203F"/>
                          </a:solidFill>
                          <a:latin typeface="Calibri" panose="020F0502020204030204"/>
                        </a:rPr>
                        <a:t>Exécution CLI</a:t>
                      </a:r>
                      <a:endParaRPr sz="900" b="1">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hop-run.sh</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(.jar)</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(serveur web)</a:t>
                      </a:r>
                      <a:endParaRPr sz="900" b="0">
                        <a:solidFill>
                          <a:srgbClr val="2A3142"/>
                        </a:solidFill>
                        <a:latin typeface="Calibri" panose="020F0502020204030204"/>
                      </a:endParaRPr>
                    </a:p>
                  </a:txBody>
                  <a:tcPr>
                    <a:solidFill>
                      <a:srgbClr val="FFFFFF"/>
                    </a:solidFill>
                  </a:tcPr>
                </a:tc>
              </a:tr>
              <a:tr h="650000">
                <a:tc>
                  <a:txBody>
                    <a:bodyPr wrap="square"/>
                    <a:lstStyle/>
                    <a:p>
                      <a:pPr algn="l"/>
                      <a:r>
                        <a:rPr sz="900" b="1">
                          <a:solidFill>
                            <a:srgbClr val="12203F"/>
                          </a:solidFill>
                          <a:latin typeface="Calibri" panose="020F0502020204030204"/>
                        </a:rPr>
                        <a:t>Licence</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Apache 2.0</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Freemium</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Apache 2.0</a:t>
                      </a:r>
                      <a:endParaRPr sz="900" b="0">
                        <a:solidFill>
                          <a:srgbClr val="2A3142"/>
                        </a:solidFill>
                        <a:latin typeface="Calibri" panose="020F0502020204030204"/>
                      </a:endParaRPr>
                    </a:p>
                  </a:txBody>
                  <a:tcPr>
                    <a:solidFill>
                      <a:srgbClr val="F5F5F5"/>
                    </a:solidFill>
                  </a:tcPr>
                </a:tc>
              </a:tr>
            </a:tbl>
          </a:graphicData>
        </a:graphic>
      </p:graphicFrame>
      <p:sp>
        <p:nvSpPr>
          <p:cNvPr id="9" name="TextBox 8"/>
          <p:cNvSpPr txBox="1"/>
          <p:nvPr/>
        </p:nvSpPr>
        <p:spPr>
          <a:xfrm>
            <a:off x="548640" y="6012640"/>
            <a:ext cx="9144000" cy="320000"/>
          </a:xfrm>
          <a:prstGeom prst="rect">
            <a:avLst/>
          </a:prstGeom>
          <a:noFill/>
        </p:spPr>
        <p:txBody>
          <a:bodyPr wrap="square">
            <a:spAutoFit/>
          </a:bodyPr>
          <a:lstStyle/>
          <a:p>
            <a:pPr algn="l"/>
            <a:r>
              <a:rPr sz="900" b="0" i="1">
                <a:solidFill>
                  <a:srgbClr val="1F9C4E"/>
                </a:solidFill>
                <a:latin typeface="Calibri" panose="020F0502020204030204"/>
              </a:rPr>
              <a:t>✔  Choix : Apache Hop  —  Critère décisif : seul outil dont les pipelines XML sont générables par LLM</a:t>
            </a:r>
            <a:endParaRPr sz="900" b="0" i="1">
              <a:solidFill>
                <a:srgbClr val="1F9C4E"/>
              </a:solidFill>
              <a:latin typeface="Calibri" panose="020F0502020204030204"/>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553085"/>
          </a:xfrm>
          <a:prstGeom prst="rect">
            <a:avLst/>
          </a:prstGeom>
          <a:noFill/>
        </p:spPr>
        <p:txBody>
          <a:bodyPr wrap="square">
            <a:spAutoFit/>
          </a:bodyPr>
          <a:lstStyle/>
          <a:p>
            <a:pPr algn="l"/>
            <a:r>
              <a:rPr sz="3000" b="1" i="0">
                <a:solidFill>
                  <a:srgbClr val="12203F"/>
                </a:solidFill>
                <a:latin typeface="Calibri" panose="020F0502020204030204"/>
              </a:rPr>
              <a:t>Benchmark</a:t>
            </a:r>
            <a:r>
              <a:rPr lang="fr-FR" sz="3000" b="1" i="0">
                <a:solidFill>
                  <a:srgbClr val="12203F"/>
                </a:solidFill>
                <a:latin typeface="Calibri" panose="020F0502020204030204"/>
              </a:rPr>
              <a:t>:</a:t>
            </a:r>
            <a:r>
              <a:rPr sz="3000" b="1" i="0">
                <a:solidFill>
                  <a:srgbClr val="12203F"/>
                </a:solidFill>
                <a:latin typeface="Calibri" panose="020F0502020204030204"/>
              </a:rPr>
              <a:t> Agent IA de code</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07</a:t>
            </a:r>
            <a:r>
              <a:rPr sz="1000" b="0">
                <a:solidFill>
                  <a:srgbClr val="7A8294"/>
                </a:solidFill>
                <a:latin typeface="Calibri" panose="020F0502020204030204"/>
              </a:rPr>
              <a:t> / 22</a:t>
            </a:r>
            <a:endParaRPr sz="1000" b="0">
              <a:solidFill>
                <a:srgbClr val="7A8294"/>
              </a:solidFill>
              <a:latin typeface="Calibri" panose="020F0502020204030204"/>
            </a:endParaRPr>
          </a:p>
        </p:txBody>
      </p:sp>
      <p:graphicFrame>
        <p:nvGraphicFramePr>
          <p:cNvPr id="8" name="Table 7"/>
          <p:cNvGraphicFramePr>
            <a:graphicFrameLocks noGrp="1"/>
          </p:cNvGraphicFramePr>
          <p:nvPr/>
        </p:nvGraphicFramePr>
        <p:xfrm>
          <a:off x="548640" y="1706400"/>
          <a:ext cx="9200000" cy="3900000"/>
        </p:xfrm>
        <a:graphic>
          <a:graphicData uri="http://schemas.openxmlformats.org/drawingml/2006/table">
            <a:tbl>
              <a:tblPr firstRow="1" bandRow="1">
                <a:tableStyleId>{5C22544A-7EE6-4342-B048-85BDC9FD1C3A}</a:tableStyleId>
              </a:tblPr>
              <a:tblGrid>
                <a:gridCol w="3200000"/>
                <a:gridCol w="2000000"/>
                <a:gridCol w="2000000"/>
                <a:gridCol w="2000000"/>
              </a:tblGrid>
              <a:tr h="650000">
                <a:tc>
                  <a:txBody>
                    <a:bodyPr wrap="square"/>
                    <a:lstStyle/>
                    <a:p>
                      <a:pPr algn="ctr"/>
                      <a:r>
                        <a:rPr sz="1000" b="1">
                          <a:solidFill>
                            <a:srgbClr val="12203F"/>
                          </a:solidFill>
                          <a:latin typeface="Calibri" panose="020F0502020204030204"/>
                        </a:rPr>
                        <a:t>Critère</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Claude Code</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Codex CLI (OpenAI)</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Gemini CLI (Google)</a:t>
                      </a:r>
                      <a:endParaRPr sz="1000" b="1">
                        <a:solidFill>
                          <a:srgbClr val="12203F"/>
                        </a:solidFill>
                        <a:latin typeface="Calibri" panose="020F0502020204030204"/>
                      </a:endParaRPr>
                    </a:p>
                  </a:txBody>
                  <a:tcPr>
                    <a:solidFill>
                      <a:srgbClr val="D6E4F0"/>
                    </a:solidFill>
                  </a:tcPr>
                </a:tc>
              </a:tr>
              <a:tr h="650000">
                <a:tc>
                  <a:txBody>
                    <a:bodyPr wrap="square"/>
                    <a:lstStyle/>
                    <a:p>
                      <a:pPr algn="l"/>
                      <a:r>
                        <a:rPr sz="900" b="1">
                          <a:solidFill>
                            <a:srgbClr val="12203F"/>
                          </a:solidFill>
                          <a:latin typeface="Calibri" panose="020F0502020204030204"/>
                        </a:rPr>
                        <a:t>Coding Agent Index</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77</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76</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a:t>
                      </a:r>
                      <a:endParaRPr sz="900" b="0">
                        <a:solidFill>
                          <a:srgbClr val="2A3142"/>
                        </a:solidFill>
                        <a:latin typeface="Calibri" panose="020F0502020204030204"/>
                      </a:endParaRPr>
                    </a:p>
                  </a:txBody>
                  <a:tcPr>
                    <a:solidFill>
                      <a:srgbClr val="F5F5F5"/>
                    </a:solidFill>
                  </a:tcPr>
                </a:tc>
              </a:tr>
              <a:tr h="650000">
                <a:tc>
                  <a:txBody>
                    <a:bodyPr wrap="square"/>
                    <a:lstStyle/>
                    <a:p>
                      <a:pPr algn="l"/>
                      <a:r>
                        <a:rPr sz="900" b="1">
                          <a:solidFill>
                            <a:srgbClr val="12203F"/>
                          </a:solidFill>
                          <a:latin typeface="Calibri" panose="020F0502020204030204"/>
                        </a:rPr>
                        <a:t>Terminal-Bench Hard</a:t>
                      </a:r>
                      <a:endParaRPr sz="900" b="1">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63 %</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61 %</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54 %</a:t>
                      </a:r>
                      <a:endParaRPr sz="900" b="0">
                        <a:solidFill>
                          <a:srgbClr val="2A3142"/>
                        </a:solidFill>
                        <a:latin typeface="Calibri" panose="020F0502020204030204"/>
                      </a:endParaRPr>
                    </a:p>
                  </a:txBody>
                  <a:tcPr>
                    <a:solidFill>
                      <a:srgbClr val="FFFFFF"/>
                    </a:solidFill>
                  </a:tcPr>
                </a:tc>
              </a:tr>
              <a:tr h="650000">
                <a:tc>
                  <a:txBody>
                    <a:bodyPr wrap="square"/>
                    <a:lstStyle/>
                    <a:p>
                      <a:pPr algn="l"/>
                      <a:r>
                        <a:rPr sz="900" b="1">
                          <a:solidFill>
                            <a:srgbClr val="12203F"/>
                          </a:solidFill>
                          <a:latin typeface="Calibri" panose="020F0502020204030204"/>
                        </a:rPr>
                        <a:t>Intelligence Index</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65</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60</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57</a:t>
                      </a:r>
                      <a:endParaRPr sz="900" b="0">
                        <a:solidFill>
                          <a:srgbClr val="2A3142"/>
                        </a:solidFill>
                        <a:latin typeface="Calibri" panose="020F0502020204030204"/>
                      </a:endParaRPr>
                    </a:p>
                  </a:txBody>
                  <a:tcPr>
                    <a:solidFill>
                      <a:srgbClr val="F5F5F5"/>
                    </a:solidFill>
                  </a:tcPr>
                </a:tc>
              </a:tr>
              <a:tr h="650000">
                <a:tc>
                  <a:txBody>
                    <a:bodyPr wrap="square"/>
                    <a:lstStyle/>
                    <a:p>
                      <a:pPr algn="l"/>
                      <a:r>
                        <a:rPr sz="900" b="1">
                          <a:solidFill>
                            <a:srgbClr val="12203F"/>
                          </a:solidFill>
                          <a:latin typeface="Calibri" panose="020F0502020204030204"/>
                        </a:rPr>
                        <a:t>Prix / 1M tokens</a:t>
                      </a:r>
                      <a:endParaRPr sz="900" b="1">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$7.7</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$4.3</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$1.7</a:t>
                      </a:r>
                      <a:endParaRPr sz="900" b="0">
                        <a:solidFill>
                          <a:srgbClr val="2A3142"/>
                        </a:solidFill>
                        <a:latin typeface="Calibri" panose="020F0502020204030204"/>
                      </a:endParaRPr>
                    </a:p>
                  </a:txBody>
                  <a:tcPr>
                    <a:solidFill>
                      <a:srgbClr val="FFFFFF"/>
                    </a:solidFill>
                  </a:tcPr>
                </a:tc>
              </a:tr>
              <a:tr h="650000">
                <a:tc>
                  <a:txBody>
                    <a:bodyPr wrap="square"/>
                    <a:lstStyle/>
                    <a:p>
                      <a:pPr algn="l"/>
                      <a:r>
                        <a:rPr sz="900" b="1">
                          <a:solidFill>
                            <a:srgbClr val="12203F"/>
                          </a:solidFill>
                          <a:latin typeface="Calibri" panose="020F0502020204030204"/>
                        </a:rPr>
                        <a:t>Contexte max</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200K–1M</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128K–1M</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1M</a:t>
                      </a:r>
                      <a:endParaRPr sz="900" b="0">
                        <a:solidFill>
                          <a:srgbClr val="2A3142"/>
                        </a:solidFill>
                        <a:latin typeface="Calibri" panose="020F0502020204030204"/>
                      </a:endParaRPr>
                    </a:p>
                  </a:txBody>
                  <a:tcPr>
                    <a:solidFill>
                      <a:srgbClr val="F5F5F5"/>
                    </a:solidFill>
                  </a:tcPr>
                </a:tc>
              </a:tr>
            </a:tbl>
          </a:graphicData>
        </a:graphic>
      </p:graphicFrame>
      <p:sp>
        <p:nvSpPr>
          <p:cNvPr id="9" name="TextBox 8"/>
          <p:cNvSpPr txBox="1"/>
          <p:nvPr/>
        </p:nvSpPr>
        <p:spPr>
          <a:xfrm>
            <a:off x="548640" y="6012640"/>
            <a:ext cx="9144000" cy="320000"/>
          </a:xfrm>
          <a:prstGeom prst="rect">
            <a:avLst/>
          </a:prstGeom>
          <a:noFill/>
        </p:spPr>
        <p:txBody>
          <a:bodyPr wrap="square">
            <a:spAutoFit/>
          </a:bodyPr>
          <a:lstStyle/>
          <a:p>
            <a:pPr algn="l"/>
            <a:r>
              <a:rPr sz="900" b="0" i="1">
                <a:solidFill>
                  <a:srgbClr val="1F9C4E"/>
                </a:solidFill>
                <a:latin typeface="Calibri" panose="020F0502020204030204"/>
              </a:rPr>
              <a:t>✔  Choix : Claude Code  —  Critère pragmatique : abonnement Anthropic existant chez Axelor</a:t>
            </a:r>
            <a:endParaRPr sz="900" b="0" i="1">
              <a:solidFill>
                <a:srgbClr val="1F9C4E"/>
              </a:solidFill>
              <a:latin typeface="Calibri" panose="020F0502020204030204"/>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Vue d'ensemble de la solution</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08</a:t>
            </a:r>
            <a:r>
              <a:rPr sz="1000" b="0">
                <a:solidFill>
                  <a:srgbClr val="7A8294"/>
                </a:solidFill>
                <a:latin typeface="Calibri" panose="020F0502020204030204"/>
              </a:rPr>
              <a:t> / 22</a:t>
            </a:r>
            <a:endParaRPr sz="1000" b="0">
              <a:solidFill>
                <a:srgbClr val="7A8294"/>
              </a:solidFill>
              <a:latin typeface="Calibri" panose="020F0502020204030204"/>
            </a:endParaRPr>
          </a:p>
        </p:txBody>
      </p:sp>
      <p:sp>
        <p:nvSpPr>
          <p:cNvPr id="8" name="Rounded Rectangle 7"/>
          <p:cNvSpPr/>
          <p:nvPr/>
        </p:nvSpPr>
        <p:spPr>
          <a:xfrm>
            <a:off x="600000" y="2200000"/>
            <a:ext cx="78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CSV</a:t>
            </a:r>
            <a:endParaRPr sz="900" b="0">
              <a:solidFill>
                <a:srgbClr val="12203F"/>
              </a:solidFill>
              <a:latin typeface="Calibri" panose="020F0502020204030204"/>
            </a:endParaRPr>
          </a:p>
        </p:txBody>
      </p:sp>
      <p:sp>
        <p:nvSpPr>
          <p:cNvPr id="9" name="TextBox 8"/>
          <p:cNvSpPr txBox="1"/>
          <p:nvPr/>
        </p:nvSpPr>
        <p:spPr>
          <a:xfrm>
            <a:off x="140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0" name="Rounded Rectangle 9"/>
          <p:cNvSpPr/>
          <p:nvPr/>
        </p:nvSpPr>
        <p:spPr>
          <a:xfrm>
            <a:off x="1570000" y="2200000"/>
            <a:ext cx="150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Agent IA</a:t>
            </a:r>
            <a:endParaRPr sz="900" b="0">
              <a:solidFill>
                <a:srgbClr val="12203F"/>
              </a:solidFill>
              <a:latin typeface="Calibri" panose="020F0502020204030204"/>
            </a:endParaRPr>
          </a:p>
          <a:p>
            <a:pPr algn="ctr"/>
            <a:r>
              <a:rPr sz="900" b="0">
                <a:solidFill>
                  <a:srgbClr val="12203F"/>
                </a:solidFill>
                <a:latin typeface="Calibri" panose="020F0502020204030204"/>
              </a:rPr>
              <a:t>(analyse)</a:t>
            </a:r>
            <a:endParaRPr sz="900" b="0">
              <a:solidFill>
                <a:srgbClr val="12203F"/>
              </a:solidFill>
              <a:latin typeface="Calibri" panose="020F0502020204030204"/>
            </a:endParaRPr>
          </a:p>
        </p:txBody>
      </p:sp>
      <p:sp>
        <p:nvSpPr>
          <p:cNvPr id="11" name="TextBox 10"/>
          <p:cNvSpPr txBox="1"/>
          <p:nvPr/>
        </p:nvSpPr>
        <p:spPr>
          <a:xfrm>
            <a:off x="309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2" name="Rounded Rectangle 11"/>
          <p:cNvSpPr/>
          <p:nvPr/>
        </p:nvSpPr>
        <p:spPr>
          <a:xfrm>
            <a:off x="3260000" y="2200000"/>
            <a:ext cx="1450000" cy="620000"/>
          </a:xfrm>
          <a:prstGeom prst="roundRect">
            <a:avLst/>
          </a:prstGeom>
          <a:solidFill>
            <a:srgbClr val="FFF3CD"/>
          </a:solidFill>
          <a:ln w="25400">
            <a:solidFill>
              <a:srgbClr val="F0A500"/>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rgbClr val="12203F"/>
                </a:solidFill>
                <a:latin typeface="Calibri" panose="020F0502020204030204"/>
              </a:rPr>
              <a:t>Manifeste</a:t>
            </a:r>
            <a:endParaRPr sz="900" b="1">
              <a:solidFill>
                <a:srgbClr val="12203F"/>
              </a:solidFill>
              <a:latin typeface="Calibri" panose="020F0502020204030204"/>
            </a:endParaRPr>
          </a:p>
          <a:p>
            <a:pPr algn="ctr"/>
            <a:r>
              <a:rPr sz="900" b="1">
                <a:solidFill>
                  <a:srgbClr val="12203F"/>
                </a:solidFill>
                <a:latin typeface="Calibri" panose="020F0502020204030204"/>
              </a:rPr>
              <a:t>JSON</a:t>
            </a:r>
            <a:endParaRPr sz="900" b="1">
              <a:solidFill>
                <a:srgbClr val="12203F"/>
              </a:solidFill>
              <a:latin typeface="Calibri" panose="020F0502020204030204"/>
            </a:endParaRPr>
          </a:p>
        </p:txBody>
      </p:sp>
      <p:sp>
        <p:nvSpPr>
          <p:cNvPr id="13" name="TextBox 12"/>
          <p:cNvSpPr txBox="1"/>
          <p:nvPr/>
        </p:nvSpPr>
        <p:spPr>
          <a:xfrm>
            <a:off x="473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4" name="Rounded Rectangle 13"/>
          <p:cNvSpPr/>
          <p:nvPr/>
        </p:nvSpPr>
        <p:spPr>
          <a:xfrm>
            <a:off x="4900000" y="2200000"/>
            <a:ext cx="165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Agent IA</a:t>
            </a:r>
            <a:endParaRPr sz="900" b="0">
              <a:solidFill>
                <a:srgbClr val="12203F"/>
              </a:solidFill>
              <a:latin typeface="Calibri" panose="020F0502020204030204"/>
            </a:endParaRPr>
          </a:p>
          <a:p>
            <a:pPr algn="ctr"/>
            <a:r>
              <a:rPr sz="900" b="0">
                <a:solidFill>
                  <a:srgbClr val="12203F"/>
                </a:solidFill>
                <a:latin typeface="Calibri" panose="020F0502020204030204"/>
              </a:rPr>
              <a:t>(génération)</a:t>
            </a:r>
            <a:endParaRPr sz="900" b="0">
              <a:solidFill>
                <a:srgbClr val="12203F"/>
              </a:solidFill>
              <a:latin typeface="Calibri" panose="020F0502020204030204"/>
            </a:endParaRPr>
          </a:p>
        </p:txBody>
      </p:sp>
      <p:sp>
        <p:nvSpPr>
          <p:cNvPr id="15" name="TextBox 14"/>
          <p:cNvSpPr txBox="1"/>
          <p:nvPr/>
        </p:nvSpPr>
        <p:spPr>
          <a:xfrm>
            <a:off x="657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6" name="Rounded Rectangle 15"/>
          <p:cNvSpPr/>
          <p:nvPr/>
        </p:nvSpPr>
        <p:spPr>
          <a:xfrm>
            <a:off x="6740000" y="2200000"/>
            <a:ext cx="130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Apache Hop</a:t>
            </a:r>
            <a:endParaRPr sz="900" b="0">
              <a:solidFill>
                <a:srgbClr val="12203F"/>
              </a:solidFill>
              <a:latin typeface="Calibri" panose="020F0502020204030204"/>
            </a:endParaRPr>
          </a:p>
        </p:txBody>
      </p:sp>
      <p:sp>
        <p:nvSpPr>
          <p:cNvPr id="17" name="TextBox 16"/>
          <p:cNvSpPr txBox="1"/>
          <p:nvPr/>
        </p:nvSpPr>
        <p:spPr>
          <a:xfrm>
            <a:off x="806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8" name="Rounded Rectangle 17"/>
          <p:cNvSpPr/>
          <p:nvPr/>
        </p:nvSpPr>
        <p:spPr>
          <a:xfrm>
            <a:off x="8230000" y="2200000"/>
            <a:ext cx="130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PostgreSQL</a:t>
            </a:r>
            <a:endParaRPr sz="900" b="0">
              <a:solidFill>
                <a:srgbClr val="12203F"/>
              </a:solidFill>
              <a:latin typeface="Calibri" panose="020F0502020204030204"/>
            </a:endParaRPr>
          </a:p>
        </p:txBody>
      </p:sp>
      <p:sp>
        <p:nvSpPr>
          <p:cNvPr id="19" name="Rectangle 18"/>
          <p:cNvSpPr/>
          <p:nvPr/>
        </p:nvSpPr>
        <p:spPr>
          <a:xfrm>
            <a:off x="600000" y="3260000"/>
            <a:ext cx="80000" cy="19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0000" y="3260000"/>
            <a:ext cx="2760000" cy="320000"/>
          </a:xfrm>
          <a:prstGeom prst="rect">
            <a:avLst/>
          </a:prstGeom>
          <a:noFill/>
        </p:spPr>
        <p:txBody>
          <a:bodyPr wrap="square">
            <a:spAutoFit/>
          </a:bodyPr>
          <a:lstStyle/>
          <a:p>
            <a:pPr algn="l"/>
            <a:r>
              <a:rPr sz="1100" b="1" i="0">
                <a:solidFill>
                  <a:srgbClr val="1F4E9C"/>
                </a:solidFill>
                <a:latin typeface="Calibri" panose="020F0502020204030204"/>
              </a:rPr>
              <a:t>Manifeste JSON</a:t>
            </a:r>
            <a:endParaRPr sz="1100" b="1" i="0">
              <a:solidFill>
                <a:srgbClr val="1F4E9C"/>
              </a:solidFill>
              <a:latin typeface="Calibri" panose="020F0502020204030204"/>
            </a:endParaRPr>
          </a:p>
        </p:txBody>
      </p:sp>
      <p:sp>
        <p:nvSpPr>
          <p:cNvPr id="21" name="TextBox 20"/>
          <p:cNvSpPr txBox="1"/>
          <p:nvPr/>
        </p:nvSpPr>
        <p:spPr>
          <a:xfrm>
            <a:off x="740000" y="3600000"/>
            <a:ext cx="2760000" cy="1540000"/>
          </a:xfrm>
          <a:prstGeom prst="rect">
            <a:avLst/>
          </a:prstGeom>
          <a:noFill/>
        </p:spPr>
        <p:txBody>
          <a:bodyPr wrap="square">
            <a:spAutoFit/>
          </a:bodyPr>
          <a:lstStyle/>
          <a:p>
            <a:pPr algn="l"/>
            <a:r>
              <a:rPr sz="950">
                <a:solidFill>
                  <a:srgbClr val="2A3142"/>
                </a:solidFill>
                <a:latin typeface="Calibri" panose="020F0502020204030204"/>
              </a:rPr>
              <a:t>Artefact intermédiaire entre analyse et génération.</a:t>
            </a:r>
            <a:endParaRPr sz="950">
              <a:solidFill>
                <a:srgbClr val="2A3142"/>
              </a:solidFill>
              <a:latin typeface="Calibri" panose="020F0502020204030204"/>
            </a:endParaRPr>
          </a:p>
          <a:p>
            <a:pPr algn="l"/>
            <a:r>
              <a:rPr sz="950">
                <a:solidFill>
                  <a:srgbClr val="2A3142"/>
                </a:solidFill>
                <a:latin typeface="Calibri" panose="020F0502020204030204"/>
              </a:rPr>
              <a:t>Versionnable sous Git, modifiable sans relancer l'analyse.</a:t>
            </a:r>
            <a:endParaRPr sz="950">
              <a:solidFill>
                <a:srgbClr val="2A3142"/>
              </a:solidFill>
              <a:latin typeface="Calibri" panose="020F0502020204030204"/>
            </a:endParaRPr>
          </a:p>
        </p:txBody>
      </p:sp>
      <p:sp>
        <p:nvSpPr>
          <p:cNvPr id="22" name="Rectangle 21"/>
          <p:cNvSpPr/>
          <p:nvPr/>
        </p:nvSpPr>
        <p:spPr>
          <a:xfrm>
            <a:off x="3860000" y="3260000"/>
            <a:ext cx="80000" cy="19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000000" y="3260000"/>
            <a:ext cx="2760000" cy="320000"/>
          </a:xfrm>
          <a:prstGeom prst="rect">
            <a:avLst/>
          </a:prstGeom>
          <a:noFill/>
        </p:spPr>
        <p:txBody>
          <a:bodyPr wrap="square">
            <a:spAutoFit/>
          </a:bodyPr>
          <a:lstStyle/>
          <a:p>
            <a:pPr algn="l"/>
            <a:r>
              <a:rPr sz="1100" b="1" i="0">
                <a:solidFill>
                  <a:srgbClr val="1F4E9C"/>
                </a:solidFill>
                <a:latin typeface="Calibri" panose="020F0502020204030204"/>
              </a:rPr>
              <a:t>3 patterns ETL</a:t>
            </a:r>
            <a:endParaRPr sz="1100" b="1" i="0">
              <a:solidFill>
                <a:srgbClr val="1F4E9C"/>
              </a:solidFill>
              <a:latin typeface="Calibri" panose="020F0502020204030204"/>
            </a:endParaRPr>
          </a:p>
        </p:txBody>
      </p:sp>
      <p:sp>
        <p:nvSpPr>
          <p:cNvPr id="24" name="TextBox 23"/>
          <p:cNvSpPr txBox="1"/>
          <p:nvPr/>
        </p:nvSpPr>
        <p:spPr>
          <a:xfrm>
            <a:off x="4000000" y="3600000"/>
            <a:ext cx="2760000" cy="1540000"/>
          </a:xfrm>
          <a:prstGeom prst="rect">
            <a:avLst/>
          </a:prstGeom>
          <a:noFill/>
        </p:spPr>
        <p:txBody>
          <a:bodyPr wrap="square">
            <a:spAutoFit/>
          </a:bodyPr>
          <a:lstStyle/>
          <a:p>
            <a:pPr algn="l"/>
            <a:r>
              <a:rPr sz="950">
                <a:solidFill>
                  <a:srgbClr val="2A3142"/>
                </a:solidFill>
                <a:latin typeface="Calibri" panose="020F0502020204030204"/>
              </a:rPr>
              <a:t>Upsert (idempotence via import_id)</a:t>
            </a:r>
            <a:endParaRPr sz="950">
              <a:solidFill>
                <a:srgbClr val="2A3142"/>
              </a:solidFill>
              <a:latin typeface="Calibri" panose="020F0502020204030204"/>
            </a:endParaRPr>
          </a:p>
          <a:p>
            <a:pPr algn="l"/>
            <a:r>
              <a:rPr sz="950">
                <a:solidFill>
                  <a:srgbClr val="2A3142"/>
                </a:solidFill>
                <a:latin typeface="Calibri" panose="020F0502020204030204"/>
              </a:rPr>
              <a:t>Junction Many-to-Many</a:t>
            </a:r>
            <a:endParaRPr sz="950">
              <a:solidFill>
                <a:srgbClr val="2A3142"/>
              </a:solidFill>
              <a:latin typeface="Calibri" panose="020F0502020204030204"/>
            </a:endParaRPr>
          </a:p>
          <a:p>
            <a:pPr algn="l"/>
            <a:r>
              <a:rPr sz="950">
                <a:solidFill>
                  <a:srgbClr val="2A3142"/>
                </a:solidFill>
                <a:latin typeface="Calibri" panose="020F0502020204030204"/>
              </a:rPr>
              <a:t>Post-SQL (champs dérivés, séquences)</a:t>
            </a:r>
            <a:endParaRPr sz="950">
              <a:solidFill>
                <a:srgbClr val="2A3142"/>
              </a:solidFill>
              <a:latin typeface="Calibri" panose="020F0502020204030204"/>
            </a:endParaRPr>
          </a:p>
        </p:txBody>
      </p:sp>
      <p:sp>
        <p:nvSpPr>
          <p:cNvPr id="25" name="Rectangle 24"/>
          <p:cNvSpPr/>
          <p:nvPr/>
        </p:nvSpPr>
        <p:spPr>
          <a:xfrm>
            <a:off x="7120000" y="3260000"/>
            <a:ext cx="80000" cy="19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60000" y="3260000"/>
            <a:ext cx="2760000" cy="320000"/>
          </a:xfrm>
          <a:prstGeom prst="rect">
            <a:avLst/>
          </a:prstGeom>
          <a:noFill/>
        </p:spPr>
        <p:txBody>
          <a:bodyPr wrap="square">
            <a:spAutoFit/>
          </a:bodyPr>
          <a:lstStyle/>
          <a:p>
            <a:pPr algn="l"/>
            <a:r>
              <a:rPr sz="1100" b="1" i="0">
                <a:solidFill>
                  <a:srgbClr val="1F4E9C"/>
                </a:solidFill>
                <a:latin typeface="Calibri" panose="020F0502020204030204"/>
              </a:rPr>
              <a:t>3 piliers</a:t>
            </a:r>
            <a:endParaRPr sz="1100" b="1" i="0">
              <a:solidFill>
                <a:srgbClr val="1F4E9C"/>
              </a:solidFill>
              <a:latin typeface="Calibri" panose="020F0502020204030204"/>
            </a:endParaRPr>
          </a:p>
        </p:txBody>
      </p:sp>
      <p:sp>
        <p:nvSpPr>
          <p:cNvPr id="27" name="TextBox 26"/>
          <p:cNvSpPr txBox="1"/>
          <p:nvPr/>
        </p:nvSpPr>
        <p:spPr>
          <a:xfrm>
            <a:off x="7260000" y="3600000"/>
            <a:ext cx="2760000" cy="1540000"/>
          </a:xfrm>
          <a:prstGeom prst="rect">
            <a:avLst/>
          </a:prstGeom>
          <a:noFill/>
        </p:spPr>
        <p:txBody>
          <a:bodyPr wrap="square">
            <a:spAutoFit/>
          </a:bodyPr>
          <a:lstStyle/>
          <a:p>
            <a:pPr algn="l"/>
            <a:r>
              <a:rPr sz="950">
                <a:solidFill>
                  <a:srgbClr val="2A3142"/>
                </a:solidFill>
                <a:latin typeface="Calibri" panose="020F0502020204030204"/>
              </a:rPr>
              <a:t>Apache Hop — pipelines XML déclaratifs</a:t>
            </a:r>
            <a:endParaRPr sz="950">
              <a:solidFill>
                <a:srgbClr val="2A3142"/>
              </a:solidFill>
              <a:latin typeface="Calibri" panose="020F0502020204030204"/>
            </a:endParaRPr>
          </a:p>
          <a:p>
            <a:pPr algn="l"/>
            <a:r>
              <a:rPr sz="950">
                <a:solidFill>
                  <a:srgbClr val="2A3142"/>
                </a:solidFill>
                <a:latin typeface="Calibri" panose="020F0502020204030204"/>
              </a:rPr>
              <a:t>3 skills Claude — analyse, génération</a:t>
            </a:r>
            <a:endParaRPr sz="950">
              <a:solidFill>
                <a:srgbClr val="2A3142"/>
              </a:solidFill>
              <a:latin typeface="Calibri" panose="020F0502020204030204"/>
            </a:endParaRPr>
          </a:p>
          <a:p>
            <a:pPr algn="l"/>
            <a:r>
              <a:rPr sz="950">
                <a:solidFill>
                  <a:srgbClr val="2A3142"/>
                </a:solidFill>
                <a:latin typeface="Calibri" panose="020F0502020204030204"/>
              </a:rPr>
              <a:t>Axelor Import Studio — interface web</a:t>
            </a:r>
            <a:endParaRPr sz="950">
              <a:solidFill>
                <a:srgbClr val="2A3142"/>
              </a:solidFill>
              <a:latin typeface="Calibri" panose="020F0502020204030204"/>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Cas d'utilisation — Phase Mapping</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09</a:t>
            </a:r>
            <a:r>
              <a:rPr sz="1000" b="0">
                <a:solidFill>
                  <a:srgbClr val="7A8294"/>
                </a:solidFill>
                <a:latin typeface="Calibri" panose="020F0502020204030204"/>
              </a:rPr>
              <a:t> / 22</a:t>
            </a:r>
            <a:endParaRPr sz="1000" b="0">
              <a:solidFill>
                <a:srgbClr val="7A8294"/>
              </a:solidFill>
              <a:latin typeface="Calibri" panose="020F0502020204030204"/>
            </a:endParaRPr>
          </a:p>
        </p:txBody>
      </p:sp>
      <p:pic>
        <p:nvPicPr>
          <p:cNvPr id="8" name="Picture 7"/>
          <p:cNvPicPr>
            <a:picLocks noChangeAspect="1"/>
          </p:cNvPicPr>
          <p:nvPr/>
        </p:nvPicPr>
        <p:blipFill>
          <a:blip r:embed="rId2"/>
          <a:stretch>
            <a:fillRect/>
          </a:stretch>
        </p:blipFill>
        <p:spPr>
          <a:xfrm>
            <a:off x="3357245" y="1383665"/>
            <a:ext cx="5726430" cy="5200015"/>
          </a:xfrm>
          <a:prstGeom prst="rect">
            <a:avLst/>
          </a:prstGeom>
        </p:spPr>
      </p:pic>
      <p:pic>
        <p:nvPicPr>
          <p:cNvPr id="9" name="Picture 8" descr="image.png"/>
          <p:cNvPicPr>
            <a:picLocks noChangeAspect="1"/>
          </p:cNvPicPr>
          <p:nvPr/>
        </p:nvPicPr>
        <p:blipFill>
          <a:blip r:embed="rId3"/>
          <a:stretch>
            <a:fillRect/>
          </a:stretch>
        </p:blipFill>
        <p:spPr>
          <a:xfrm>
            <a:off x="9832848" y="2286000"/>
            <a:ext cx="2173224" cy="566928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Cas d'utilisation — Phase Post-mapping</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10</a:t>
            </a:r>
            <a:r>
              <a:rPr sz="1000" b="0">
                <a:solidFill>
                  <a:srgbClr val="7A8294"/>
                </a:solidFill>
                <a:latin typeface="Calibri" panose="020F0502020204030204"/>
              </a:rPr>
              <a:t> / 22</a:t>
            </a:r>
            <a:endParaRPr sz="1000" b="0">
              <a:solidFill>
                <a:srgbClr val="7A8294"/>
              </a:solidFill>
              <a:latin typeface="Calibri" panose="020F0502020204030204"/>
            </a:endParaRPr>
          </a:p>
        </p:txBody>
      </p:sp>
      <p:pic>
        <p:nvPicPr>
          <p:cNvPr id="8" name="Picture 7" descr="image.png"/>
          <p:cNvPicPr>
            <a:picLocks noChangeAspect="1"/>
          </p:cNvPicPr>
          <p:nvPr/>
        </p:nvPicPr>
        <p:blipFill>
          <a:blip r:embed="rId2"/>
          <a:stretch>
            <a:fillRect/>
          </a:stretch>
        </p:blipFill>
        <p:spPr>
          <a:xfrm>
            <a:off x="9832848" y="2286000"/>
            <a:ext cx="2173224" cy="5669280"/>
          </a:xfrm>
          <a:prstGeom prst="rect">
            <a:avLst/>
          </a:prstGeom>
        </p:spPr>
      </p:pic>
      <p:pic>
        <p:nvPicPr>
          <p:cNvPr id="9" name="Picture 8"/>
          <p:cNvPicPr>
            <a:picLocks noChangeAspect="1"/>
          </p:cNvPicPr>
          <p:nvPr/>
        </p:nvPicPr>
        <p:blipFill>
          <a:blip r:embed="rId3"/>
          <a:stretch>
            <a:fillRect/>
          </a:stretch>
        </p:blipFill>
        <p:spPr>
          <a:xfrm>
            <a:off x="2550160" y="1405890"/>
            <a:ext cx="6781165" cy="4921885"/>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599440" y="2921635"/>
            <a:ext cx="4055110" cy="1476375"/>
          </a:xfrm>
          <a:prstGeom prst="rect">
            <a:avLst/>
          </a:prstGeom>
          <a:noFill/>
        </p:spPr>
        <p:txBody>
          <a:bodyPr wrap="square">
            <a:spAutoFit/>
          </a:bodyPr>
          <a:lstStyle/>
          <a:p>
            <a:pPr algn="l"/>
            <a:r>
              <a:rPr sz="3000" b="1" i="0">
                <a:solidFill>
                  <a:srgbClr val="12203F"/>
                </a:solidFill>
                <a:latin typeface="Calibri" panose="020F0502020204030204"/>
              </a:rPr>
              <a:t>Diagramme de séquence — Phase Mapping</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11</a:t>
            </a:r>
            <a:r>
              <a:rPr sz="1000" b="0">
                <a:solidFill>
                  <a:srgbClr val="7A8294"/>
                </a:solidFill>
                <a:latin typeface="Calibri" panose="020F0502020204030204"/>
              </a:rPr>
              <a:t> / 22</a:t>
            </a:r>
            <a:endParaRPr sz="1000" b="0">
              <a:solidFill>
                <a:srgbClr val="7A8294"/>
              </a:solidFill>
              <a:latin typeface="Calibri" panose="020F0502020204030204"/>
            </a:endParaRPr>
          </a:p>
        </p:txBody>
      </p:sp>
      <p:pic>
        <p:nvPicPr>
          <p:cNvPr id="9" name="Picture 8"/>
          <p:cNvPicPr>
            <a:picLocks noChangeAspect="1"/>
          </p:cNvPicPr>
          <p:nvPr/>
        </p:nvPicPr>
        <p:blipFill>
          <a:blip r:embed="rId3"/>
          <a:stretch>
            <a:fillRect/>
          </a:stretch>
        </p:blipFill>
        <p:spPr>
          <a:xfrm>
            <a:off x="3985895" y="213995"/>
            <a:ext cx="6948170" cy="635127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599440" y="2762885"/>
            <a:ext cx="3694430" cy="1476375"/>
          </a:xfrm>
          <a:prstGeom prst="rect">
            <a:avLst/>
          </a:prstGeom>
          <a:noFill/>
        </p:spPr>
        <p:txBody>
          <a:bodyPr wrap="square">
            <a:spAutoFit/>
          </a:bodyPr>
          <a:lstStyle/>
          <a:p>
            <a:pPr algn="l"/>
            <a:r>
              <a:rPr sz="3000" b="1" i="0">
                <a:solidFill>
                  <a:srgbClr val="12203F"/>
                </a:solidFill>
                <a:latin typeface="Calibri" panose="020F0502020204030204"/>
              </a:rPr>
              <a:t>Diagramme de séquence — Phase Post-mapping</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12</a:t>
            </a:r>
            <a:r>
              <a:rPr sz="1000" b="0">
                <a:solidFill>
                  <a:srgbClr val="7A8294"/>
                </a:solidFill>
                <a:latin typeface="Calibri" panose="020F0502020204030204"/>
              </a:rPr>
              <a:t> / 22</a:t>
            </a:r>
            <a:endParaRPr sz="1000" b="0">
              <a:solidFill>
                <a:srgbClr val="7A8294"/>
              </a:solidFill>
              <a:latin typeface="Calibri" panose="020F0502020204030204"/>
            </a:endParaRPr>
          </a:p>
        </p:txBody>
      </p:sp>
      <p:pic>
        <p:nvPicPr>
          <p:cNvPr id="8" name="Picture 7" descr="image.png"/>
          <p:cNvPicPr>
            <a:picLocks noChangeAspect="1"/>
          </p:cNvPicPr>
          <p:nvPr/>
        </p:nvPicPr>
        <p:blipFill>
          <a:blip r:embed="rId2"/>
          <a:stretch>
            <a:fillRect/>
          </a:stretch>
        </p:blipFill>
        <p:spPr>
          <a:xfrm>
            <a:off x="9832848" y="2286000"/>
            <a:ext cx="2173224" cy="5669280"/>
          </a:xfrm>
          <a:prstGeom prst="rect">
            <a:avLst/>
          </a:prstGeom>
        </p:spPr>
      </p:pic>
      <p:pic>
        <p:nvPicPr>
          <p:cNvPr id="9" name="Picture 8"/>
          <p:cNvPicPr>
            <a:picLocks noChangeAspect="1"/>
          </p:cNvPicPr>
          <p:nvPr/>
        </p:nvPicPr>
        <p:blipFill>
          <a:blip r:embed="rId3"/>
          <a:stretch>
            <a:fillRect/>
          </a:stretch>
        </p:blipFill>
        <p:spPr>
          <a:xfrm>
            <a:off x="3893820" y="280035"/>
            <a:ext cx="7249795" cy="6011545"/>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Architecture globale du framework</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13</a:t>
            </a:r>
            <a:r>
              <a:rPr sz="1000" b="0">
                <a:solidFill>
                  <a:srgbClr val="7A8294"/>
                </a:solidFill>
                <a:latin typeface="Calibri" panose="020F0502020204030204"/>
              </a:rPr>
              <a:t> / 22</a:t>
            </a:r>
            <a:endParaRPr sz="1000" b="0">
              <a:solidFill>
                <a:srgbClr val="7A8294"/>
              </a:solidFill>
              <a:latin typeface="Calibri" panose="020F0502020204030204"/>
            </a:endParaRPr>
          </a:p>
        </p:txBody>
      </p:sp>
      <p:pic>
        <p:nvPicPr>
          <p:cNvPr id="8" name="Picture 7" descr="Architecture-generale.png"/>
          <p:cNvPicPr>
            <a:picLocks noChangeAspect="1"/>
          </p:cNvPicPr>
          <p:nvPr/>
        </p:nvPicPr>
        <p:blipFill>
          <a:blip r:embed="rId3"/>
          <a:stretch>
            <a:fillRect/>
          </a:stretch>
        </p:blipFill>
        <p:spPr>
          <a:xfrm>
            <a:off x="7954645" y="307340"/>
            <a:ext cx="2405380" cy="624332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Architecture d'Axelor Import Studio</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14</a:t>
            </a:r>
            <a:r>
              <a:rPr sz="1000" b="0">
                <a:solidFill>
                  <a:srgbClr val="7A8294"/>
                </a:solidFill>
                <a:latin typeface="Calibri" panose="020F0502020204030204"/>
              </a:rPr>
              <a:t> / 22</a:t>
            </a:r>
            <a:endParaRPr sz="1000" b="0">
              <a:solidFill>
                <a:srgbClr val="7A8294"/>
              </a:solidFill>
              <a:latin typeface="Calibri" panose="020F0502020204030204"/>
            </a:endParaRPr>
          </a:p>
        </p:txBody>
      </p:sp>
      <p:pic>
        <p:nvPicPr>
          <p:cNvPr id="7" name="Picture 6" descr="axelor-mapper-technical-architecture.png"/>
          <p:cNvPicPr>
            <a:picLocks noChangeAspect="1"/>
          </p:cNvPicPr>
          <p:nvPr/>
        </p:nvPicPr>
        <p:blipFill>
          <a:blip r:embed="rId2"/>
          <a:stretch>
            <a:fillRect/>
          </a:stretch>
        </p:blipFill>
        <p:spPr>
          <a:xfrm>
            <a:off x="133985" y="2452870"/>
            <a:ext cx="10400000" cy="1951269"/>
          </a:xfrm>
          <a:prstGeom prst="rect">
            <a:avLst/>
          </a:prstGeom>
        </p:spPr>
      </p:pic>
      <p:pic>
        <p:nvPicPr>
          <p:cNvPr id="8" name="Picture 7" descr="image.png"/>
          <p:cNvPicPr>
            <a:picLocks noChangeAspect="1"/>
          </p:cNvPicPr>
          <p:nvPr/>
        </p:nvPicPr>
        <p:blipFill>
          <a:blip r:embed="rId3"/>
          <a:stretch>
            <a:fillRect/>
          </a:stretch>
        </p:blipFill>
        <p:spPr>
          <a:xfrm>
            <a:off x="9832848" y="2286000"/>
            <a:ext cx="2173224" cy="566928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Les pipelines Apache Hop</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1003407" y="6309360"/>
            <a:ext cx="545465" cy="245110"/>
          </a:xfrm>
          <a:prstGeom prst="rect">
            <a:avLst/>
          </a:prstGeom>
          <a:noFill/>
        </p:spPr>
        <p:txBody>
          <a:bodyPr wrap="none">
            <a:spAutoFit/>
          </a:bodyPr>
          <a:lstStyle/>
          <a:p>
            <a:pPr algn="r"/>
            <a:r>
              <a:rPr lang="fr-FR" sz="1000" b="1">
                <a:solidFill>
                  <a:srgbClr val="1F4E9C"/>
                </a:solidFill>
                <a:latin typeface="Calibri" panose="020F0502020204030204"/>
              </a:rPr>
              <a:t>15</a:t>
            </a:r>
            <a:r>
              <a:rPr sz="1000" b="0">
                <a:solidFill>
                  <a:srgbClr val="7A8294"/>
                </a:solidFill>
                <a:latin typeface="Calibri" panose="020F0502020204030204"/>
              </a:rPr>
              <a:t> / 22</a:t>
            </a:r>
            <a:endParaRPr sz="1000" b="0">
              <a:solidFill>
                <a:srgbClr val="7A8294"/>
              </a:solidFill>
              <a:latin typeface="Calibri" panose="020F0502020204030204"/>
            </a:endParaRPr>
          </a:p>
        </p:txBody>
      </p:sp>
      <p:sp>
        <p:nvSpPr>
          <p:cNvPr id="8" name="TextBox 7"/>
          <p:cNvSpPr txBox="1"/>
          <p:nvPr/>
        </p:nvSpPr>
        <p:spPr>
          <a:xfrm>
            <a:off x="548640" y="1760000"/>
            <a:ext cx="4200000" cy="274320"/>
          </a:xfrm>
          <a:prstGeom prst="rect">
            <a:avLst/>
          </a:prstGeom>
          <a:noFill/>
        </p:spPr>
        <p:txBody>
          <a:bodyPr wrap="square">
            <a:spAutoFit/>
          </a:bodyPr>
          <a:lstStyle/>
          <a:p>
            <a:pPr algn="l"/>
            <a:r>
              <a:rPr sz="1100" b="1" i="0">
                <a:solidFill>
                  <a:srgbClr val="1F4E9C"/>
                </a:solidFill>
                <a:latin typeface="Calibri" panose="020F0502020204030204"/>
              </a:rPr>
              <a:t>4 domaines couverts — 19 pipelines</a:t>
            </a:r>
            <a:endParaRPr sz="1100" b="1" i="0">
              <a:solidFill>
                <a:srgbClr val="1F4E9C"/>
              </a:solidFill>
              <a:latin typeface="Calibri" panose="020F0502020204030204"/>
            </a:endParaRPr>
          </a:p>
        </p:txBody>
      </p:sp>
      <p:sp>
        <p:nvSpPr>
          <p:cNvPr id="9" name="Rectangle 8"/>
          <p:cNvSpPr/>
          <p:nvPr/>
        </p:nvSpPr>
        <p:spPr>
          <a:xfrm>
            <a:off x="548640" y="214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8640" y="2080000"/>
            <a:ext cx="4080000" cy="280000"/>
          </a:xfrm>
          <a:prstGeom prst="rect">
            <a:avLst/>
          </a:prstGeom>
          <a:noFill/>
        </p:spPr>
        <p:txBody>
          <a:bodyPr wrap="square">
            <a:spAutoFit/>
          </a:bodyPr>
          <a:lstStyle/>
          <a:p>
            <a:pPr algn="l"/>
            <a:r>
              <a:rPr sz="1000" b="1" i="0">
                <a:solidFill>
                  <a:srgbClr val="12203F"/>
                </a:solidFill>
                <a:latin typeface="Calibri" panose="020F0502020204030204"/>
              </a:rPr>
              <a:t>Produits</a:t>
            </a:r>
            <a:endParaRPr sz="1000" b="1" i="0">
              <a:solidFill>
                <a:srgbClr val="12203F"/>
              </a:solidFill>
              <a:latin typeface="Calibri" panose="020F0502020204030204"/>
            </a:endParaRPr>
          </a:p>
        </p:txBody>
      </p:sp>
      <p:sp>
        <p:nvSpPr>
          <p:cNvPr id="11" name="TextBox 10"/>
          <p:cNvSpPr txBox="1"/>
          <p:nvPr/>
        </p:nvSpPr>
        <p:spPr>
          <a:xfrm>
            <a:off x="668640" y="2370000"/>
            <a:ext cx="4080000" cy="240000"/>
          </a:xfrm>
          <a:prstGeom prst="rect">
            <a:avLst/>
          </a:prstGeom>
          <a:noFill/>
        </p:spPr>
        <p:txBody>
          <a:bodyPr wrap="square">
            <a:spAutoFit/>
          </a:bodyPr>
          <a:lstStyle/>
          <a:p>
            <a:pPr algn="l"/>
            <a:r>
              <a:rPr sz="900" b="0" i="0">
                <a:solidFill>
                  <a:srgbClr val="7A8294"/>
                </a:solidFill>
                <a:latin typeface="Calibri" panose="020F0502020204030204"/>
              </a:rPr>
              <a:t>4 pipelines + 1 workflow</a:t>
            </a:r>
            <a:endParaRPr sz="900" b="0" i="0">
              <a:solidFill>
                <a:srgbClr val="7A8294"/>
              </a:solidFill>
              <a:latin typeface="Calibri" panose="020F0502020204030204"/>
            </a:endParaRPr>
          </a:p>
        </p:txBody>
      </p:sp>
      <p:sp>
        <p:nvSpPr>
          <p:cNvPr id="12" name="Rectangle 11"/>
          <p:cNvSpPr/>
          <p:nvPr/>
        </p:nvSpPr>
        <p:spPr>
          <a:xfrm>
            <a:off x="548640" y="276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8640" y="2700000"/>
            <a:ext cx="4080000" cy="280000"/>
          </a:xfrm>
          <a:prstGeom prst="rect">
            <a:avLst/>
          </a:prstGeom>
          <a:noFill/>
        </p:spPr>
        <p:txBody>
          <a:bodyPr wrap="square">
            <a:spAutoFit/>
          </a:bodyPr>
          <a:lstStyle/>
          <a:p>
            <a:pPr algn="l"/>
            <a:r>
              <a:rPr sz="1000" b="1" i="0">
                <a:solidFill>
                  <a:srgbClr val="12203F"/>
                </a:solidFill>
                <a:latin typeface="Calibri" panose="020F0502020204030204"/>
              </a:rPr>
              <a:t>Partenaires</a:t>
            </a:r>
            <a:endParaRPr sz="1000" b="1" i="0">
              <a:solidFill>
                <a:srgbClr val="12203F"/>
              </a:solidFill>
              <a:latin typeface="Calibri" panose="020F0502020204030204"/>
            </a:endParaRPr>
          </a:p>
        </p:txBody>
      </p:sp>
      <p:sp>
        <p:nvSpPr>
          <p:cNvPr id="14" name="TextBox 13"/>
          <p:cNvSpPr txBox="1"/>
          <p:nvPr/>
        </p:nvSpPr>
        <p:spPr>
          <a:xfrm>
            <a:off x="668640" y="2990000"/>
            <a:ext cx="4080000" cy="240000"/>
          </a:xfrm>
          <a:prstGeom prst="rect">
            <a:avLst/>
          </a:prstGeom>
          <a:noFill/>
        </p:spPr>
        <p:txBody>
          <a:bodyPr wrap="square">
            <a:spAutoFit/>
          </a:bodyPr>
          <a:lstStyle/>
          <a:p>
            <a:pPr algn="l"/>
            <a:r>
              <a:rPr sz="900" b="0" i="0">
                <a:solidFill>
                  <a:srgbClr val="7A8294"/>
                </a:solidFill>
                <a:latin typeface="Calibri" panose="020F0502020204030204"/>
              </a:rPr>
              <a:t>6 pipelines + 1 workflow</a:t>
            </a:r>
            <a:endParaRPr sz="900" b="0" i="0">
              <a:solidFill>
                <a:srgbClr val="7A8294"/>
              </a:solidFill>
              <a:latin typeface="Calibri" panose="020F0502020204030204"/>
            </a:endParaRPr>
          </a:p>
        </p:txBody>
      </p:sp>
      <p:sp>
        <p:nvSpPr>
          <p:cNvPr id="15" name="Rectangle 14"/>
          <p:cNvSpPr/>
          <p:nvPr/>
        </p:nvSpPr>
        <p:spPr>
          <a:xfrm>
            <a:off x="548640" y="338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8640" y="3320000"/>
            <a:ext cx="4080000" cy="280000"/>
          </a:xfrm>
          <a:prstGeom prst="rect">
            <a:avLst/>
          </a:prstGeom>
          <a:noFill/>
        </p:spPr>
        <p:txBody>
          <a:bodyPr wrap="square">
            <a:spAutoFit/>
          </a:bodyPr>
          <a:lstStyle/>
          <a:p>
            <a:pPr algn="l"/>
            <a:r>
              <a:rPr sz="1000" b="1" i="0">
                <a:solidFill>
                  <a:srgbClr val="12203F"/>
                </a:solidFill>
                <a:latin typeface="Calibri" panose="020F0502020204030204"/>
              </a:rPr>
              <a:t>Commandes de vente</a:t>
            </a:r>
            <a:endParaRPr sz="1000" b="1" i="0">
              <a:solidFill>
                <a:srgbClr val="12203F"/>
              </a:solidFill>
              <a:latin typeface="Calibri" panose="020F0502020204030204"/>
            </a:endParaRPr>
          </a:p>
        </p:txBody>
      </p:sp>
      <p:sp>
        <p:nvSpPr>
          <p:cNvPr id="17" name="TextBox 16"/>
          <p:cNvSpPr txBox="1"/>
          <p:nvPr/>
        </p:nvSpPr>
        <p:spPr>
          <a:xfrm>
            <a:off x="668640" y="3610000"/>
            <a:ext cx="4080000" cy="240000"/>
          </a:xfrm>
          <a:prstGeom prst="rect">
            <a:avLst/>
          </a:prstGeom>
          <a:noFill/>
        </p:spPr>
        <p:txBody>
          <a:bodyPr wrap="square">
            <a:spAutoFit/>
          </a:bodyPr>
          <a:lstStyle/>
          <a:p>
            <a:pPr algn="l"/>
            <a:r>
              <a:rPr sz="900" b="0" i="0">
                <a:solidFill>
                  <a:srgbClr val="7A8294"/>
                </a:solidFill>
                <a:latin typeface="Calibri" panose="020F0502020204030204"/>
              </a:rPr>
              <a:t>4 pipelines + 1 workflow</a:t>
            </a:r>
            <a:endParaRPr sz="900" b="0" i="0">
              <a:solidFill>
                <a:srgbClr val="7A8294"/>
              </a:solidFill>
              <a:latin typeface="Calibri" panose="020F0502020204030204"/>
            </a:endParaRPr>
          </a:p>
        </p:txBody>
      </p:sp>
      <p:sp>
        <p:nvSpPr>
          <p:cNvPr id="18" name="Rectangle 17"/>
          <p:cNvSpPr/>
          <p:nvPr/>
        </p:nvSpPr>
        <p:spPr>
          <a:xfrm>
            <a:off x="548640" y="400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8640" y="3940000"/>
            <a:ext cx="4080000" cy="280000"/>
          </a:xfrm>
          <a:prstGeom prst="rect">
            <a:avLst/>
          </a:prstGeom>
          <a:noFill/>
        </p:spPr>
        <p:txBody>
          <a:bodyPr wrap="square">
            <a:spAutoFit/>
          </a:bodyPr>
          <a:lstStyle/>
          <a:p>
            <a:pPr algn="l"/>
            <a:r>
              <a:rPr sz="1000" b="1" i="0">
                <a:solidFill>
                  <a:srgbClr val="12203F"/>
                </a:solidFill>
                <a:latin typeface="Calibri" panose="020F0502020204030204"/>
              </a:rPr>
              <a:t>Factures</a:t>
            </a:r>
            <a:endParaRPr sz="1000" b="1" i="0">
              <a:solidFill>
                <a:srgbClr val="12203F"/>
              </a:solidFill>
              <a:latin typeface="Calibri" panose="020F0502020204030204"/>
            </a:endParaRPr>
          </a:p>
        </p:txBody>
      </p:sp>
      <p:sp>
        <p:nvSpPr>
          <p:cNvPr id="20" name="TextBox 19"/>
          <p:cNvSpPr txBox="1"/>
          <p:nvPr/>
        </p:nvSpPr>
        <p:spPr>
          <a:xfrm>
            <a:off x="668640" y="4230000"/>
            <a:ext cx="4080000" cy="240000"/>
          </a:xfrm>
          <a:prstGeom prst="rect">
            <a:avLst/>
          </a:prstGeom>
          <a:noFill/>
        </p:spPr>
        <p:txBody>
          <a:bodyPr wrap="square">
            <a:spAutoFit/>
          </a:bodyPr>
          <a:lstStyle/>
          <a:p>
            <a:pPr algn="l"/>
            <a:r>
              <a:rPr sz="900" b="0" i="0">
                <a:solidFill>
                  <a:srgbClr val="7A8294"/>
                </a:solidFill>
                <a:latin typeface="Calibri" panose="020F0502020204030204"/>
              </a:rPr>
              <a:t>6 pipelines + 1 workflow</a:t>
            </a:r>
            <a:endParaRPr sz="900" b="0" i="0">
              <a:solidFill>
                <a:srgbClr val="7A8294"/>
              </a:solidFill>
              <a:latin typeface="Calibri" panose="020F0502020204030204"/>
            </a:endParaRPr>
          </a:p>
        </p:txBody>
      </p:sp>
      <p:sp>
        <p:nvSpPr>
          <p:cNvPr id="21" name="TextBox 20"/>
          <p:cNvSpPr txBox="1"/>
          <p:nvPr/>
        </p:nvSpPr>
        <p:spPr>
          <a:xfrm>
            <a:off x="5148640" y="1760000"/>
            <a:ext cx="4200000" cy="274320"/>
          </a:xfrm>
          <a:prstGeom prst="rect">
            <a:avLst/>
          </a:prstGeom>
          <a:noFill/>
        </p:spPr>
        <p:txBody>
          <a:bodyPr wrap="square">
            <a:spAutoFit/>
          </a:bodyPr>
          <a:lstStyle/>
          <a:p>
            <a:pPr algn="l"/>
            <a:r>
              <a:rPr sz="1100" b="1" i="0">
                <a:solidFill>
                  <a:srgbClr val="1F4E9C"/>
                </a:solidFill>
                <a:latin typeface="Calibri" panose="020F0502020204030204"/>
              </a:rPr>
              <a:t>3 patterns standardisés</a:t>
            </a:r>
            <a:endParaRPr sz="1100" b="1" i="0">
              <a:solidFill>
                <a:srgbClr val="1F4E9C"/>
              </a:solidFill>
              <a:latin typeface="Calibri" panose="020F0502020204030204"/>
            </a:endParaRPr>
          </a:p>
        </p:txBody>
      </p:sp>
      <p:sp>
        <p:nvSpPr>
          <p:cNvPr id="22" name="Rectangle 21"/>
          <p:cNvSpPr/>
          <p:nvPr/>
        </p:nvSpPr>
        <p:spPr>
          <a:xfrm>
            <a:off x="5148640" y="214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268640" y="2080000"/>
            <a:ext cx="4080000" cy="280000"/>
          </a:xfrm>
          <a:prstGeom prst="rect">
            <a:avLst/>
          </a:prstGeom>
          <a:noFill/>
        </p:spPr>
        <p:txBody>
          <a:bodyPr wrap="square">
            <a:spAutoFit/>
          </a:bodyPr>
          <a:lstStyle/>
          <a:p>
            <a:pPr algn="l"/>
            <a:r>
              <a:rPr sz="1000" b="1" i="0">
                <a:solidFill>
                  <a:srgbClr val="12203F"/>
                </a:solidFill>
                <a:latin typeface="Calibri" panose="020F0502020204030204"/>
              </a:rPr>
              <a:t>Upsert</a:t>
            </a:r>
            <a:endParaRPr sz="1000" b="1" i="0">
              <a:solidFill>
                <a:srgbClr val="12203F"/>
              </a:solidFill>
              <a:latin typeface="Calibri" panose="020F0502020204030204"/>
            </a:endParaRPr>
          </a:p>
        </p:txBody>
      </p:sp>
      <p:sp>
        <p:nvSpPr>
          <p:cNvPr id="24" name="TextBox 23"/>
          <p:cNvSpPr txBox="1"/>
          <p:nvPr/>
        </p:nvSpPr>
        <p:spPr>
          <a:xfrm>
            <a:off x="5268640" y="2370000"/>
            <a:ext cx="4080000" cy="280000"/>
          </a:xfrm>
          <a:prstGeom prst="rect">
            <a:avLst/>
          </a:prstGeom>
          <a:noFill/>
        </p:spPr>
        <p:txBody>
          <a:bodyPr wrap="square">
            <a:spAutoFit/>
          </a:bodyPr>
          <a:lstStyle/>
          <a:p>
            <a:pPr algn="l"/>
            <a:r>
              <a:rPr sz="900" b="0" i="0">
                <a:solidFill>
                  <a:srgbClr val="7A8294"/>
                </a:solidFill>
                <a:latin typeface="Calibri" panose="020F0502020204030204"/>
              </a:rPr>
              <a:t>Insert ou Update selon import_id — garantit l'idempotence</a:t>
            </a:r>
            <a:endParaRPr sz="900" b="0" i="0">
              <a:solidFill>
                <a:srgbClr val="7A8294"/>
              </a:solidFill>
              <a:latin typeface="Calibri" panose="020F0502020204030204"/>
            </a:endParaRPr>
          </a:p>
        </p:txBody>
      </p:sp>
      <p:sp>
        <p:nvSpPr>
          <p:cNvPr id="25" name="Rectangle 24"/>
          <p:cNvSpPr/>
          <p:nvPr/>
        </p:nvSpPr>
        <p:spPr>
          <a:xfrm>
            <a:off x="5148640" y="276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268640" y="2700000"/>
            <a:ext cx="4080000" cy="280000"/>
          </a:xfrm>
          <a:prstGeom prst="rect">
            <a:avLst/>
          </a:prstGeom>
          <a:noFill/>
        </p:spPr>
        <p:txBody>
          <a:bodyPr wrap="square">
            <a:spAutoFit/>
          </a:bodyPr>
          <a:lstStyle/>
          <a:p>
            <a:pPr algn="l"/>
            <a:r>
              <a:rPr sz="1000" b="1" i="0">
                <a:solidFill>
                  <a:srgbClr val="12203F"/>
                </a:solidFill>
                <a:latin typeface="Calibri" panose="020F0502020204030204"/>
              </a:rPr>
              <a:t>Junction M2M</a:t>
            </a:r>
            <a:endParaRPr sz="1000" b="1" i="0">
              <a:solidFill>
                <a:srgbClr val="12203F"/>
              </a:solidFill>
              <a:latin typeface="Calibri" panose="020F0502020204030204"/>
            </a:endParaRPr>
          </a:p>
        </p:txBody>
      </p:sp>
      <p:sp>
        <p:nvSpPr>
          <p:cNvPr id="27" name="TextBox 26"/>
          <p:cNvSpPr txBox="1"/>
          <p:nvPr/>
        </p:nvSpPr>
        <p:spPr>
          <a:xfrm>
            <a:off x="5268640" y="2990000"/>
            <a:ext cx="4080000" cy="280000"/>
          </a:xfrm>
          <a:prstGeom prst="rect">
            <a:avLst/>
          </a:prstGeom>
          <a:noFill/>
        </p:spPr>
        <p:txBody>
          <a:bodyPr wrap="square">
            <a:spAutoFit/>
          </a:bodyPr>
          <a:lstStyle/>
          <a:p>
            <a:pPr algn="l"/>
            <a:r>
              <a:rPr sz="900" b="0" i="0">
                <a:solidFill>
                  <a:srgbClr val="7A8294"/>
                </a:solidFill>
                <a:latin typeface="Calibri" panose="020F0502020204030204"/>
              </a:rPr>
              <a:t>Peuplement des tables de jonction Many-to-Many</a:t>
            </a:r>
            <a:endParaRPr sz="900" b="0" i="0">
              <a:solidFill>
                <a:srgbClr val="7A8294"/>
              </a:solidFill>
              <a:latin typeface="Calibri" panose="020F0502020204030204"/>
            </a:endParaRPr>
          </a:p>
        </p:txBody>
      </p:sp>
      <p:sp>
        <p:nvSpPr>
          <p:cNvPr id="28" name="Rectangle 27"/>
          <p:cNvSpPr/>
          <p:nvPr/>
        </p:nvSpPr>
        <p:spPr>
          <a:xfrm>
            <a:off x="5148640" y="338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68640" y="3320000"/>
            <a:ext cx="4080000" cy="280000"/>
          </a:xfrm>
          <a:prstGeom prst="rect">
            <a:avLst/>
          </a:prstGeom>
          <a:noFill/>
        </p:spPr>
        <p:txBody>
          <a:bodyPr wrap="square">
            <a:spAutoFit/>
          </a:bodyPr>
          <a:lstStyle/>
          <a:p>
            <a:pPr algn="l"/>
            <a:r>
              <a:rPr sz="1000" b="1" i="0">
                <a:solidFill>
                  <a:srgbClr val="12203F"/>
                </a:solidFill>
                <a:latin typeface="Calibri" panose="020F0502020204030204"/>
              </a:rPr>
              <a:t>Post-SQL</a:t>
            </a:r>
            <a:endParaRPr sz="1000" b="1" i="0">
              <a:solidFill>
                <a:srgbClr val="12203F"/>
              </a:solidFill>
              <a:latin typeface="Calibri" panose="020F0502020204030204"/>
            </a:endParaRPr>
          </a:p>
        </p:txBody>
      </p:sp>
      <p:sp>
        <p:nvSpPr>
          <p:cNvPr id="30" name="TextBox 29"/>
          <p:cNvSpPr txBox="1"/>
          <p:nvPr/>
        </p:nvSpPr>
        <p:spPr>
          <a:xfrm>
            <a:off x="5268640" y="3610000"/>
            <a:ext cx="4080000" cy="280000"/>
          </a:xfrm>
          <a:prstGeom prst="rect">
            <a:avLst/>
          </a:prstGeom>
          <a:noFill/>
        </p:spPr>
        <p:txBody>
          <a:bodyPr wrap="square">
            <a:spAutoFit/>
          </a:bodyPr>
          <a:lstStyle/>
          <a:p>
            <a:pPr algn="l"/>
            <a:r>
              <a:rPr sz="900" b="0" i="0">
                <a:solidFill>
                  <a:srgbClr val="7A8294"/>
                </a:solidFill>
                <a:latin typeface="Calibri" panose="020F0502020204030204"/>
              </a:rPr>
              <a:t>Séquences, champs dérivés et totaux calculés après injection</a:t>
            </a:r>
            <a:endParaRPr sz="900" b="0" i="0">
              <a:solidFill>
                <a:srgbClr val="7A8294"/>
              </a:solidFill>
              <a:latin typeface="Calibri" panose="020F0502020204030204"/>
            </a:endParaRPr>
          </a:p>
        </p:txBody>
      </p:sp>
      <p:sp>
        <p:nvSpPr>
          <p:cNvPr id="31" name="Rectangle 30"/>
          <p:cNvSpPr/>
          <p:nvPr/>
        </p:nvSpPr>
        <p:spPr>
          <a:xfrm>
            <a:off x="548640" y="4620000"/>
            <a:ext cx="8900000" cy="3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 y="4700000"/>
            <a:ext cx="8900000" cy="274320"/>
          </a:xfrm>
          <a:prstGeom prst="rect">
            <a:avLst/>
          </a:prstGeom>
          <a:noFill/>
        </p:spPr>
        <p:txBody>
          <a:bodyPr wrap="square">
            <a:spAutoFit/>
          </a:bodyPr>
          <a:lstStyle/>
          <a:p>
            <a:pPr algn="l"/>
            <a:r>
              <a:rPr sz="900" b="0" i="1">
                <a:solidFill>
                  <a:srgbClr val="2A3142"/>
                </a:solidFill>
                <a:latin typeface="Calibri" panose="020F0502020204030204"/>
              </a:rPr>
              <a:t>Architecture 2 étapes : consolidation (résolution FK + transformations)  →  injection (upsert PostgreSQL)</a:t>
            </a:r>
            <a:endParaRPr sz="900" b="0" i="1">
              <a:solidFill>
                <a:srgbClr val="2A3142"/>
              </a:solidFill>
              <a:latin typeface="Calibri" panose="020F0502020204030204"/>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Les 3 skills Claude Code</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1003407" y="6309360"/>
            <a:ext cx="545465" cy="245110"/>
          </a:xfrm>
          <a:prstGeom prst="rect">
            <a:avLst/>
          </a:prstGeom>
          <a:noFill/>
        </p:spPr>
        <p:txBody>
          <a:bodyPr wrap="none">
            <a:spAutoFit/>
          </a:bodyPr>
          <a:lstStyle/>
          <a:p>
            <a:pPr algn="r"/>
            <a:r>
              <a:rPr lang="fr-FR" sz="1000" b="1">
                <a:solidFill>
                  <a:srgbClr val="1F4E9C"/>
                </a:solidFill>
                <a:latin typeface="Calibri" panose="020F0502020204030204"/>
              </a:rPr>
              <a:t>16</a:t>
            </a:r>
            <a:r>
              <a:rPr sz="1000" b="0">
                <a:solidFill>
                  <a:srgbClr val="7A8294"/>
                </a:solidFill>
                <a:latin typeface="Calibri" panose="020F0502020204030204"/>
              </a:rPr>
              <a:t> / 22</a:t>
            </a:r>
            <a:endParaRPr sz="1000" b="0">
              <a:solidFill>
                <a:srgbClr val="7A8294"/>
              </a:solidFill>
              <a:latin typeface="Calibri" panose="020F0502020204030204"/>
            </a:endParaRPr>
          </a:p>
        </p:txBody>
      </p:sp>
      <p:sp>
        <p:nvSpPr>
          <p:cNvPr id="8" name="Rounded Rectangle 7"/>
          <p:cNvSpPr/>
          <p:nvPr/>
        </p:nvSpPr>
        <p:spPr>
          <a:xfrm>
            <a:off x="568960" y="1526320"/>
            <a:ext cx="1300000" cy="1420000"/>
          </a:xfrm>
          <a:prstGeom prst="roundRect">
            <a:avLst/>
          </a:prstGeom>
          <a:solidFill>
            <a:srgbClr val="F5F5F5"/>
          </a:solidFill>
          <a:ln w="19050">
            <a:solidFill>
              <a:srgbClr val="7A829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00" b="0">
                <a:solidFill>
                  <a:srgbClr val="12203F"/>
                </a:solidFill>
                <a:latin typeface="Calibri" panose="020F0502020204030204"/>
              </a:rPr>
              <a:t>CSV source</a:t>
            </a:r>
            <a:endParaRPr sz="800" b="0">
              <a:solidFill>
                <a:srgbClr val="12203F"/>
              </a:solidFill>
              <a:latin typeface="Calibri" panose="020F0502020204030204"/>
            </a:endParaRPr>
          </a:p>
          <a:p>
            <a:pPr algn="ctr"/>
            <a:r>
              <a:rPr sz="800" b="0">
                <a:solidFill>
                  <a:srgbClr val="12203F"/>
                </a:solidFill>
                <a:latin typeface="Calibri" panose="020F0502020204030204"/>
              </a:rPr>
              <a:t>Schéma PostgreSQL</a:t>
            </a:r>
            <a:endParaRPr sz="800" b="0">
              <a:solidFill>
                <a:srgbClr val="12203F"/>
              </a:solidFill>
              <a:latin typeface="Calibri" panose="020F0502020204030204"/>
            </a:endParaRPr>
          </a:p>
        </p:txBody>
      </p:sp>
      <p:sp>
        <p:nvSpPr>
          <p:cNvPr id="9" name="TextBox 8"/>
          <p:cNvSpPr txBox="1"/>
          <p:nvPr/>
        </p:nvSpPr>
        <p:spPr>
          <a:xfrm>
            <a:off x="1898960" y="2086320"/>
            <a:ext cx="200000" cy="300000"/>
          </a:xfrm>
          <a:prstGeom prst="rect">
            <a:avLst/>
          </a:prstGeom>
          <a:noFill/>
        </p:spPr>
        <p:txBody>
          <a:bodyPr wrap="square">
            <a:spAutoFit/>
          </a:bodyPr>
          <a:lstStyle/>
          <a:p>
            <a:pPr algn="ctr"/>
            <a:r>
              <a:rPr sz="1400" b="1" i="0">
                <a:solidFill>
                  <a:srgbClr val="1F4E9C"/>
                </a:solidFill>
                <a:latin typeface="Calibri" panose="020F0502020204030204"/>
              </a:rPr>
              <a:t>&gt;</a:t>
            </a:r>
            <a:endParaRPr sz="1400" b="1" i="0">
              <a:solidFill>
                <a:srgbClr val="1F4E9C"/>
              </a:solidFill>
              <a:latin typeface="Calibri" panose="020F0502020204030204"/>
            </a:endParaRPr>
          </a:p>
        </p:txBody>
      </p:sp>
      <p:sp>
        <p:nvSpPr>
          <p:cNvPr id="10" name="Rounded Rectangle 9"/>
          <p:cNvSpPr/>
          <p:nvPr/>
        </p:nvSpPr>
        <p:spPr>
          <a:xfrm>
            <a:off x="2128960" y="1526320"/>
            <a:ext cx="2000000" cy="14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rgbClr val="12203F"/>
                </a:solidFill>
                <a:latin typeface="Calibri" panose="020F0502020204030204"/>
              </a:rPr>
              <a:t>analyze-and-map-entity</a:t>
            </a:r>
            <a:endParaRPr sz="900" b="1">
              <a:solidFill>
                <a:srgbClr val="12203F"/>
              </a:solidFill>
              <a:latin typeface="Calibri" panose="020F0502020204030204"/>
            </a:endParaRPr>
          </a:p>
        </p:txBody>
      </p:sp>
      <p:sp>
        <p:nvSpPr>
          <p:cNvPr id="11" name="TextBox 10"/>
          <p:cNvSpPr txBox="1"/>
          <p:nvPr/>
        </p:nvSpPr>
        <p:spPr>
          <a:xfrm>
            <a:off x="4158960" y="2086320"/>
            <a:ext cx="200000" cy="300000"/>
          </a:xfrm>
          <a:prstGeom prst="rect">
            <a:avLst/>
          </a:prstGeom>
          <a:noFill/>
        </p:spPr>
        <p:txBody>
          <a:bodyPr wrap="square">
            <a:spAutoFit/>
          </a:bodyPr>
          <a:lstStyle/>
          <a:p>
            <a:pPr algn="ctr"/>
            <a:r>
              <a:rPr sz="1400" b="1" i="0">
                <a:solidFill>
                  <a:srgbClr val="1F4E9C"/>
                </a:solidFill>
                <a:latin typeface="Calibri" panose="020F0502020204030204"/>
              </a:rPr>
              <a:t>&gt;</a:t>
            </a:r>
            <a:endParaRPr sz="1400" b="1" i="0">
              <a:solidFill>
                <a:srgbClr val="1F4E9C"/>
              </a:solidFill>
              <a:latin typeface="Calibri" panose="020F0502020204030204"/>
            </a:endParaRPr>
          </a:p>
        </p:txBody>
      </p:sp>
      <p:sp>
        <p:nvSpPr>
          <p:cNvPr id="12" name="Rounded Rectangle 11"/>
          <p:cNvSpPr/>
          <p:nvPr/>
        </p:nvSpPr>
        <p:spPr>
          <a:xfrm>
            <a:off x="4388960" y="1526320"/>
            <a:ext cx="1700000" cy="1420000"/>
          </a:xfrm>
          <a:prstGeom prst="roundRect">
            <a:avLst/>
          </a:prstGeom>
          <a:solidFill>
            <a:srgbClr val="E8F5E9"/>
          </a:solidFill>
          <a:ln w="19050">
            <a:solidFill>
              <a:srgbClr val="1F7A3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00" b="0">
                <a:solidFill>
                  <a:srgbClr val="12203F"/>
                </a:solidFill>
                <a:latin typeface="Calibri" panose="020F0502020204030204"/>
              </a:rPr>
              <a:t>Manifeste JSON</a:t>
            </a:r>
            <a:endParaRPr sz="800" b="0">
              <a:solidFill>
                <a:srgbClr val="12203F"/>
              </a:solidFill>
              <a:latin typeface="Calibri" panose="020F0502020204030204"/>
            </a:endParaRPr>
          </a:p>
        </p:txBody>
      </p:sp>
      <p:sp>
        <p:nvSpPr>
          <p:cNvPr id="13" name="TextBox 12"/>
          <p:cNvSpPr txBox="1"/>
          <p:nvPr/>
        </p:nvSpPr>
        <p:spPr>
          <a:xfrm>
            <a:off x="6268640" y="1860000"/>
            <a:ext cx="3480000" cy="320000"/>
          </a:xfrm>
          <a:prstGeom prst="rect">
            <a:avLst/>
          </a:prstGeom>
          <a:noFill/>
        </p:spPr>
        <p:txBody>
          <a:bodyPr wrap="square">
            <a:spAutoFit/>
          </a:bodyPr>
          <a:lstStyle/>
          <a:p>
            <a:pPr algn="l"/>
            <a:r>
              <a:rPr sz="850" b="0" i="0">
                <a:solidFill>
                  <a:srgbClr val="7A8294"/>
                </a:solidFill>
                <a:latin typeface="Calibri" panose="020F0502020204030204"/>
              </a:rPr>
              <a:t>Lit le CSV, introspècte la BD,</a:t>
            </a:r>
            <a:endParaRPr sz="850" b="0" i="0">
              <a:solidFill>
                <a:srgbClr val="7A8294"/>
              </a:solidFill>
              <a:latin typeface="Calibri" panose="020F0502020204030204"/>
            </a:endParaRPr>
          </a:p>
        </p:txBody>
      </p:sp>
      <p:sp>
        <p:nvSpPr>
          <p:cNvPr id="14" name="TextBox 13"/>
          <p:cNvSpPr txBox="1"/>
          <p:nvPr/>
        </p:nvSpPr>
        <p:spPr>
          <a:xfrm>
            <a:off x="6268640" y="2200000"/>
            <a:ext cx="3480000" cy="320000"/>
          </a:xfrm>
          <a:prstGeom prst="rect">
            <a:avLst/>
          </a:prstGeom>
          <a:noFill/>
        </p:spPr>
        <p:txBody>
          <a:bodyPr wrap="square">
            <a:spAutoFit/>
          </a:bodyPr>
          <a:lstStyle/>
          <a:p>
            <a:pPr algn="l"/>
            <a:r>
              <a:rPr sz="850" b="0" i="0">
                <a:solidFill>
                  <a:srgbClr val="7A8294"/>
                </a:solidFill>
                <a:latin typeface="Calibri" panose="020F0502020204030204"/>
              </a:rPr>
              <a:t>résout les FK interactivement</a:t>
            </a:r>
            <a:endParaRPr sz="850" b="0" i="0">
              <a:solidFill>
                <a:srgbClr val="7A8294"/>
              </a:solidFill>
              <a:latin typeface="Calibri" panose="020F0502020204030204"/>
            </a:endParaRPr>
          </a:p>
        </p:txBody>
      </p:sp>
      <p:sp>
        <p:nvSpPr>
          <p:cNvPr id="15" name="TextBox 14"/>
          <p:cNvSpPr txBox="1"/>
          <p:nvPr/>
        </p:nvSpPr>
        <p:spPr>
          <a:xfrm>
            <a:off x="6268640" y="2540000"/>
            <a:ext cx="3480000" cy="320000"/>
          </a:xfrm>
          <a:prstGeom prst="rect">
            <a:avLst/>
          </a:prstGeom>
          <a:noFill/>
        </p:spPr>
        <p:txBody>
          <a:bodyPr wrap="square">
            <a:spAutoFit/>
          </a:bodyPr>
          <a:lstStyle/>
          <a:p>
            <a:pPr algn="l"/>
            <a:r>
              <a:rPr sz="850" b="0" i="0">
                <a:solidFill>
                  <a:srgbClr val="7A8294"/>
                </a:solidFill>
                <a:latin typeface="Calibri" panose="020F0502020204030204"/>
              </a:rPr>
              <a:t>avec le consultant</a:t>
            </a:r>
            <a:endParaRPr sz="850" b="0" i="0">
              <a:solidFill>
                <a:srgbClr val="7A8294"/>
              </a:solidFill>
              <a:latin typeface="Calibri" panose="020F0502020204030204"/>
            </a:endParaRPr>
          </a:p>
        </p:txBody>
      </p:sp>
      <p:sp>
        <p:nvSpPr>
          <p:cNvPr id="16" name="Rounded Rectangle 15"/>
          <p:cNvSpPr/>
          <p:nvPr/>
        </p:nvSpPr>
        <p:spPr>
          <a:xfrm>
            <a:off x="568960" y="3166320"/>
            <a:ext cx="1300000" cy="1420000"/>
          </a:xfrm>
          <a:prstGeom prst="roundRect">
            <a:avLst/>
          </a:prstGeom>
          <a:solidFill>
            <a:srgbClr val="F5F5F5"/>
          </a:solidFill>
          <a:ln w="19050">
            <a:solidFill>
              <a:srgbClr val="7A829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00" b="0">
                <a:solidFill>
                  <a:srgbClr val="12203F"/>
                </a:solidFill>
                <a:latin typeface="Calibri" panose="020F0502020204030204"/>
              </a:rPr>
              <a:t>Manifeste JSON</a:t>
            </a:r>
            <a:endParaRPr sz="800" b="0">
              <a:solidFill>
                <a:srgbClr val="12203F"/>
              </a:solidFill>
              <a:latin typeface="Calibri" panose="020F0502020204030204"/>
            </a:endParaRPr>
          </a:p>
        </p:txBody>
      </p:sp>
      <p:sp>
        <p:nvSpPr>
          <p:cNvPr id="17" name="TextBox 16"/>
          <p:cNvSpPr txBox="1"/>
          <p:nvPr/>
        </p:nvSpPr>
        <p:spPr>
          <a:xfrm>
            <a:off x="1898960" y="3726320"/>
            <a:ext cx="200000" cy="300000"/>
          </a:xfrm>
          <a:prstGeom prst="rect">
            <a:avLst/>
          </a:prstGeom>
          <a:noFill/>
        </p:spPr>
        <p:txBody>
          <a:bodyPr wrap="square">
            <a:spAutoFit/>
          </a:bodyPr>
          <a:lstStyle/>
          <a:p>
            <a:pPr algn="ctr"/>
            <a:r>
              <a:rPr sz="1400" b="1" i="0">
                <a:solidFill>
                  <a:srgbClr val="1F4E9C"/>
                </a:solidFill>
                <a:latin typeface="Calibri" panose="020F0502020204030204"/>
              </a:rPr>
              <a:t>&gt;</a:t>
            </a:r>
            <a:endParaRPr sz="1400" b="1" i="0">
              <a:solidFill>
                <a:srgbClr val="1F4E9C"/>
              </a:solidFill>
              <a:latin typeface="Calibri" panose="020F0502020204030204"/>
            </a:endParaRPr>
          </a:p>
        </p:txBody>
      </p:sp>
      <p:sp>
        <p:nvSpPr>
          <p:cNvPr id="18" name="Rounded Rectangle 17"/>
          <p:cNvSpPr/>
          <p:nvPr/>
        </p:nvSpPr>
        <p:spPr>
          <a:xfrm>
            <a:off x="2128960" y="3166320"/>
            <a:ext cx="2000000" cy="14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rgbClr val="12203F"/>
                </a:solidFill>
                <a:latin typeface="Calibri" panose="020F0502020204030204"/>
              </a:rPr>
              <a:t>generate-pipeline</a:t>
            </a:r>
            <a:endParaRPr sz="900" b="1">
              <a:solidFill>
                <a:srgbClr val="12203F"/>
              </a:solidFill>
              <a:latin typeface="Calibri" panose="020F0502020204030204"/>
            </a:endParaRPr>
          </a:p>
        </p:txBody>
      </p:sp>
      <p:sp>
        <p:nvSpPr>
          <p:cNvPr id="19" name="TextBox 18"/>
          <p:cNvSpPr txBox="1"/>
          <p:nvPr/>
        </p:nvSpPr>
        <p:spPr>
          <a:xfrm>
            <a:off x="4158960" y="3726320"/>
            <a:ext cx="200000" cy="300000"/>
          </a:xfrm>
          <a:prstGeom prst="rect">
            <a:avLst/>
          </a:prstGeom>
          <a:noFill/>
        </p:spPr>
        <p:txBody>
          <a:bodyPr wrap="square">
            <a:spAutoFit/>
          </a:bodyPr>
          <a:lstStyle/>
          <a:p>
            <a:pPr algn="ctr"/>
            <a:r>
              <a:rPr sz="1400" b="1" i="0">
                <a:solidFill>
                  <a:srgbClr val="1F4E9C"/>
                </a:solidFill>
                <a:latin typeface="Calibri" panose="020F0502020204030204"/>
              </a:rPr>
              <a:t>&gt;</a:t>
            </a:r>
            <a:endParaRPr sz="1400" b="1" i="0">
              <a:solidFill>
                <a:srgbClr val="1F4E9C"/>
              </a:solidFill>
              <a:latin typeface="Calibri" panose="020F0502020204030204"/>
            </a:endParaRPr>
          </a:p>
        </p:txBody>
      </p:sp>
      <p:sp>
        <p:nvSpPr>
          <p:cNvPr id="20" name="Rounded Rectangle 19"/>
          <p:cNvSpPr/>
          <p:nvPr/>
        </p:nvSpPr>
        <p:spPr>
          <a:xfrm>
            <a:off x="4388960" y="3166320"/>
            <a:ext cx="1700000" cy="1420000"/>
          </a:xfrm>
          <a:prstGeom prst="roundRect">
            <a:avLst/>
          </a:prstGeom>
          <a:solidFill>
            <a:srgbClr val="E8F5E9"/>
          </a:solidFill>
          <a:ln w="19050">
            <a:solidFill>
              <a:srgbClr val="1F7A3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00" b="0">
                <a:solidFill>
                  <a:srgbClr val="12203F"/>
                </a:solidFill>
                <a:latin typeface="Calibri" panose="020F0502020204030204"/>
              </a:rPr>
              <a:t>Fichiers .hpl (Apache Hop)</a:t>
            </a:r>
            <a:endParaRPr sz="800" b="0">
              <a:solidFill>
                <a:srgbClr val="12203F"/>
              </a:solidFill>
              <a:latin typeface="Calibri" panose="020F0502020204030204"/>
            </a:endParaRPr>
          </a:p>
        </p:txBody>
      </p:sp>
      <p:sp>
        <p:nvSpPr>
          <p:cNvPr id="21" name="TextBox 20"/>
          <p:cNvSpPr txBox="1"/>
          <p:nvPr/>
        </p:nvSpPr>
        <p:spPr>
          <a:xfrm>
            <a:off x="6268640" y="3500000"/>
            <a:ext cx="3480000" cy="320000"/>
          </a:xfrm>
          <a:prstGeom prst="rect">
            <a:avLst/>
          </a:prstGeom>
          <a:noFill/>
        </p:spPr>
        <p:txBody>
          <a:bodyPr wrap="square">
            <a:spAutoFit/>
          </a:bodyPr>
          <a:lstStyle/>
          <a:p>
            <a:pPr algn="l"/>
            <a:r>
              <a:rPr sz="850" b="0" i="0">
                <a:solidFill>
                  <a:srgbClr val="7A8294"/>
                </a:solidFill>
                <a:latin typeface="Calibri" panose="020F0502020204030204"/>
              </a:rPr>
              <a:t>Génère les pipelines XML</a:t>
            </a:r>
            <a:endParaRPr sz="850" b="0" i="0">
              <a:solidFill>
                <a:srgbClr val="7A8294"/>
              </a:solidFill>
              <a:latin typeface="Calibri" panose="020F0502020204030204"/>
            </a:endParaRPr>
          </a:p>
        </p:txBody>
      </p:sp>
      <p:sp>
        <p:nvSpPr>
          <p:cNvPr id="22" name="TextBox 21"/>
          <p:cNvSpPr txBox="1"/>
          <p:nvPr/>
        </p:nvSpPr>
        <p:spPr>
          <a:xfrm>
            <a:off x="6268640" y="3840000"/>
            <a:ext cx="3480000" cy="320000"/>
          </a:xfrm>
          <a:prstGeom prst="rect">
            <a:avLst/>
          </a:prstGeom>
          <a:noFill/>
        </p:spPr>
        <p:txBody>
          <a:bodyPr wrap="square">
            <a:spAutoFit/>
          </a:bodyPr>
          <a:lstStyle/>
          <a:p>
            <a:pPr algn="l"/>
            <a:r>
              <a:rPr sz="850" b="0" i="0">
                <a:solidFill>
                  <a:srgbClr val="7A8294"/>
                </a:solidFill>
                <a:latin typeface="Calibri" panose="020F0502020204030204"/>
              </a:rPr>
              <a:t>conformes au schéma Hop</a:t>
            </a:r>
            <a:endParaRPr sz="850" b="0" i="0">
              <a:solidFill>
                <a:srgbClr val="7A8294"/>
              </a:solidFill>
              <a:latin typeface="Calibri" panose="020F0502020204030204"/>
            </a:endParaRPr>
          </a:p>
        </p:txBody>
      </p:sp>
      <p:sp>
        <p:nvSpPr>
          <p:cNvPr id="23" name="TextBox 22"/>
          <p:cNvSpPr txBox="1"/>
          <p:nvPr/>
        </p:nvSpPr>
        <p:spPr>
          <a:xfrm>
            <a:off x="6268640" y="4180000"/>
            <a:ext cx="3480000" cy="320000"/>
          </a:xfrm>
          <a:prstGeom prst="rect">
            <a:avLst/>
          </a:prstGeom>
          <a:noFill/>
        </p:spPr>
        <p:txBody>
          <a:bodyPr wrap="square">
            <a:spAutoFit/>
          </a:bodyPr>
          <a:lstStyle/>
          <a:p>
            <a:pPr algn="l"/>
            <a:r>
              <a:rPr sz="850" b="0" i="0">
                <a:solidFill>
                  <a:srgbClr val="7A8294"/>
                </a:solidFill>
                <a:latin typeface="Calibri" panose="020F0502020204030204"/>
              </a:rPr>
              <a:t>pour chaque entité</a:t>
            </a:r>
            <a:endParaRPr sz="850" b="0" i="0">
              <a:solidFill>
                <a:srgbClr val="7A8294"/>
              </a:solidFill>
              <a:latin typeface="Calibri" panose="020F0502020204030204"/>
            </a:endParaRPr>
          </a:p>
        </p:txBody>
      </p:sp>
      <p:sp>
        <p:nvSpPr>
          <p:cNvPr id="24" name="Rounded Rectangle 23"/>
          <p:cNvSpPr/>
          <p:nvPr/>
        </p:nvSpPr>
        <p:spPr>
          <a:xfrm>
            <a:off x="568960" y="4806320"/>
            <a:ext cx="1300000" cy="1420000"/>
          </a:xfrm>
          <a:prstGeom prst="roundRect">
            <a:avLst/>
          </a:prstGeom>
          <a:solidFill>
            <a:srgbClr val="F5F5F5"/>
          </a:solidFill>
          <a:ln w="19050">
            <a:solidFill>
              <a:srgbClr val="7A829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00" b="0">
                <a:solidFill>
                  <a:srgbClr val="12203F"/>
                </a:solidFill>
                <a:latin typeface="Calibri" panose="020F0502020204030204"/>
              </a:rPr>
              <a:t>Manifeste JSON</a:t>
            </a:r>
            <a:endParaRPr sz="800" b="0">
              <a:solidFill>
                <a:srgbClr val="12203F"/>
              </a:solidFill>
              <a:latin typeface="Calibri" panose="020F0502020204030204"/>
            </a:endParaRPr>
          </a:p>
        </p:txBody>
      </p:sp>
      <p:sp>
        <p:nvSpPr>
          <p:cNvPr id="25" name="TextBox 24"/>
          <p:cNvSpPr txBox="1"/>
          <p:nvPr/>
        </p:nvSpPr>
        <p:spPr>
          <a:xfrm>
            <a:off x="1898960" y="5366320"/>
            <a:ext cx="200000" cy="300000"/>
          </a:xfrm>
          <a:prstGeom prst="rect">
            <a:avLst/>
          </a:prstGeom>
          <a:noFill/>
        </p:spPr>
        <p:txBody>
          <a:bodyPr wrap="square">
            <a:spAutoFit/>
          </a:bodyPr>
          <a:lstStyle/>
          <a:p>
            <a:pPr algn="ctr"/>
            <a:r>
              <a:rPr sz="1400" b="1" i="0">
                <a:solidFill>
                  <a:srgbClr val="1F4E9C"/>
                </a:solidFill>
                <a:latin typeface="Calibri" panose="020F0502020204030204"/>
              </a:rPr>
              <a:t>&gt;</a:t>
            </a:r>
            <a:endParaRPr sz="1400" b="1" i="0">
              <a:solidFill>
                <a:srgbClr val="1F4E9C"/>
              </a:solidFill>
              <a:latin typeface="Calibri" panose="020F0502020204030204"/>
            </a:endParaRPr>
          </a:p>
        </p:txBody>
      </p:sp>
      <p:sp>
        <p:nvSpPr>
          <p:cNvPr id="26" name="Rounded Rectangle 25"/>
          <p:cNvSpPr/>
          <p:nvPr/>
        </p:nvSpPr>
        <p:spPr>
          <a:xfrm>
            <a:off x="2128960" y="4806320"/>
            <a:ext cx="2000000" cy="14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rgbClr val="12203F"/>
                </a:solidFill>
                <a:latin typeface="Calibri" panose="020F0502020204030204"/>
              </a:rPr>
              <a:t>generate-workflow</a:t>
            </a:r>
            <a:endParaRPr sz="900" b="1">
              <a:solidFill>
                <a:srgbClr val="12203F"/>
              </a:solidFill>
              <a:latin typeface="Calibri" panose="020F0502020204030204"/>
            </a:endParaRPr>
          </a:p>
        </p:txBody>
      </p:sp>
      <p:sp>
        <p:nvSpPr>
          <p:cNvPr id="27" name="TextBox 26"/>
          <p:cNvSpPr txBox="1"/>
          <p:nvPr/>
        </p:nvSpPr>
        <p:spPr>
          <a:xfrm>
            <a:off x="4158960" y="5366320"/>
            <a:ext cx="200000" cy="300000"/>
          </a:xfrm>
          <a:prstGeom prst="rect">
            <a:avLst/>
          </a:prstGeom>
          <a:noFill/>
        </p:spPr>
        <p:txBody>
          <a:bodyPr wrap="square">
            <a:spAutoFit/>
          </a:bodyPr>
          <a:lstStyle/>
          <a:p>
            <a:pPr algn="ctr"/>
            <a:r>
              <a:rPr sz="1400" b="1" i="0">
                <a:solidFill>
                  <a:srgbClr val="1F4E9C"/>
                </a:solidFill>
                <a:latin typeface="Calibri" panose="020F0502020204030204"/>
              </a:rPr>
              <a:t>&gt;</a:t>
            </a:r>
            <a:endParaRPr sz="1400" b="1" i="0">
              <a:solidFill>
                <a:srgbClr val="1F4E9C"/>
              </a:solidFill>
              <a:latin typeface="Calibri" panose="020F0502020204030204"/>
            </a:endParaRPr>
          </a:p>
        </p:txBody>
      </p:sp>
      <p:sp>
        <p:nvSpPr>
          <p:cNvPr id="28" name="Rounded Rectangle 27"/>
          <p:cNvSpPr/>
          <p:nvPr/>
        </p:nvSpPr>
        <p:spPr>
          <a:xfrm>
            <a:off x="4388960" y="4806320"/>
            <a:ext cx="1700000" cy="1420000"/>
          </a:xfrm>
          <a:prstGeom prst="roundRect">
            <a:avLst/>
          </a:prstGeom>
          <a:solidFill>
            <a:srgbClr val="E8F5E9"/>
          </a:solidFill>
          <a:ln w="19050">
            <a:solidFill>
              <a:srgbClr val="1F7A3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00" b="0">
                <a:solidFill>
                  <a:srgbClr val="12203F"/>
                </a:solidFill>
                <a:latin typeface="Calibri" panose="020F0502020204030204"/>
              </a:rPr>
              <a:t>Fichier .hwf</a:t>
            </a:r>
            <a:endParaRPr sz="800" b="0">
              <a:solidFill>
                <a:srgbClr val="12203F"/>
              </a:solidFill>
              <a:latin typeface="Calibri" panose="020F0502020204030204"/>
            </a:endParaRPr>
          </a:p>
        </p:txBody>
      </p:sp>
      <p:sp>
        <p:nvSpPr>
          <p:cNvPr id="29" name="TextBox 28"/>
          <p:cNvSpPr txBox="1"/>
          <p:nvPr/>
        </p:nvSpPr>
        <p:spPr>
          <a:xfrm>
            <a:off x="6268640" y="5140000"/>
            <a:ext cx="3480000" cy="320000"/>
          </a:xfrm>
          <a:prstGeom prst="rect">
            <a:avLst/>
          </a:prstGeom>
          <a:noFill/>
        </p:spPr>
        <p:txBody>
          <a:bodyPr wrap="square">
            <a:spAutoFit/>
          </a:bodyPr>
          <a:lstStyle/>
          <a:p>
            <a:pPr algn="l"/>
            <a:r>
              <a:rPr sz="850" b="0" i="0">
                <a:solidFill>
                  <a:srgbClr val="7A8294"/>
                </a:solidFill>
                <a:latin typeface="Calibri" panose="020F0502020204030204"/>
              </a:rPr>
              <a:t>Génère le workflow d'orchestration</a:t>
            </a:r>
            <a:endParaRPr sz="850" b="0" i="0">
              <a:solidFill>
                <a:srgbClr val="7A8294"/>
              </a:solidFill>
              <a:latin typeface="Calibri" panose="020F0502020204030204"/>
            </a:endParaRPr>
          </a:p>
        </p:txBody>
      </p:sp>
      <p:sp>
        <p:nvSpPr>
          <p:cNvPr id="30" name="TextBox 29"/>
          <p:cNvSpPr txBox="1"/>
          <p:nvPr/>
        </p:nvSpPr>
        <p:spPr>
          <a:xfrm>
            <a:off x="6268640" y="5480000"/>
            <a:ext cx="3480000" cy="320000"/>
          </a:xfrm>
          <a:prstGeom prst="rect">
            <a:avLst/>
          </a:prstGeom>
          <a:noFill/>
        </p:spPr>
        <p:txBody>
          <a:bodyPr wrap="square">
            <a:spAutoFit/>
          </a:bodyPr>
          <a:lstStyle/>
          <a:p>
            <a:pPr algn="l"/>
            <a:r>
              <a:rPr sz="850" b="0" i="0">
                <a:solidFill>
                  <a:srgbClr val="7A8294"/>
                </a:solidFill>
                <a:latin typeface="Calibri" panose="020F0502020204030204"/>
              </a:rPr>
              <a:t>qui enchaîne les pipelines</a:t>
            </a:r>
            <a:endParaRPr sz="850" b="0" i="0">
              <a:solidFill>
                <a:srgbClr val="7A8294"/>
              </a:solidFill>
              <a:latin typeface="Calibri" panose="020F0502020204030204"/>
            </a:endParaRPr>
          </a:p>
        </p:txBody>
      </p:sp>
      <p:sp>
        <p:nvSpPr>
          <p:cNvPr id="31" name="TextBox 30"/>
          <p:cNvSpPr txBox="1"/>
          <p:nvPr/>
        </p:nvSpPr>
        <p:spPr>
          <a:xfrm>
            <a:off x="6268640" y="5820000"/>
            <a:ext cx="3480000" cy="320000"/>
          </a:xfrm>
          <a:prstGeom prst="rect">
            <a:avLst/>
          </a:prstGeom>
          <a:noFill/>
        </p:spPr>
        <p:txBody>
          <a:bodyPr wrap="square">
            <a:spAutoFit/>
          </a:bodyPr>
          <a:lstStyle/>
          <a:p>
            <a:pPr algn="l"/>
            <a:r>
              <a:rPr sz="850" b="0" i="0">
                <a:solidFill>
                  <a:srgbClr val="7A8294"/>
                </a:solidFill>
                <a:latin typeface="Calibri" panose="020F0502020204030204"/>
              </a:rPr>
              <a:t>dans le bon ordre topologique</a:t>
            </a:r>
            <a:endParaRPr sz="850" b="0" i="0">
              <a:solidFill>
                <a:srgbClr val="7A8294"/>
              </a:solidFill>
              <a:latin typeface="Calibri" panose="020F0502020204030204"/>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Axelor Import Studio — Interface</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17</a:t>
            </a:r>
            <a:r>
              <a:rPr sz="1000" b="0">
                <a:solidFill>
                  <a:srgbClr val="7A8294"/>
                </a:solidFill>
                <a:latin typeface="Calibri" panose="020F0502020204030204"/>
              </a:rPr>
              <a:t> / 22</a:t>
            </a:r>
            <a:endParaRPr sz="1000" b="0">
              <a:solidFill>
                <a:srgbClr val="7A8294"/>
              </a:solidFill>
              <a:latin typeface="Calibri" panose="020F0502020204030204"/>
            </a:endParaRPr>
          </a:p>
        </p:txBody>
      </p:sp>
      <p:sp>
        <p:nvSpPr>
          <p:cNvPr id="7" name="TextBox 6"/>
          <p:cNvSpPr txBox="1"/>
          <p:nvPr/>
        </p:nvSpPr>
        <p:spPr>
          <a:xfrm>
            <a:off x="548640" y="3200000"/>
            <a:ext cx="11094720" cy="500000"/>
          </a:xfrm>
          <a:prstGeom prst="rect">
            <a:avLst/>
          </a:prstGeom>
          <a:noFill/>
        </p:spPr>
        <p:txBody>
          <a:bodyPr wrap="square">
            <a:spAutoFit/>
          </a:bodyPr>
          <a:lstStyle/>
          <a:p>
            <a:pPr algn="ctr"/>
            <a:r>
              <a:rPr sz="1400" b="0" i="1">
                <a:solidFill>
                  <a:srgbClr val="7A8294"/>
                </a:solidFill>
                <a:latin typeface="Calibri" panose="020F0502020204030204"/>
              </a:rPr>
              <a:t>[Insérer capture d'écran de l'interface ici]</a:t>
            </a:r>
            <a:endParaRPr sz="1400" b="0" i="1">
              <a:solidFill>
                <a:srgbClr val="7A8294"/>
              </a:solidFill>
              <a:latin typeface="Calibri" panose="020F0502020204030204"/>
            </a:endParaRPr>
          </a:p>
        </p:txBody>
      </p:sp>
      <p:pic>
        <p:nvPicPr>
          <p:cNvPr id="8" name="Picture 7" descr="image.png"/>
          <p:cNvPicPr>
            <a:picLocks noChangeAspect="1"/>
          </p:cNvPicPr>
          <p:nvPr/>
        </p:nvPicPr>
        <p:blipFill>
          <a:blip r:embed="rId2"/>
          <a:stretch>
            <a:fillRect/>
          </a:stretch>
        </p:blipFill>
        <p:spPr>
          <a:xfrm>
            <a:off x="9832848" y="2286000"/>
            <a:ext cx="2173224" cy="566928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06  CONCLUSION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Bilan des réalisations</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18</a:t>
            </a:r>
            <a:r>
              <a:rPr sz="1000" b="0">
                <a:solidFill>
                  <a:srgbClr val="7A8294"/>
                </a:solidFill>
                <a:latin typeface="Calibri" panose="020F0502020204030204"/>
              </a:rPr>
              <a:t> / 22</a:t>
            </a:r>
            <a:endParaRPr sz="1000" b="0">
              <a:solidFill>
                <a:srgbClr val="7A8294"/>
              </a:solidFill>
              <a:latin typeface="Calibri" panose="020F0502020204030204"/>
            </a:endParaRPr>
          </a:p>
        </p:txBody>
      </p:sp>
      <p:sp>
        <p:nvSpPr>
          <p:cNvPr id="8" name="Rectangle 7"/>
          <p:cNvSpPr/>
          <p:nvPr/>
        </p:nvSpPr>
        <p:spPr>
          <a:xfrm>
            <a:off x="548640" y="1760000"/>
            <a:ext cx="70000" cy="8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0000" y="1760000"/>
            <a:ext cx="8900000" cy="350000"/>
          </a:xfrm>
          <a:prstGeom prst="rect">
            <a:avLst/>
          </a:prstGeom>
          <a:noFill/>
        </p:spPr>
        <p:txBody>
          <a:bodyPr wrap="square">
            <a:spAutoFit/>
          </a:bodyPr>
          <a:lstStyle/>
          <a:p>
            <a:pPr algn="l"/>
            <a:r>
              <a:rPr sz="1100" b="1" i="0">
                <a:solidFill>
                  <a:srgbClr val="12203F"/>
                </a:solidFill>
                <a:latin typeface="Calibri" panose="020F0502020204030204"/>
              </a:rPr>
              <a:t>19 pipelines ETL réutilisables</a:t>
            </a:r>
            <a:endParaRPr sz="1100" b="1" i="0">
              <a:solidFill>
                <a:srgbClr val="12203F"/>
              </a:solidFill>
              <a:latin typeface="Calibri" panose="020F0502020204030204"/>
            </a:endParaRPr>
          </a:p>
        </p:txBody>
      </p:sp>
      <p:sp>
        <p:nvSpPr>
          <p:cNvPr id="10" name="TextBox 9"/>
          <p:cNvSpPr txBox="1"/>
          <p:nvPr/>
        </p:nvSpPr>
        <p:spPr>
          <a:xfrm>
            <a:off x="680000" y="2130000"/>
            <a:ext cx="8900000" cy="300000"/>
          </a:xfrm>
          <a:prstGeom prst="rect">
            <a:avLst/>
          </a:prstGeom>
          <a:noFill/>
        </p:spPr>
        <p:txBody>
          <a:bodyPr wrap="square">
            <a:spAutoFit/>
          </a:bodyPr>
          <a:lstStyle/>
          <a:p>
            <a:pPr algn="l"/>
            <a:r>
              <a:rPr sz="950" b="0" i="0">
                <a:solidFill>
                  <a:srgbClr val="7A8294"/>
                </a:solidFill>
                <a:latin typeface="Calibri" panose="020F0502020204030204"/>
              </a:rPr>
              <a:t>Couvrant 4 domaines : produits, partenaires, commandes de vente, factures</a:t>
            </a:r>
            <a:endParaRPr sz="950" b="0" i="0">
              <a:solidFill>
                <a:srgbClr val="7A8294"/>
              </a:solidFill>
              <a:latin typeface="Calibri" panose="020F0502020204030204"/>
            </a:endParaRPr>
          </a:p>
        </p:txBody>
      </p:sp>
      <p:sp>
        <p:nvSpPr>
          <p:cNvPr id="11" name="Rectangle 10"/>
          <p:cNvSpPr/>
          <p:nvPr/>
        </p:nvSpPr>
        <p:spPr>
          <a:xfrm>
            <a:off x="548640" y="2810000"/>
            <a:ext cx="70000" cy="8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0000" y="2810000"/>
            <a:ext cx="8900000" cy="350000"/>
          </a:xfrm>
          <a:prstGeom prst="rect">
            <a:avLst/>
          </a:prstGeom>
          <a:noFill/>
        </p:spPr>
        <p:txBody>
          <a:bodyPr wrap="square">
            <a:spAutoFit/>
          </a:bodyPr>
          <a:lstStyle/>
          <a:p>
            <a:pPr algn="l"/>
            <a:r>
              <a:rPr sz="1100" b="1" i="0">
                <a:solidFill>
                  <a:srgbClr val="12203F"/>
                </a:solidFill>
                <a:latin typeface="Calibri" panose="020F0502020204030204"/>
              </a:rPr>
              <a:t>3 skills Claude Code</a:t>
            </a:r>
            <a:endParaRPr sz="1100" b="1" i="0">
              <a:solidFill>
                <a:srgbClr val="12203F"/>
              </a:solidFill>
              <a:latin typeface="Calibri" panose="020F0502020204030204"/>
            </a:endParaRPr>
          </a:p>
        </p:txBody>
      </p:sp>
      <p:sp>
        <p:nvSpPr>
          <p:cNvPr id="13" name="TextBox 12"/>
          <p:cNvSpPr txBox="1"/>
          <p:nvPr/>
        </p:nvSpPr>
        <p:spPr>
          <a:xfrm>
            <a:off x="680000" y="3180000"/>
            <a:ext cx="8900000" cy="300000"/>
          </a:xfrm>
          <a:prstGeom prst="rect">
            <a:avLst/>
          </a:prstGeom>
          <a:noFill/>
        </p:spPr>
        <p:txBody>
          <a:bodyPr wrap="square">
            <a:spAutoFit/>
          </a:bodyPr>
          <a:lstStyle/>
          <a:p>
            <a:pPr algn="l"/>
            <a:r>
              <a:rPr sz="950" b="0" i="0">
                <a:solidFill>
                  <a:srgbClr val="7A8294"/>
                </a:solidFill>
                <a:latin typeface="Calibri" panose="020F0502020204030204"/>
              </a:rPr>
              <a:t>analyze-and-map-entity · generate-pipeline · generate-workflow</a:t>
            </a:r>
            <a:endParaRPr sz="950" b="0" i="0">
              <a:solidFill>
                <a:srgbClr val="7A8294"/>
              </a:solidFill>
              <a:latin typeface="Calibri" panose="020F0502020204030204"/>
            </a:endParaRPr>
          </a:p>
        </p:txBody>
      </p:sp>
      <p:sp>
        <p:nvSpPr>
          <p:cNvPr id="14" name="Rectangle 13"/>
          <p:cNvSpPr/>
          <p:nvPr/>
        </p:nvSpPr>
        <p:spPr>
          <a:xfrm>
            <a:off x="548640" y="3860000"/>
            <a:ext cx="70000" cy="8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0000" y="3860000"/>
            <a:ext cx="8900000" cy="350000"/>
          </a:xfrm>
          <a:prstGeom prst="rect">
            <a:avLst/>
          </a:prstGeom>
          <a:noFill/>
        </p:spPr>
        <p:txBody>
          <a:bodyPr wrap="square">
            <a:spAutoFit/>
          </a:bodyPr>
          <a:lstStyle/>
          <a:p>
            <a:pPr algn="l"/>
            <a:r>
              <a:rPr sz="1100" b="1" i="0">
                <a:solidFill>
                  <a:srgbClr val="12203F"/>
                </a:solidFill>
                <a:latin typeface="Calibri" panose="020F0502020204030204"/>
              </a:rPr>
              <a:t>Axelor Import Studio</a:t>
            </a:r>
            <a:endParaRPr sz="1100" b="1" i="0">
              <a:solidFill>
                <a:srgbClr val="12203F"/>
              </a:solidFill>
              <a:latin typeface="Calibri" panose="020F0502020204030204"/>
            </a:endParaRPr>
          </a:p>
        </p:txBody>
      </p:sp>
      <p:sp>
        <p:nvSpPr>
          <p:cNvPr id="16" name="TextBox 15"/>
          <p:cNvSpPr txBox="1"/>
          <p:nvPr/>
        </p:nvSpPr>
        <p:spPr>
          <a:xfrm>
            <a:off x="680000" y="4230000"/>
            <a:ext cx="8900000" cy="300000"/>
          </a:xfrm>
          <a:prstGeom prst="rect">
            <a:avLst/>
          </a:prstGeom>
          <a:noFill/>
        </p:spPr>
        <p:txBody>
          <a:bodyPr wrap="square">
            <a:spAutoFit/>
          </a:bodyPr>
          <a:lstStyle/>
          <a:p>
            <a:pPr algn="l"/>
            <a:r>
              <a:rPr sz="950" b="0" i="0">
                <a:solidFill>
                  <a:srgbClr val="7A8294"/>
                </a:solidFill>
                <a:latin typeface="Calibri" panose="020F0502020204030204"/>
              </a:rPr>
              <a:t>Application web FastAPI + React + terminal PTY (xterm.js + WebSocket)</a:t>
            </a:r>
            <a:endParaRPr sz="950" b="0" i="0">
              <a:solidFill>
                <a:srgbClr val="7A8294"/>
              </a:solidFill>
              <a:latin typeface="Calibri" panose="020F0502020204030204"/>
            </a:endParaRPr>
          </a:p>
        </p:txBody>
      </p:sp>
      <p:sp>
        <p:nvSpPr>
          <p:cNvPr id="17" name="Rectangle 16"/>
          <p:cNvSpPr/>
          <p:nvPr/>
        </p:nvSpPr>
        <p:spPr>
          <a:xfrm>
            <a:off x="548640" y="4910000"/>
            <a:ext cx="70000" cy="8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0000" y="4910000"/>
            <a:ext cx="8900000" cy="350000"/>
          </a:xfrm>
          <a:prstGeom prst="rect">
            <a:avLst/>
          </a:prstGeom>
          <a:noFill/>
        </p:spPr>
        <p:txBody>
          <a:bodyPr wrap="square">
            <a:spAutoFit/>
          </a:bodyPr>
          <a:lstStyle/>
          <a:p>
            <a:pPr algn="l"/>
            <a:r>
              <a:rPr sz="1100" b="1" i="0">
                <a:solidFill>
                  <a:srgbClr val="12203F"/>
                </a:solidFill>
                <a:latin typeface="Calibri" panose="020F0502020204030204"/>
              </a:rPr>
              <a:t>Manifeste JSON</a:t>
            </a:r>
            <a:endParaRPr sz="1100" b="1" i="0">
              <a:solidFill>
                <a:srgbClr val="12203F"/>
              </a:solidFill>
              <a:latin typeface="Calibri" panose="020F0502020204030204"/>
            </a:endParaRPr>
          </a:p>
        </p:txBody>
      </p:sp>
      <p:sp>
        <p:nvSpPr>
          <p:cNvPr id="19" name="TextBox 18"/>
          <p:cNvSpPr txBox="1"/>
          <p:nvPr/>
        </p:nvSpPr>
        <p:spPr>
          <a:xfrm>
            <a:off x="680000" y="5280000"/>
            <a:ext cx="8900000" cy="300000"/>
          </a:xfrm>
          <a:prstGeom prst="rect">
            <a:avLst/>
          </a:prstGeom>
          <a:noFill/>
        </p:spPr>
        <p:txBody>
          <a:bodyPr wrap="square">
            <a:spAutoFit/>
          </a:bodyPr>
          <a:lstStyle/>
          <a:p>
            <a:pPr algn="l"/>
            <a:r>
              <a:rPr sz="950" b="0" i="0">
                <a:solidFill>
                  <a:srgbClr val="7A8294"/>
                </a:solidFill>
                <a:latin typeface="Calibri" panose="020F0502020204030204"/>
              </a:rPr>
              <a:t>Contrat versionnable entre analyse IA et génération de pipelines</a:t>
            </a:r>
            <a:endParaRPr sz="950" b="0" i="0">
              <a:solidFill>
                <a:srgbClr val="7A8294"/>
              </a:solidFill>
              <a:latin typeface="Calibri" panose="020F0502020204030204"/>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06  CONCLUSION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Résultats &amp; Validation</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19</a:t>
            </a:r>
            <a:r>
              <a:rPr sz="1000" b="0">
                <a:solidFill>
                  <a:srgbClr val="7A8294"/>
                </a:solidFill>
                <a:latin typeface="Calibri" panose="020F0502020204030204"/>
              </a:rPr>
              <a:t> / 22</a:t>
            </a:r>
            <a:endParaRPr sz="1000" b="0">
              <a:solidFill>
                <a:srgbClr val="7A8294"/>
              </a:solidFill>
              <a:latin typeface="Calibri" panose="020F0502020204030204"/>
            </a:endParaRPr>
          </a:p>
        </p:txBody>
      </p:sp>
      <p:graphicFrame>
        <p:nvGraphicFramePr>
          <p:cNvPr id="8" name="Table 7"/>
          <p:cNvGraphicFramePr>
            <a:graphicFrameLocks noGrp="1"/>
          </p:cNvGraphicFramePr>
          <p:nvPr/>
        </p:nvGraphicFramePr>
        <p:xfrm>
          <a:off x="548640" y="1760000"/>
          <a:ext cx="8900000" cy="2559996"/>
        </p:xfrm>
        <a:graphic>
          <a:graphicData uri="http://schemas.openxmlformats.org/drawingml/2006/table">
            <a:tbl>
              <a:tblPr firstRow="1" bandRow="1">
                <a:tableStyleId>{5C22544A-7EE6-4342-B048-85BDC9FD1C3A}</a:tableStyleId>
              </a:tblPr>
              <a:tblGrid>
                <a:gridCol w="2800000"/>
                <a:gridCol w="1700000"/>
                <a:gridCol w="1700000"/>
                <a:gridCol w="2700000"/>
              </a:tblGrid>
              <a:tr h="426666">
                <a:tc>
                  <a:txBody>
                    <a:bodyPr wrap="square"/>
                    <a:lstStyle/>
                    <a:p>
                      <a:pPr algn="ctr"/>
                      <a:r>
                        <a:rPr sz="900" b="1">
                          <a:solidFill>
                            <a:srgbClr val="12203F"/>
                          </a:solidFill>
                          <a:latin typeface="Calibri" panose="020F0502020204030204"/>
                        </a:rPr>
                        <a:t>Entité</a:t>
                      </a:r>
                      <a:endParaRPr sz="900" b="1">
                        <a:solidFill>
                          <a:srgbClr val="12203F"/>
                        </a:solidFill>
                        <a:latin typeface="Calibri" panose="020F0502020204030204"/>
                      </a:endParaRPr>
                    </a:p>
                  </a:txBody>
                  <a:tcPr>
                    <a:solidFill>
                      <a:srgbClr val="D6E4F0"/>
                    </a:solidFill>
                  </a:tcPr>
                </a:tc>
                <a:tc>
                  <a:txBody>
                    <a:bodyPr wrap="square"/>
                    <a:lstStyle/>
                    <a:p>
                      <a:pPr algn="ctr"/>
                      <a:r>
                        <a:rPr sz="900" b="1">
                          <a:solidFill>
                            <a:srgbClr val="12203F"/>
                          </a:solidFill>
                          <a:latin typeface="Calibri" panose="020F0502020204030204"/>
                        </a:rPr>
                        <a:t>Enregistrements</a:t>
                      </a:r>
                      <a:endParaRPr sz="900" b="1">
                        <a:solidFill>
                          <a:srgbClr val="12203F"/>
                        </a:solidFill>
                        <a:latin typeface="Calibri" panose="020F0502020204030204"/>
                      </a:endParaRPr>
                    </a:p>
                  </a:txBody>
                  <a:tcPr>
                    <a:solidFill>
                      <a:srgbClr val="D6E4F0"/>
                    </a:solidFill>
                  </a:tcPr>
                </a:tc>
                <a:tc>
                  <a:txBody>
                    <a:bodyPr wrap="square"/>
                    <a:lstStyle/>
                    <a:p>
                      <a:pPr algn="ctr"/>
                      <a:r>
                        <a:rPr sz="900" b="1">
                          <a:solidFill>
                            <a:srgbClr val="12203F"/>
                          </a:solidFill>
                          <a:latin typeface="Calibri" panose="020F0502020204030204"/>
                        </a:rPr>
                        <a:t>Importés</a:t>
                      </a:r>
                      <a:endParaRPr sz="900" b="1">
                        <a:solidFill>
                          <a:srgbClr val="12203F"/>
                        </a:solidFill>
                        <a:latin typeface="Calibri" panose="020F0502020204030204"/>
                      </a:endParaRPr>
                    </a:p>
                  </a:txBody>
                  <a:tcPr>
                    <a:solidFill>
                      <a:srgbClr val="D6E4F0"/>
                    </a:solidFill>
                  </a:tcPr>
                </a:tc>
                <a:tc>
                  <a:txBody>
                    <a:bodyPr wrap="square"/>
                    <a:lstStyle/>
                    <a:p>
                      <a:pPr algn="ctr"/>
                      <a:r>
                        <a:rPr sz="900" b="1">
                          <a:solidFill>
                            <a:srgbClr val="12203F"/>
                          </a:solidFill>
                          <a:latin typeface="Calibri" panose="020F0502020204030204"/>
                        </a:rPr>
                        <a:t>Erreurs (volontaires)</a:t>
                      </a:r>
                      <a:endParaRPr sz="900" b="1">
                        <a:solidFill>
                          <a:srgbClr val="12203F"/>
                        </a:solidFill>
                        <a:latin typeface="Calibri" panose="020F0502020204030204"/>
                      </a:endParaRPr>
                    </a:p>
                  </a:txBody>
                  <a:tcPr>
                    <a:solidFill>
                      <a:srgbClr val="D6E4F0"/>
                    </a:solidFill>
                  </a:tcPr>
                </a:tc>
              </a:tr>
              <a:tr h="426666">
                <a:tc>
                  <a:txBody>
                    <a:bodyPr wrap="square"/>
                    <a:lstStyle/>
                    <a:p>
                      <a:pPr algn="l"/>
                      <a:r>
                        <a:rPr sz="900" b="0">
                          <a:solidFill>
                            <a:srgbClr val="12203F"/>
                          </a:solidFill>
                          <a:latin typeface="Calibri" panose="020F0502020204030204"/>
                        </a:rPr>
                        <a:t>Produits</a:t>
                      </a:r>
                      <a:endParaRPr sz="900" b="0">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75</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72</a:t>
                      </a:r>
                      <a:endParaRPr sz="900" b="0">
                        <a:solidFill>
                          <a:srgbClr val="2A3142"/>
                        </a:solidFill>
                        <a:latin typeface="Calibri" panose="020F0502020204030204"/>
                      </a:endParaRPr>
                    </a:p>
                  </a:txBody>
                  <a:tcPr>
                    <a:solidFill>
                      <a:srgbClr val="F5F5F5"/>
                    </a:solidFill>
                  </a:tcPr>
                </a:tc>
                <a:tc>
                  <a:txBody>
                    <a:bodyPr wrap="square"/>
                    <a:lstStyle/>
                    <a:p>
                      <a:pPr algn="l"/>
                      <a:r>
                        <a:rPr sz="900" b="0">
                          <a:solidFill>
                            <a:srgbClr val="2A3142"/>
                          </a:solidFill>
                          <a:latin typeface="Calibri" panose="020F0502020204030204"/>
                        </a:rPr>
                        <a:t>3 — champ name vide</a:t>
                      </a:r>
                      <a:endParaRPr sz="900" b="0">
                        <a:solidFill>
                          <a:srgbClr val="2A3142"/>
                        </a:solidFill>
                        <a:latin typeface="Calibri" panose="020F0502020204030204"/>
                      </a:endParaRPr>
                    </a:p>
                  </a:txBody>
                  <a:tcPr>
                    <a:solidFill>
                      <a:srgbClr val="F5F5F5"/>
                    </a:solidFill>
                  </a:tcPr>
                </a:tc>
              </a:tr>
              <a:tr h="426666">
                <a:tc>
                  <a:txBody>
                    <a:bodyPr wrap="square"/>
                    <a:lstStyle/>
                    <a:p>
                      <a:pPr algn="l"/>
                      <a:r>
                        <a:rPr sz="900" b="0">
                          <a:solidFill>
                            <a:srgbClr val="12203F"/>
                          </a:solidFill>
                          <a:latin typeface="Calibri" panose="020F0502020204030204"/>
                        </a:rPr>
                        <a:t>Partenaires / Adresses</a:t>
                      </a:r>
                      <a:endParaRPr sz="900" b="0">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68</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64</a:t>
                      </a:r>
                      <a:endParaRPr sz="900" b="0">
                        <a:solidFill>
                          <a:srgbClr val="2A3142"/>
                        </a:solidFill>
                        <a:latin typeface="Calibri" panose="020F0502020204030204"/>
                      </a:endParaRPr>
                    </a:p>
                  </a:txBody>
                  <a:tcPr>
                    <a:solidFill>
                      <a:srgbClr val="FFFFFF"/>
                    </a:solidFill>
                  </a:tcPr>
                </a:tc>
                <a:tc>
                  <a:txBody>
                    <a:bodyPr wrap="square"/>
                    <a:lstStyle/>
                    <a:p>
                      <a:pPr algn="l"/>
                      <a:r>
                        <a:rPr sz="900" b="0">
                          <a:solidFill>
                            <a:srgbClr val="2A3142"/>
                          </a:solidFill>
                          <a:latin typeface="Calibri" panose="020F0502020204030204"/>
                        </a:rPr>
                        <a:t>4 — parentPartner non résolu</a:t>
                      </a:r>
                      <a:endParaRPr sz="900" b="0">
                        <a:solidFill>
                          <a:srgbClr val="2A3142"/>
                        </a:solidFill>
                        <a:latin typeface="Calibri" panose="020F0502020204030204"/>
                      </a:endParaRPr>
                    </a:p>
                  </a:txBody>
                  <a:tcPr>
                    <a:solidFill>
                      <a:srgbClr val="FFFFFF"/>
                    </a:solidFill>
                  </a:tcPr>
                </a:tc>
              </a:tr>
              <a:tr h="426666">
                <a:tc>
                  <a:txBody>
                    <a:bodyPr wrap="square"/>
                    <a:lstStyle/>
                    <a:p>
                      <a:pPr algn="l"/>
                      <a:r>
                        <a:rPr sz="900" b="0">
                          <a:solidFill>
                            <a:srgbClr val="12203F"/>
                          </a:solidFill>
                          <a:latin typeface="Calibri" panose="020F0502020204030204"/>
                        </a:rPr>
                        <a:t>Commandes de vente</a:t>
                      </a:r>
                      <a:endParaRPr sz="900" b="0">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1 000</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962</a:t>
                      </a:r>
                      <a:endParaRPr sz="900" b="0">
                        <a:solidFill>
                          <a:srgbClr val="2A3142"/>
                        </a:solidFill>
                        <a:latin typeface="Calibri" panose="020F0502020204030204"/>
                      </a:endParaRPr>
                    </a:p>
                  </a:txBody>
                  <a:tcPr>
                    <a:solidFill>
                      <a:srgbClr val="F5F5F5"/>
                    </a:solidFill>
                  </a:tcPr>
                </a:tc>
                <a:tc>
                  <a:txBody>
                    <a:bodyPr wrap="square"/>
                    <a:lstStyle/>
                    <a:p>
                      <a:pPr algn="l"/>
                      <a:r>
                        <a:rPr sz="900" b="0">
                          <a:solidFill>
                            <a:srgbClr val="2A3142"/>
                          </a:solidFill>
                          <a:latin typeface="Calibri" panose="020F0502020204030204"/>
                        </a:rPr>
                        <a:t>38 — référence manquante</a:t>
                      </a:r>
                      <a:endParaRPr sz="900" b="0">
                        <a:solidFill>
                          <a:srgbClr val="2A3142"/>
                        </a:solidFill>
                        <a:latin typeface="Calibri" panose="020F0502020204030204"/>
                      </a:endParaRPr>
                    </a:p>
                  </a:txBody>
                  <a:tcPr>
                    <a:solidFill>
                      <a:srgbClr val="F5F5F5"/>
                    </a:solidFill>
                  </a:tcPr>
                </a:tc>
              </a:tr>
              <a:tr h="426666">
                <a:tc>
                  <a:txBody>
                    <a:bodyPr wrap="square"/>
                    <a:lstStyle/>
                    <a:p>
                      <a:pPr algn="l"/>
                      <a:r>
                        <a:rPr sz="900" b="0">
                          <a:solidFill>
                            <a:srgbClr val="12203F"/>
                          </a:solidFill>
                          <a:latin typeface="Calibri" panose="020F0502020204030204"/>
                        </a:rPr>
                        <a:t>Factures</a:t>
                      </a:r>
                      <a:endParaRPr sz="900" b="0">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1 000</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950</a:t>
                      </a:r>
                      <a:endParaRPr sz="900" b="0">
                        <a:solidFill>
                          <a:srgbClr val="2A3142"/>
                        </a:solidFill>
                        <a:latin typeface="Calibri" panose="020F0502020204030204"/>
                      </a:endParaRPr>
                    </a:p>
                  </a:txBody>
                  <a:tcPr>
                    <a:solidFill>
                      <a:srgbClr val="FFFFFF"/>
                    </a:solidFill>
                  </a:tcPr>
                </a:tc>
                <a:tc>
                  <a:txBody>
                    <a:bodyPr wrap="square"/>
                    <a:lstStyle/>
                    <a:p>
                      <a:pPr algn="l"/>
                      <a:r>
                        <a:rPr sz="900" b="0">
                          <a:solidFill>
                            <a:srgbClr val="2A3142"/>
                          </a:solidFill>
                          <a:latin typeface="Calibri" panose="020F0502020204030204"/>
                        </a:rPr>
                        <a:t>50 — statusSelect absent</a:t>
                      </a:r>
                      <a:endParaRPr sz="900" b="0">
                        <a:solidFill>
                          <a:srgbClr val="2A3142"/>
                        </a:solidFill>
                        <a:latin typeface="Calibri" panose="020F0502020204030204"/>
                      </a:endParaRPr>
                    </a:p>
                  </a:txBody>
                  <a:tcPr>
                    <a:solidFill>
                      <a:srgbClr val="FFFFFF"/>
                    </a:solidFill>
                  </a:tcPr>
                </a:tc>
              </a:tr>
              <a:tr h="426666">
                <a:tc>
                  <a:txBody>
                    <a:bodyPr wrap="square"/>
                    <a:lstStyle/>
                    <a:p>
                      <a:pPr algn="l"/>
                      <a:r>
                        <a:rPr sz="900" b="0">
                          <a:solidFill>
                            <a:srgbClr val="12203F"/>
                          </a:solidFill>
                          <a:latin typeface="Calibri" panose="020F0502020204030204"/>
                        </a:rPr>
                        <a:t>Lignes (cmd + fact)</a:t>
                      </a:r>
                      <a:endParaRPr sz="900" b="0">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7 961</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7 961</a:t>
                      </a:r>
                      <a:endParaRPr sz="900" b="0">
                        <a:solidFill>
                          <a:srgbClr val="2A3142"/>
                        </a:solidFill>
                        <a:latin typeface="Calibri" panose="020F0502020204030204"/>
                      </a:endParaRPr>
                    </a:p>
                  </a:txBody>
                  <a:tcPr>
                    <a:solidFill>
                      <a:srgbClr val="F5F5F5"/>
                    </a:solidFill>
                  </a:tcPr>
                </a:tc>
                <a:tc>
                  <a:txBody>
                    <a:bodyPr wrap="square"/>
                    <a:lstStyle/>
                    <a:p>
                      <a:pPr algn="l"/>
                      <a:r>
                        <a:rPr sz="900" b="0">
                          <a:solidFill>
                            <a:srgbClr val="2A3142"/>
                          </a:solidFill>
                          <a:latin typeface="Calibri" panose="020F0502020204030204"/>
                        </a:rPr>
                        <a:t>0</a:t>
                      </a:r>
                      <a:endParaRPr sz="900" b="0">
                        <a:solidFill>
                          <a:srgbClr val="2A3142"/>
                        </a:solidFill>
                        <a:latin typeface="Calibri" panose="020F0502020204030204"/>
                      </a:endParaRPr>
                    </a:p>
                  </a:txBody>
                  <a:tcPr>
                    <a:solidFill>
                      <a:srgbClr val="F5F5F5"/>
                    </a:solidFill>
                  </a:tcPr>
                </a:tc>
              </a:tr>
            </a:tbl>
          </a:graphicData>
        </a:graphic>
      </p:graphicFrame>
      <p:sp>
        <p:nvSpPr>
          <p:cNvPr id="9" name="Rounded Rectangle 8"/>
          <p:cNvSpPr/>
          <p:nvPr/>
        </p:nvSpPr>
        <p:spPr>
          <a:xfrm>
            <a:off x="548640" y="4620000"/>
            <a:ext cx="2833333" cy="150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50" b="1">
                <a:solidFill>
                  <a:srgbClr val="12203F"/>
                </a:solidFill>
                <a:latin typeface="Calibri" panose="020F0502020204030204"/>
              </a:rPr>
              <a:t>Ventilation des factures</a:t>
            </a:r>
            <a:endParaRPr sz="950" b="1">
              <a:solidFill>
                <a:srgbClr val="12203F"/>
              </a:solidFill>
              <a:latin typeface="Calibri" panose="020F0502020204030204"/>
            </a:endParaRPr>
          </a:p>
          <a:p>
            <a:pPr algn="ctr"/>
            <a:r>
              <a:rPr sz="850" b="0">
                <a:solidFill>
                  <a:srgbClr val="2A3142"/>
                </a:solidFill>
                <a:latin typeface="Calibri" panose="020F0502020204030204"/>
              </a:rPr>
              <a:t>Réussie — mouvements et lignes comptables créés</a:t>
            </a:r>
            <a:endParaRPr sz="850" b="0">
              <a:solidFill>
                <a:srgbClr val="2A3142"/>
              </a:solidFill>
              <a:latin typeface="Calibri" panose="020F0502020204030204"/>
            </a:endParaRPr>
          </a:p>
        </p:txBody>
      </p:sp>
      <p:sp>
        <p:nvSpPr>
          <p:cNvPr id="10" name="Rounded Rectangle 9"/>
          <p:cNvSpPr/>
          <p:nvPr/>
        </p:nvSpPr>
        <p:spPr>
          <a:xfrm>
            <a:off x="3581973" y="4620000"/>
            <a:ext cx="2833333" cy="150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50" b="1">
                <a:solidFill>
                  <a:srgbClr val="12203F"/>
                </a:solidFill>
                <a:latin typeface="Calibri" panose="020F0502020204030204"/>
              </a:rPr>
              <a:t>Idempotence</a:t>
            </a:r>
            <a:endParaRPr sz="950" b="1">
              <a:solidFill>
                <a:srgbClr val="12203F"/>
              </a:solidFill>
              <a:latin typeface="Calibri" panose="020F0502020204030204"/>
            </a:endParaRPr>
          </a:p>
          <a:p>
            <a:pPr algn="ctr"/>
            <a:r>
              <a:rPr sz="850" b="0">
                <a:solidFill>
                  <a:srgbClr val="2A3142"/>
                </a:solidFill>
                <a:latin typeface="Calibri" panose="020F0502020204030204"/>
              </a:rPr>
              <a:t>0 doublon sur ré-exécution complète du workflow</a:t>
            </a:r>
            <a:endParaRPr sz="850" b="0">
              <a:solidFill>
                <a:srgbClr val="2A3142"/>
              </a:solidFill>
              <a:latin typeface="Calibri" panose="020F0502020204030204"/>
            </a:endParaRPr>
          </a:p>
        </p:txBody>
      </p:sp>
      <p:sp>
        <p:nvSpPr>
          <p:cNvPr id="11" name="Rounded Rectangle 10"/>
          <p:cNvSpPr/>
          <p:nvPr/>
        </p:nvSpPr>
        <p:spPr>
          <a:xfrm>
            <a:off x="6615306" y="4620000"/>
            <a:ext cx="2833333" cy="1500000"/>
          </a:xfrm>
          <a:prstGeom prst="roundRect">
            <a:avLst/>
          </a:prstGeom>
          <a:solidFill>
            <a:srgbClr val="E8F5E9"/>
          </a:solidFill>
          <a:ln w="19050">
            <a:solidFill>
              <a:srgbClr val="1F7A3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50" b="1">
                <a:solidFill>
                  <a:srgbClr val="12203F"/>
                </a:solidFill>
                <a:latin typeface="Calibri" panose="020F0502020204030204"/>
              </a:rPr>
              <a:t>Performance</a:t>
            </a:r>
            <a:endParaRPr sz="950" b="1">
              <a:solidFill>
                <a:srgbClr val="12203F"/>
              </a:solidFill>
              <a:latin typeface="Calibri" panose="020F0502020204030204"/>
            </a:endParaRPr>
          </a:p>
          <a:p>
            <a:pPr algn="ctr"/>
            <a:r>
              <a:rPr sz="850" b="0">
                <a:solidFill>
                  <a:srgbClr val="2A3142"/>
                </a:solidFill>
                <a:latin typeface="Calibri" panose="020F0502020204030204"/>
              </a:rPr>
              <a:t>3.6× plus rapide que l'import natif Axelor</a:t>
            </a:r>
            <a:endParaRPr sz="850" b="0">
              <a:solidFill>
                <a:srgbClr val="2A3142"/>
              </a:solidFill>
              <a:latin typeface="Calibri" panose="020F0502020204030204"/>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06  CONCLUSION</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Limitations actuelles</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658368" y="1965960"/>
            <a:ext cx="5212080" cy="3474720"/>
          </a:xfrm>
          <a:prstGeom prst="rect">
            <a:avLst/>
          </a:prstGeom>
          <a:noFill/>
        </p:spPr>
        <p:txBody>
          <a:bodyPr wrap="square" lIns="0" tIns="0" rIns="0" bIns="0" rtlCol="0" anchor="t"/>
          <a:lstStyle/>
          <a:p>
            <a:pPr marL="0" indent="0">
              <a:spcAft>
                <a:spcPts val="1200"/>
              </a:spcAft>
              <a:buNone/>
            </a:pPr>
            <a:r>
              <a:rPr lang="en-US" sz="1100" b="1" kern="0" spc="200" dirty="0">
                <a:solidFill>
                  <a:srgbClr val="1F4E9C"/>
                </a:solidFill>
              </a:rPr>
              <a:t>TECHNIQUES</a:t>
            </a:r>
            <a:endParaRPr lang="en-US" sz="1100" dirty="0"/>
          </a:p>
          <a:p>
            <a:pPr marL="177800" indent="-177800">
              <a:spcAft>
                <a:spcPts val="1200"/>
              </a:spcAft>
              <a:buSzPct val="100000"/>
              <a:buChar char="•"/>
            </a:pPr>
            <a:r>
              <a:rPr lang="en-US" sz="1400" dirty="0">
                <a:solidFill>
                  <a:srgbClr val="2A3142"/>
                </a:solidFill>
              </a:rPr>
              <a:t>Génération de pipelines partielle — cas complexes nécessitent du tuning manuel</a:t>
            </a:r>
            <a:endParaRPr lang="en-US" sz="1100" dirty="0"/>
          </a:p>
          <a:p>
            <a:pPr marL="177800" indent="-177800">
              <a:spcAft>
                <a:spcPts val="1200"/>
              </a:spcAft>
              <a:buSzPct val="100000"/>
              <a:buChar char="•"/>
            </a:pPr>
            <a:r>
              <a:rPr lang="en-US" sz="1400" dirty="0">
                <a:solidFill>
                  <a:srgbClr val="2A3142"/>
                </a:solidFill>
              </a:rPr>
              <a:t>Débit modéré — ~15 lignes/sec (lookups FK ligne par ligne, pas en batch)</a:t>
            </a:r>
            <a:endParaRPr lang="en-US" sz="1100" dirty="0"/>
          </a:p>
          <a:p>
            <a:pPr marL="177800" indent="-177800">
              <a:buSzPct val="100000"/>
              <a:buChar char="•"/>
            </a:pPr>
            <a:r>
              <a:rPr lang="en-US" sz="1400" dirty="0">
                <a:solidFill>
                  <a:srgbClr val="2A3142"/>
                </a:solidFill>
              </a:rPr>
              <a:t>Sources CSV uniquement — Excel, SQL, XML d'autres ERP non supportés</a:t>
            </a:r>
            <a:endParaRPr lang="en-US" sz="1100" dirty="0"/>
          </a:p>
        </p:txBody>
      </p:sp>
      <p:sp>
        <p:nvSpPr>
          <p:cNvPr id="6" name="Text 3"/>
          <p:cNvSpPr/>
          <p:nvPr/>
        </p:nvSpPr>
        <p:spPr>
          <a:xfrm>
            <a:off x="6400800" y="1965960"/>
            <a:ext cx="4937760" cy="3474720"/>
          </a:xfrm>
          <a:prstGeom prst="rect">
            <a:avLst/>
          </a:prstGeom>
          <a:noFill/>
        </p:spPr>
        <p:txBody>
          <a:bodyPr wrap="square" lIns="0" tIns="0" rIns="0" bIns="0" rtlCol="0" anchor="t"/>
          <a:lstStyle/>
          <a:p>
            <a:pPr marL="0" indent="0">
              <a:spcAft>
                <a:spcPts val="1200"/>
              </a:spcAft>
              <a:buNone/>
            </a:pPr>
            <a:r>
              <a:rPr lang="en-US" sz="1100" b="1" kern="0" spc="200" dirty="0">
                <a:solidFill>
                  <a:srgbClr val="1F4E9C"/>
                </a:solidFill>
              </a:rPr>
              <a:t>ORGANISATIONNELLES</a:t>
            </a:r>
            <a:endParaRPr lang="en-US" sz="1100" dirty="0"/>
          </a:p>
          <a:p>
            <a:pPr marL="177800" indent="-177800">
              <a:spcAft>
                <a:spcPts val="1200"/>
              </a:spcAft>
              <a:buSzPct val="100000"/>
              <a:buChar char="•"/>
            </a:pPr>
            <a:r>
              <a:rPr lang="en-US" sz="1400" dirty="0">
                <a:solidFill>
                  <a:srgbClr val="2A3142"/>
                </a:solidFill>
              </a:rPr>
              <a:t>Données personnelles transmises à l'IA — pas d'anonymisation automatique</a:t>
            </a:r>
            <a:endParaRPr lang="en-US" sz="1100" dirty="0"/>
          </a:p>
          <a:p>
            <a:pPr marL="177800" indent="-177800">
              <a:spcAft>
                <a:spcPts val="1200"/>
              </a:spcAft>
              <a:buSzPct val="100000"/>
              <a:buChar char="•"/>
            </a:pPr>
            <a:r>
              <a:rPr lang="en-US" sz="1400" dirty="0">
                <a:solidFill>
                  <a:srgbClr val="2A3142"/>
                </a:solidFill>
              </a:rPr>
              <a:t>Rapport de qualité de données pré-import absent</a:t>
            </a:r>
            <a:endParaRPr lang="en-US" sz="1100" dirty="0"/>
          </a:p>
          <a:p>
            <a:pPr marL="177800" indent="-177800">
              <a:buSzPct val="100000"/>
              <a:buChar char="•"/>
            </a:pPr>
            <a:r>
              <a:rPr lang="en-US" sz="1400" dirty="0">
                <a:solidFill>
                  <a:srgbClr val="2A3142"/>
                </a:solidFill>
              </a:rPr>
              <a:t>Interface web non authentifiée — usage interne uniquement</a:t>
            </a:r>
            <a:endParaRPr lang="en-US" sz="1100" dirty="0"/>
          </a:p>
        </p:txBody>
      </p:sp>
      <p:pic>
        <p:nvPicPr>
          <p:cNvPr id="7"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8" name="Text 4"/>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9" name="Text 5"/>
          <p:cNvSpPr/>
          <p:nvPr/>
        </p:nvSpPr>
        <p:spPr>
          <a:xfrm>
            <a:off x="10360152" y="6309360"/>
            <a:ext cx="1188720" cy="274320"/>
          </a:xfrm>
          <a:prstGeom prst="rect">
            <a:avLst/>
          </a:prstGeom>
          <a:noFill/>
        </p:spPr>
        <p:txBody>
          <a:bodyPr wrap="square" lIns="0" tIns="0" rIns="0" bIns="0" rtlCol="0" anchor="ctr"/>
          <a:lstStyle/>
          <a:p>
            <a:pPr marL="0" indent="0" algn="r">
              <a:buNone/>
            </a:pPr>
            <a:r>
              <a:rPr lang="fr-FR" sz="1000" b="1">
                <a:solidFill>
                  <a:srgbClr val="1F4E9C"/>
                </a:solidFill>
                <a:latin typeface="Calibri" panose="020F0502020204030204"/>
              </a:rPr>
              <a:t>20</a:t>
            </a:r>
            <a:r>
              <a:rPr sz="1000" b="0">
                <a:solidFill>
                  <a:srgbClr val="7A8294"/>
                </a:solidFill>
                <a:latin typeface="Calibri" panose="020F0502020204030204"/>
              </a:rPr>
              <a:t> / </a:t>
            </a:r>
            <a:r>
              <a:rPr lang="fr-FR" sz="1000" b="0">
                <a:solidFill>
                  <a:srgbClr val="7A8294"/>
                </a:solidFill>
                <a:latin typeface="Calibri" panose="020F0502020204030204"/>
              </a:rPr>
              <a:t>22</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06  CONCLUSION</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Perspectives d'évolution</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658368" y="1965960"/>
            <a:ext cx="5212080" cy="3474720"/>
          </a:xfrm>
          <a:prstGeom prst="rect">
            <a:avLst/>
          </a:prstGeom>
          <a:noFill/>
        </p:spPr>
        <p:txBody>
          <a:bodyPr wrap="square" lIns="0" tIns="0" rIns="0" bIns="0" rtlCol="0" anchor="t"/>
          <a:lstStyle/>
          <a:p>
            <a:pPr marL="0" indent="0">
              <a:spcAft>
                <a:spcPts val="1200"/>
              </a:spcAft>
              <a:buNone/>
            </a:pPr>
            <a:r>
              <a:rPr lang="en-US" sz="1100" b="1" kern="0" spc="200" dirty="0">
                <a:solidFill>
                  <a:srgbClr val="1F4E9C"/>
                </a:solidFill>
              </a:rPr>
              <a:t>COURT TERME</a:t>
            </a:r>
            <a:endParaRPr lang="en-US" sz="1100" dirty="0"/>
          </a:p>
          <a:p>
            <a:pPr marL="177800" indent="-177800">
              <a:spcAft>
                <a:spcPts val="1200"/>
              </a:spcAft>
              <a:buSzPct val="100000"/>
              <a:buChar char="•"/>
            </a:pPr>
            <a:r>
              <a:rPr lang="en-US" sz="1400" dirty="0">
                <a:solidFill>
                  <a:srgbClr val="2A3142"/>
                </a:solidFill>
              </a:rPr>
              <a:t>Extension aux ordres de fabrication et mouvements de stock</a:t>
            </a:r>
            <a:endParaRPr lang="en-US" sz="1100" dirty="0"/>
          </a:p>
          <a:p>
            <a:pPr marL="177800" indent="-177800">
              <a:spcAft>
                <a:spcPts val="1200"/>
              </a:spcAft>
              <a:buSzPct val="100000"/>
              <a:buChar char="•"/>
            </a:pPr>
            <a:r>
              <a:rPr lang="en-US" sz="1400" dirty="0">
                <a:solidFill>
                  <a:srgbClr val="2A3142"/>
                </a:solidFill>
              </a:rPr>
              <a:t>Élargissement des sources : Excel, bases SQL, XML d'autres ERP</a:t>
            </a:r>
            <a:endParaRPr lang="en-US" sz="1100" dirty="0"/>
          </a:p>
          <a:p>
            <a:pPr marL="177800" indent="-177800">
              <a:buSzPct val="100000"/>
              <a:buChar char="•"/>
            </a:pPr>
            <a:r>
              <a:rPr lang="en-US" sz="1400" dirty="0">
                <a:solidFill>
                  <a:srgbClr val="2A3142"/>
                </a:solidFill>
              </a:rPr>
              <a:t>Rapport de qualité de données pré-import (profiling avant injection)</a:t>
            </a:r>
            <a:endParaRPr lang="en-US" sz="1100" dirty="0"/>
          </a:p>
        </p:txBody>
      </p:sp>
      <p:sp>
        <p:nvSpPr>
          <p:cNvPr id="6" name="Text 3"/>
          <p:cNvSpPr/>
          <p:nvPr/>
        </p:nvSpPr>
        <p:spPr>
          <a:xfrm>
            <a:off x="6400800" y="1965960"/>
            <a:ext cx="4937760" cy="3474720"/>
          </a:xfrm>
          <a:prstGeom prst="rect">
            <a:avLst/>
          </a:prstGeom>
          <a:noFill/>
        </p:spPr>
        <p:txBody>
          <a:bodyPr wrap="square" lIns="0" tIns="0" rIns="0" bIns="0" rtlCol="0" anchor="t"/>
          <a:lstStyle/>
          <a:p>
            <a:pPr marL="0" indent="0">
              <a:spcAft>
                <a:spcPts val="1200"/>
              </a:spcAft>
              <a:buNone/>
            </a:pPr>
            <a:r>
              <a:rPr lang="en-US" sz="1100" b="1" kern="0" spc="200" dirty="0">
                <a:solidFill>
                  <a:srgbClr val="1F4E9C"/>
                </a:solidFill>
              </a:rPr>
              <a:t>LONG TERME</a:t>
            </a:r>
            <a:endParaRPr lang="en-US" sz="1100" dirty="0"/>
          </a:p>
          <a:p>
            <a:pPr marL="177800" indent="-177800">
              <a:spcAft>
                <a:spcPts val="1200"/>
              </a:spcAft>
              <a:buSzPct val="100000"/>
              <a:buChar char="•"/>
            </a:pPr>
            <a:r>
              <a:rPr lang="en-US" sz="1400" dirty="0">
                <a:solidFill>
                  <a:srgbClr val="2A3142"/>
                </a:solidFill>
              </a:rPr>
              <a:t>Publication open source du framework</a:t>
            </a:r>
            <a:endParaRPr lang="en-US" sz="1100" dirty="0"/>
          </a:p>
          <a:p>
            <a:pPr marL="177800" indent="-177800">
              <a:spcAft>
                <a:spcPts val="1200"/>
              </a:spcAft>
              <a:buSzPct val="100000"/>
              <a:buChar char="•"/>
            </a:pPr>
            <a:r>
              <a:rPr lang="en-US" sz="1400" dirty="0">
                <a:solidFill>
                  <a:srgbClr val="2A3142"/>
                </a:solidFill>
              </a:rPr>
              <a:t>Généralisation à d'autres ERP open source : Odoo, ERPNext</a:t>
            </a:r>
            <a:endParaRPr lang="en-US" sz="1100" dirty="0"/>
          </a:p>
          <a:p>
            <a:pPr marL="177800" indent="-177800">
              <a:buSzPct val="100000"/>
              <a:buChar char="•"/>
            </a:pPr>
            <a:r>
              <a:rPr lang="en-US" sz="1400" dirty="0">
                <a:solidFill>
                  <a:srgbClr val="2A3142"/>
                </a:solidFill>
              </a:rPr>
              <a:t>Capitalisation IA : apprentissage sur l'historique des mappings réussis</a:t>
            </a:r>
            <a:endParaRPr lang="en-US" sz="1100" dirty="0"/>
          </a:p>
        </p:txBody>
      </p:sp>
      <p:pic>
        <p:nvPicPr>
          <p:cNvPr id="7"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8" name="Text 4"/>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9" name="Text 5"/>
          <p:cNvSpPr/>
          <p:nvPr/>
        </p:nvSpPr>
        <p:spPr>
          <a:xfrm>
            <a:off x="10360152" y="6309360"/>
            <a:ext cx="1188720" cy="274320"/>
          </a:xfrm>
          <a:prstGeom prst="rect">
            <a:avLst/>
          </a:prstGeom>
          <a:noFill/>
        </p:spPr>
        <p:txBody>
          <a:bodyPr wrap="square" lIns="0" tIns="0" rIns="0" bIns="0" rtlCol="0" anchor="ctr"/>
          <a:lstStyle/>
          <a:p>
            <a:pPr marL="0" indent="0" algn="r">
              <a:buNone/>
            </a:pPr>
            <a:r>
              <a:rPr lang="fr-FR" sz="1000" b="1">
                <a:solidFill>
                  <a:srgbClr val="1F4E9C"/>
                </a:solidFill>
                <a:latin typeface="Calibri" panose="020F0502020204030204"/>
              </a:rPr>
              <a:t>2</a:t>
            </a:r>
            <a:r>
              <a:rPr sz="1000" b="1">
                <a:solidFill>
                  <a:srgbClr val="1F4E9C"/>
                </a:solidFill>
                <a:latin typeface="Calibri" panose="020F0502020204030204"/>
              </a:rPr>
              <a:t>1</a:t>
            </a:r>
            <a:r>
              <a:rPr sz="1000" b="0">
                <a:solidFill>
                  <a:srgbClr val="7A8294"/>
                </a:solidFill>
                <a:latin typeface="Calibri" panose="020F0502020204030204"/>
              </a:rPr>
              <a:t> / </a:t>
            </a:r>
            <a:r>
              <a:rPr lang="fr-FR" sz="1000" b="0">
                <a:solidFill>
                  <a:srgbClr val="7A8294"/>
                </a:solidFill>
                <a:latin typeface="Calibri" panose="020F0502020204030204"/>
              </a:rPr>
              <a:t>22</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1"/>
          <a:stretch>
            <a:fillRect/>
          </a:stretch>
        </p:blipFill>
        <p:spPr>
          <a:xfrm>
            <a:off x="9540240" y="-502920"/>
            <a:ext cx="3014472" cy="7863840"/>
          </a:xfrm>
          <a:prstGeom prst="rect">
            <a:avLst/>
          </a:prstGeom>
        </p:spPr>
      </p:pic>
      <p:sp>
        <p:nvSpPr>
          <p:cNvPr id="3" name="Text 0"/>
          <p:cNvSpPr/>
          <p:nvPr/>
        </p:nvSpPr>
        <p:spPr>
          <a:xfrm>
            <a:off x="822960" y="2651760"/>
            <a:ext cx="9144000" cy="914400"/>
          </a:xfrm>
          <a:prstGeom prst="rect">
            <a:avLst/>
          </a:prstGeom>
          <a:noFill/>
        </p:spPr>
        <p:txBody>
          <a:bodyPr wrap="square" lIns="0" tIns="0" rIns="0" bIns="0" rtlCol="0" anchor="ctr"/>
          <a:lstStyle/>
          <a:p>
            <a:pPr marL="0" indent="0">
              <a:buNone/>
            </a:pPr>
            <a:r>
              <a:rPr lang="en-US" sz="4000" b="1" dirty="0">
                <a:solidFill>
                  <a:srgbClr val="12203F"/>
                </a:solidFill>
                <a:latin typeface="Cambria" panose="02040503050406030204" pitchFamily="34" charset="0"/>
                <a:ea typeface="Cambria" panose="02040503050406030204" pitchFamily="34" charset="-122"/>
                <a:cs typeface="Cambria" panose="02040503050406030204" pitchFamily="34" charset="-120"/>
              </a:rPr>
              <a:t>Merci de votre attention</a:t>
            </a:r>
            <a:endParaRPr lang="en-US" sz="4000" dirty="0"/>
          </a:p>
        </p:txBody>
      </p:sp>
      <p:sp>
        <p:nvSpPr>
          <p:cNvPr id="4" name="Text 1"/>
          <p:cNvSpPr/>
          <p:nvPr/>
        </p:nvSpPr>
        <p:spPr>
          <a:xfrm>
            <a:off x="822960" y="3657600"/>
            <a:ext cx="7315200" cy="457200"/>
          </a:xfrm>
          <a:prstGeom prst="rect">
            <a:avLst/>
          </a:prstGeom>
          <a:noFill/>
        </p:spPr>
        <p:txBody>
          <a:bodyPr wrap="square" lIns="0" tIns="0" rIns="0" bIns="0" rtlCol="0" anchor="ctr"/>
          <a:lstStyle/>
          <a:p>
            <a:pPr marL="0" indent="0">
              <a:buNone/>
            </a:pPr>
            <a:r>
              <a:rPr lang="en-US" sz="1600" dirty="0">
                <a:solidFill>
                  <a:srgbClr val="1F4E9C"/>
                </a:solidFill>
                <a:latin typeface="Calibri" panose="020F0502020204030204" pitchFamily="34" charset="0"/>
                <a:ea typeface="Calibri" panose="020F0502020204030204" pitchFamily="34" charset="-122"/>
                <a:cs typeface="Calibri" panose="020F0502020204030204" pitchFamily="34" charset="-120"/>
              </a:rPr>
              <a:t>Place à vos questions</a:t>
            </a:r>
            <a:endParaRPr lang="en-US" sz="1600" dirty="0"/>
          </a:p>
        </p:txBody>
      </p:sp>
      <p:pic>
        <p:nvPicPr>
          <p:cNvPr id="5" name="Image 1" descr="preencoded.png"/>
          <p:cNvPicPr>
            <a:picLocks noChangeAspect="1"/>
          </p:cNvPicPr>
          <p:nvPr/>
        </p:nvPicPr>
        <p:blipFill>
          <a:blip r:embed="rId2"/>
          <a:stretch>
            <a:fillRect/>
          </a:stretch>
        </p:blipFill>
        <p:spPr>
          <a:xfrm>
            <a:off x="822960" y="4754880"/>
            <a:ext cx="958291" cy="548640"/>
          </a:xfrm>
          <a:prstGeom prst="rect">
            <a:avLst/>
          </a:prstGeom>
        </p:spPr>
      </p:pic>
    </p:spTree>
  </p:cSld>
  <p:clrMapOvr>
    <a:masterClrMapping/>
  </p:clrMapOvr>
</p:sld>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