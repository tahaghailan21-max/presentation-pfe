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63" r:id="rId21"/>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en-US"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en-US"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en-US"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arrive maintenant à l'architecture globale du framework, telle qu'elle a été implémentée.</a:t>
            </a:r>
            <a:endParaRPr lang="fr-FR" dirty="0"/>
          </a:p>
          <a:p>
            <a:endParaRPr lang="fr-FR" dirty="0"/>
          </a:p>
          <a:p>
            <a:r>
              <a:rPr lang="fr-FR" dirty="0"/>
              <a:t>En entrée, les fichiers CSV du client. Ils arrivent dans Axelor Mapper, l'application web qu'on a développée. Côté technique, elle repose sur React pour l'interface, FastAPI pour le backend, et xterm.js pour le terminal conversationnel directement dans le navigateur.</a:t>
            </a:r>
            <a:endParaRPr lang="fr-FR" dirty="0"/>
          </a:p>
          <a:p>
            <a:endParaRPr lang="fr-FR" dirty="0"/>
          </a:p>
          <a:p>
            <a:r>
              <a:rPr lang="fr-FR" dirty="0"/>
              <a:t>De là, les skills IA prennent le relais. On en a trois, développés comme des skills Claude Code. Le premier analyse le CSV et produit un manifeste JSON de mapping. Le deuxième lit ce manifeste et génère les fichiers de pipelines Apache Hop. Le troisième orchestre l'exécution du workflow.</a:t>
            </a:r>
            <a:endParaRPr lang="fr-FR" dirty="0"/>
          </a:p>
          <a:p>
            <a:endParaRPr lang="fr-FR" dirty="0"/>
          </a:p>
          <a:p>
            <a:r>
              <a:rPr lang="fr-FR" dirty="0"/>
              <a:t>Ces pipelines couvrent les 4 entités métier d'Axelor : produits, partenaires, commandes de vente et factures. En tout, environ 19 pipelines générés.</a:t>
            </a:r>
            <a:endParaRPr lang="fr-FR" dirty="0"/>
          </a:p>
          <a:p>
            <a:endParaRPr lang="fr-FR" dirty="0"/>
          </a:p>
          <a:p>
            <a:r>
              <a:rPr lang="fr-FR" dirty="0"/>
              <a:t>Et en bout de chaîne, Apache Hop exécute les pipelines et insère les données directement dans PostgreSQL via JDBC, sans passer par la couche ORM d'Axelor. Ca évite toutes les validations métier qui ne sont pas pertinentes pour un import, et c'est là qu'on gagne le plus en performance.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lstStyle/>
          <a:p>
            <a:r>
              <a:rPr lang="en-US" altLang="en-US" dirty="0"/>
              <a:t>L'application Axelor Import Studio se compose de deux parties : un frontend React et un backend FastAPI.</a:t>
            </a:r>
            <a:endParaRPr lang="en-US" altLang="en-US" dirty="0"/>
          </a:p>
          <a:p>
            <a:endParaRPr lang="en-US" altLang="en-US" dirty="0"/>
          </a:p>
          <a:p>
            <a:r>
              <a:rPr lang="en-US" altLang="en-US" dirty="0"/>
              <a:t>Le frontend communique avec le backend via HTTP classique pour les actions : démarrer une session, déclencher la génération des pipelines, consulter les résultats.</a:t>
            </a:r>
            <a:endParaRPr lang="en-US" altLang="en-US" dirty="0"/>
          </a:p>
          <a:p>
            <a:endParaRPr lang="en-US" altLang="en-US" dirty="0"/>
          </a:p>
          <a:p>
            <a:r>
              <a:rPr lang="en-US" altLang="en-US" dirty="0"/>
              <a:t>Pour le terminal, c'est différent. Dans le navigateur, on a xterm.js qui émule un vrai terminal. La communication entre xterm.js et le backend se fait via WebSocket, bidirectionnel et en temps réel. Les frappes partent vers le backend, les réponses reviennent en flux continu.</a:t>
            </a:r>
            <a:endParaRPr lang="en-US" altLang="en-US" dirty="0"/>
          </a:p>
          <a:p>
            <a:endParaRPr lang="en-US" altLang="en-US" dirty="0"/>
          </a:p>
          <a:p>
            <a:r>
              <a:rPr lang="en-US" altLang="en-US" dirty="0"/>
              <a:t>Côté backend, quand une session démarre, FastAPI spawn Claude CLI dans un PTY, un pseudo-terminal. Et c'est un choix architectural important.</a:t>
            </a:r>
            <a:endParaRPr lang="en-US" altLang="en-US" dirty="0"/>
          </a:p>
          <a:p>
            <a:endParaRPr lang="en-US" altLang="en-US" dirty="0"/>
          </a:p>
          <a:p>
            <a:r>
              <a:rPr lang="en-US" altLang="en-US" dirty="0"/>
              <a:t>Pourquoi un PTY et pas un simple subprocess ? Parce que Claude a un mécanisme d'interaction, le AskUserQuestion, qui affiche des choix cliquables dans le terminal et attend une réponse de l'utilisateur. Ce comportement est incompatible avec le mode sans interaction en ligne de commande classique.</a:t>
            </a:r>
            <a:endParaRPr lang="en-US" altLang="en-US" dirty="0"/>
          </a:p>
          <a:p>
            <a:endParaRPr lang="en-US" altLang="en-US" dirty="0"/>
          </a:p>
          <a:p>
            <a:r>
              <a:rPr lang="en-US" altLang="en-US" dirty="0"/>
              <a:t>Maître-esclave c'est le terme technique : le PTY crée une paire maître-esclave. Claude tourne sur le côté esclave, le backend lit en continu depuis le maître et relaie les données vers le WebSocket. Et dans l'autre sens, les frappes de l'utilisateur remontent du WebSocket vers le maître.</a:t>
            </a:r>
            <a:endParaRPr lang="en-US" altLang="en-US" dirty="0"/>
          </a:p>
          <a:p>
            <a:endParaRPr lang="en-US" altLang="en-US" dirty="0"/>
          </a:p>
          <a:p>
            <a:r>
              <a:rPr lang="en-US" altLang="en-US" dirty="0"/>
              <a:t>Le reste du backend g</a:t>
            </a:r>
            <a:r>
              <a:rPr lang="" altLang="en-US" dirty="0"/>
              <a:t>è</a:t>
            </a:r>
            <a:r>
              <a:rPr lang="en-US" altLang="en-US" dirty="0"/>
              <a:t>re les sessions par UUID, la génération des fichiers XML Apache Hop depuis le manifeste, et l'acc</a:t>
            </a:r>
            <a:r>
              <a:rPr lang="" altLang="en-US" dirty="0"/>
              <a:t>è</a:t>
            </a:r>
            <a:r>
              <a:rPr lang="en-US" altLang="en-US" dirty="0"/>
              <a:t>s direct à PostgreSQL pour la phase d'exécution.</a:t>
            </a:r>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passe maintenant à la réalisation. Ce diagramme montre l'architecture globale telle qu'elle a été implémentée.</a:t>
            </a:r>
            <a:endParaRPr lang="fr-FR" dirty="0"/>
          </a:p>
          <a:p>
            <a:endParaRPr lang="fr-FR" dirty="0"/>
          </a:p>
          <a:p>
            <a:r>
              <a:rPr lang="fr-FR" dirty="0"/>
              <a:t>En entrée, les fichiers CSV du client. Ils passent par Axelor Mapper, l'application web qu'on a développée, qui expose une interface web et un terminal conversationnel connecté à Claude.</a:t>
            </a:r>
            <a:endParaRPr lang="fr-FR" dirty="0"/>
          </a:p>
          <a:p>
            <a:endParaRPr lang="fr-FR" dirty="0"/>
          </a:p>
          <a:p>
            <a:r>
              <a:rPr lang="fr-FR" dirty="0"/>
              <a:t>Les deux skills IA s'enchaînent : Analyze &amp; Map produit le manifeste JSON, Generate Pipeline le lit et génère les fichiers Apache Hop. Le moteur Apache Hop exécute ces pipelines et insère les données directement dans PostgreSQL.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22</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22</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004050" y="340360"/>
            <a:ext cx="2405380" cy="6243320"/>
          </a:xfrm>
          <a:prstGeom prst="rect">
            <a:avLst/>
          </a:prstGeom>
        </p:spPr>
      </p:pic>
      <p:sp>
        <p:nvSpPr>
          <p:cNvPr id="9" name="Text 8"/>
          <p:cNvSpPr txBox="1"/>
          <p:nvPr/>
        </p:nvSpPr>
        <p:spPr>
          <a:xfrm>
            <a:off x="640080" y="1900000"/>
            <a:ext cx="5500000" cy="500000"/>
          </a:xfrm>
          <a:prstGeom prst="rect">
            <a:avLst/>
          </a:prstGeom>
          <a:noFill/>
        </p:spPr>
        <p:txBody>
          <a:bodyPr wrap="square">
            <a:spAutoFit/>
          </a:bodyPr>
          <a:lstStyle/>
          <a:p>
            <a:pPr algn="l"/>
            <a:r>
              <a:rPr sz="900" b="0" dirty="0">
                <a:solidFill>
                  <a:srgbClr val="7A8294"/>
                </a:solidFill>
                <a:latin typeface="Calibri" panose="020F0502020204030204"/>
              </a:rPr>
              <a:t>Axelor Mapper</a:t>
            </a:r>
            <a:endParaRPr sz="900" b="0" dirty="0">
              <a:solidFill>
                <a:srgbClr val="7A8294"/>
              </a:solidFill>
              <a:latin typeface="Calibri" panose="020F0502020204030204"/>
            </a:endParaRPr>
          </a:p>
          <a:p>
            <a:pPr algn="l"/>
            <a:r>
              <a:rPr sz="1100" b="1" dirty="0">
                <a:solidFill>
                  <a:srgbClr val="1F4E9C"/>
                </a:solidFill>
                <a:latin typeface="Calibri" panose="020F0502020204030204"/>
              </a:rPr>
              <a:t>React + FastAPI + xterm.js</a:t>
            </a:r>
            <a:endParaRPr sz="1100" b="1" dirty="0">
              <a:solidFill>
                <a:srgbClr val="1F4E9C"/>
              </a:solidFill>
              <a:latin typeface="Calibri" panose="020F0502020204030204"/>
            </a:endParaRPr>
          </a:p>
        </p:txBody>
      </p:sp>
      <p:sp>
        <p:nvSpPr>
          <p:cNvPr id="10" name="Text 9"/>
          <p:cNvSpPr txBox="1"/>
          <p:nvPr/>
        </p:nvSpPr>
        <p:spPr>
          <a:xfrm>
            <a:off x="658495" y="2400535"/>
            <a:ext cx="5500000" cy="398780"/>
          </a:xfrm>
          <a:prstGeom prst="rect">
            <a:avLst/>
          </a:prstGeom>
          <a:noFill/>
        </p:spPr>
        <p:txBody>
          <a:bodyPr wrap="square">
            <a:spAutoFit/>
          </a:bodyPr>
          <a:lstStyle/>
          <a:p>
            <a:pPr algn="l"/>
            <a:r>
              <a:rPr sz="900" b="0" dirty="0">
                <a:solidFill>
                  <a:srgbClr val="7A8294"/>
                </a:solidFill>
                <a:latin typeface="Calibri" panose="020F0502020204030204"/>
              </a:rPr>
              <a:t>Skills IA</a:t>
            </a:r>
            <a:endParaRPr sz="900" b="0" dirty="0">
              <a:solidFill>
                <a:srgbClr val="7A8294"/>
              </a:solidFill>
              <a:latin typeface="Calibri" panose="020F0502020204030204"/>
            </a:endParaRPr>
          </a:p>
          <a:p>
            <a:pPr algn="l"/>
            <a:r>
              <a:rPr sz="1100" b="1" dirty="0">
                <a:solidFill>
                  <a:srgbClr val="1F4E9C"/>
                </a:solidFill>
                <a:latin typeface="Calibri" panose="020F0502020204030204"/>
              </a:rPr>
              <a:t>3 skills Claude</a:t>
            </a:r>
            <a:endParaRPr sz="1100" b="1" dirty="0">
              <a:solidFill>
                <a:srgbClr val="1F4E9C"/>
              </a:solidFill>
              <a:latin typeface="Calibri" panose="020F0502020204030204"/>
            </a:endParaRPr>
          </a:p>
        </p:txBody>
      </p:sp>
      <p:sp>
        <p:nvSpPr>
          <p:cNvPr id="11" name="Text 10"/>
          <p:cNvSpPr txBox="1"/>
          <p:nvPr/>
        </p:nvSpPr>
        <p:spPr>
          <a:xfrm>
            <a:off x="658495" y="2900715"/>
            <a:ext cx="5500000" cy="398780"/>
          </a:xfrm>
          <a:prstGeom prst="rect">
            <a:avLst/>
          </a:prstGeom>
          <a:noFill/>
        </p:spPr>
        <p:txBody>
          <a:bodyPr wrap="square">
            <a:spAutoFit/>
          </a:bodyPr>
          <a:lstStyle/>
          <a:p>
            <a:pPr algn="l"/>
            <a:r>
              <a:rPr sz="900" b="0" dirty="0">
                <a:solidFill>
                  <a:srgbClr val="7A8294"/>
                </a:solidFill>
                <a:latin typeface="Calibri" panose="020F0502020204030204"/>
              </a:rPr>
              <a:t>Pipelines</a:t>
            </a:r>
            <a:endParaRPr sz="900" b="0" dirty="0">
              <a:solidFill>
                <a:srgbClr val="7A8294"/>
              </a:solidFill>
              <a:latin typeface="Calibri" panose="020F0502020204030204"/>
            </a:endParaRPr>
          </a:p>
          <a:p>
            <a:pPr algn="l"/>
            <a:r>
              <a:rPr sz="1100" b="1" dirty="0">
                <a:solidFill>
                  <a:srgbClr val="1F4E9C"/>
                </a:solidFill>
                <a:latin typeface="Calibri" panose="020F0502020204030204"/>
              </a:rPr>
              <a:t>~19 pipelines — 4 entités</a:t>
            </a:r>
            <a:r>
              <a:rPr lang="fr-FR" sz="1100" b="1" dirty="0">
                <a:solidFill>
                  <a:srgbClr val="1F4E9C"/>
                </a:solidFill>
                <a:latin typeface="Calibri" panose="020F0502020204030204"/>
              </a:rPr>
              <a:t> principales (et d’autres </a:t>
            </a:r>
            <a:r>
              <a:rPr sz="1100" b="1" dirty="0">
                <a:solidFill>
                  <a:srgbClr val="1F4E9C"/>
                </a:solidFill>
                <a:latin typeface="Calibri" panose="020F0502020204030204"/>
                <a:sym typeface="+mn-ea"/>
              </a:rPr>
              <a:t>entités</a:t>
            </a:r>
            <a:r>
              <a:rPr lang="fr-FR" sz="1100" b="1" dirty="0">
                <a:solidFill>
                  <a:srgbClr val="1F4E9C"/>
                </a:solidFill>
                <a:latin typeface="Calibri" panose="020F0502020204030204"/>
                <a:sym typeface="+mn-ea"/>
              </a:rPr>
              <a:t> de d</a:t>
            </a:r>
            <a:r>
              <a:rPr sz="1100" b="1" dirty="0">
                <a:solidFill>
                  <a:srgbClr val="1F4E9C"/>
                </a:solidFill>
                <a:latin typeface="Calibri" panose="020F0502020204030204"/>
                <a:sym typeface="+mn-ea"/>
              </a:rPr>
              <a:t>é</a:t>
            </a:r>
            <a:r>
              <a:rPr lang="fr-FR" sz="1100" b="1" dirty="0">
                <a:solidFill>
                  <a:srgbClr val="1F4E9C"/>
                </a:solidFill>
                <a:latin typeface="Calibri" panose="020F0502020204030204"/>
                <a:sym typeface="+mn-ea"/>
              </a:rPr>
              <a:t>pendances</a:t>
            </a:r>
            <a:endParaRPr lang="fr-FR" sz="1100" b="1" dirty="0">
              <a:solidFill>
                <a:srgbClr val="1F4E9C"/>
              </a:solidFill>
              <a:latin typeface="Calibri" panose="020F0502020204030204"/>
            </a:endParaRPr>
          </a:p>
        </p:txBody>
      </p:sp>
      <p:sp>
        <p:nvSpPr>
          <p:cNvPr id="12" name="Text 11"/>
          <p:cNvSpPr txBox="1"/>
          <p:nvPr/>
        </p:nvSpPr>
        <p:spPr>
          <a:xfrm>
            <a:off x="658495" y="3427335"/>
            <a:ext cx="5500000" cy="500000"/>
          </a:xfrm>
          <a:prstGeom prst="rect">
            <a:avLst/>
          </a:prstGeom>
          <a:noFill/>
        </p:spPr>
        <p:txBody>
          <a:bodyPr wrap="square">
            <a:spAutoFit/>
          </a:bodyPr>
          <a:lstStyle/>
          <a:p>
            <a:pPr algn="l"/>
            <a:r>
              <a:rPr sz="900" b="0" dirty="0">
                <a:solidFill>
                  <a:srgbClr val="7A8294"/>
                </a:solidFill>
                <a:latin typeface="Calibri" panose="020F0502020204030204"/>
              </a:rPr>
              <a:t>PostgreSQL</a:t>
            </a:r>
            <a:endParaRPr sz="900" b="0" dirty="0">
              <a:solidFill>
                <a:srgbClr val="7A8294"/>
              </a:solidFill>
              <a:latin typeface="Calibri" panose="020F0502020204030204"/>
            </a:endParaRPr>
          </a:p>
          <a:p>
            <a:pPr algn="l"/>
            <a:r>
              <a:rPr sz="1100" b="1" dirty="0">
                <a:solidFill>
                  <a:srgbClr val="1F4E9C"/>
                </a:solidFill>
                <a:latin typeface="Calibri" panose="020F0502020204030204"/>
              </a:rPr>
              <a:t>Accès direct JDBC — bypass couche ORM</a:t>
            </a:r>
            <a:endParaRPr sz="1100" b="1" dirty="0">
              <a:solidFill>
                <a:srgbClr val="1F4E9C"/>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568960" y="152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TextBox 8"/>
          <p:cNvSpPr txBox="1"/>
          <p:nvPr/>
        </p:nvSpPr>
        <p:spPr>
          <a:xfrm>
            <a:off x="189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0" name="Rounded Rectangle 9"/>
          <p:cNvSpPr/>
          <p:nvPr/>
        </p:nvSpPr>
        <p:spPr>
          <a:xfrm>
            <a:off x="2128960" y="152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TextBox 10"/>
          <p:cNvSpPr txBox="1"/>
          <p:nvPr/>
        </p:nvSpPr>
        <p:spPr>
          <a:xfrm>
            <a:off x="415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2" name="Rounded Rectangle 11"/>
          <p:cNvSpPr/>
          <p:nvPr/>
        </p:nvSpPr>
        <p:spPr>
          <a:xfrm>
            <a:off x="4388960" y="152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3" name="TextBox 12"/>
          <p:cNvSpPr txBox="1"/>
          <p:nvPr/>
        </p:nvSpPr>
        <p:spPr>
          <a:xfrm>
            <a:off x="6268640" y="1860000"/>
            <a:ext cx="3480000" cy="320000"/>
          </a:xfrm>
          <a:prstGeom prst="rect">
            <a:avLst/>
          </a:prstGeom>
          <a:noFill/>
        </p:spPr>
        <p:txBody>
          <a:bodyPr wrap="square">
            <a:spAutoFit/>
          </a:bodyPr>
          <a:lstStyle/>
          <a:p>
            <a:pPr algn="l"/>
            <a:r>
              <a:rPr sz="850" b="0" i="0">
                <a:solidFill>
                  <a:srgbClr val="7A8294"/>
                </a:solidFill>
                <a:latin typeface="Calibri" panose="020F0502020204030204"/>
              </a:rPr>
              <a:t>Lit le CSV, introspècte la BD,</a:t>
            </a:r>
            <a:endParaRPr sz="850" b="0" i="0">
              <a:solidFill>
                <a:srgbClr val="7A8294"/>
              </a:solidFill>
              <a:latin typeface="Calibri" panose="020F0502020204030204"/>
            </a:endParaRPr>
          </a:p>
        </p:txBody>
      </p:sp>
      <p:sp>
        <p:nvSpPr>
          <p:cNvPr id="14" name="TextBox 13"/>
          <p:cNvSpPr txBox="1"/>
          <p:nvPr/>
        </p:nvSpPr>
        <p:spPr>
          <a:xfrm>
            <a:off x="6268640" y="2200000"/>
            <a:ext cx="3480000" cy="320000"/>
          </a:xfrm>
          <a:prstGeom prst="rect">
            <a:avLst/>
          </a:prstGeom>
          <a:noFill/>
        </p:spPr>
        <p:txBody>
          <a:bodyPr wrap="square">
            <a:spAutoFit/>
          </a:bodyPr>
          <a:lstStyle/>
          <a:p>
            <a:pPr algn="l"/>
            <a:r>
              <a:rPr sz="850" b="0" i="0">
                <a:solidFill>
                  <a:srgbClr val="7A8294"/>
                </a:solidFill>
                <a:latin typeface="Calibri" panose="020F0502020204030204"/>
              </a:rPr>
              <a:t>résout les FK interactivement</a:t>
            </a:r>
            <a:endParaRPr sz="850" b="0" i="0">
              <a:solidFill>
                <a:srgbClr val="7A8294"/>
              </a:solidFill>
              <a:latin typeface="Calibri" panose="020F0502020204030204"/>
            </a:endParaRPr>
          </a:p>
        </p:txBody>
      </p:sp>
      <p:sp>
        <p:nvSpPr>
          <p:cNvPr id="15" name="TextBox 14"/>
          <p:cNvSpPr txBox="1"/>
          <p:nvPr/>
        </p:nvSpPr>
        <p:spPr>
          <a:xfrm>
            <a:off x="6268640" y="2540000"/>
            <a:ext cx="3480000" cy="320000"/>
          </a:xfrm>
          <a:prstGeom prst="rect">
            <a:avLst/>
          </a:prstGeom>
          <a:noFill/>
        </p:spPr>
        <p:txBody>
          <a:bodyPr wrap="square">
            <a:spAutoFit/>
          </a:bodyPr>
          <a:lstStyle/>
          <a:p>
            <a:pPr algn="l"/>
            <a:r>
              <a:rPr sz="850" b="0" i="0">
                <a:solidFill>
                  <a:srgbClr val="7A8294"/>
                </a:solidFill>
                <a:latin typeface="Calibri" panose="020F0502020204030204"/>
              </a:rPr>
              <a:t>avec le consultant</a:t>
            </a:r>
            <a:endParaRPr sz="850" b="0" i="0">
              <a:solidFill>
                <a:srgbClr val="7A8294"/>
              </a:solidFill>
              <a:latin typeface="Calibri" panose="020F0502020204030204"/>
            </a:endParaRPr>
          </a:p>
        </p:txBody>
      </p:sp>
      <p:sp>
        <p:nvSpPr>
          <p:cNvPr id="16" name="Rounded Rectangle 15"/>
          <p:cNvSpPr/>
          <p:nvPr/>
        </p:nvSpPr>
        <p:spPr>
          <a:xfrm>
            <a:off x="568960" y="316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7" name="TextBox 16"/>
          <p:cNvSpPr txBox="1"/>
          <p:nvPr/>
        </p:nvSpPr>
        <p:spPr>
          <a:xfrm>
            <a:off x="189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8" name="Rounded Rectangle 17"/>
          <p:cNvSpPr/>
          <p:nvPr/>
        </p:nvSpPr>
        <p:spPr>
          <a:xfrm>
            <a:off x="2128960" y="316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9" name="TextBox 18"/>
          <p:cNvSpPr txBox="1"/>
          <p:nvPr/>
        </p:nvSpPr>
        <p:spPr>
          <a:xfrm>
            <a:off x="415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0" name="Rounded Rectangle 19"/>
          <p:cNvSpPr/>
          <p:nvPr/>
        </p:nvSpPr>
        <p:spPr>
          <a:xfrm>
            <a:off x="4388960" y="316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 (Apache Hop)</a:t>
            </a:r>
            <a:endParaRPr sz="800" b="0">
              <a:solidFill>
                <a:srgbClr val="12203F"/>
              </a:solidFill>
              <a:latin typeface="Calibri" panose="020F0502020204030204"/>
            </a:endParaRPr>
          </a:p>
        </p:txBody>
      </p:sp>
      <p:sp>
        <p:nvSpPr>
          <p:cNvPr id="21" name="TextBox 20"/>
          <p:cNvSpPr txBox="1"/>
          <p:nvPr/>
        </p:nvSpPr>
        <p:spPr>
          <a:xfrm>
            <a:off x="6268640" y="350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les pipelines XML</a:t>
            </a:r>
            <a:endParaRPr sz="850" b="0" i="0">
              <a:solidFill>
                <a:srgbClr val="7A8294"/>
              </a:solidFill>
              <a:latin typeface="Calibri" panose="020F0502020204030204"/>
            </a:endParaRPr>
          </a:p>
        </p:txBody>
      </p:sp>
      <p:sp>
        <p:nvSpPr>
          <p:cNvPr id="22" name="TextBox 21"/>
          <p:cNvSpPr txBox="1"/>
          <p:nvPr/>
        </p:nvSpPr>
        <p:spPr>
          <a:xfrm>
            <a:off x="6268640" y="3840000"/>
            <a:ext cx="3480000" cy="320000"/>
          </a:xfrm>
          <a:prstGeom prst="rect">
            <a:avLst/>
          </a:prstGeom>
          <a:noFill/>
        </p:spPr>
        <p:txBody>
          <a:bodyPr wrap="square">
            <a:spAutoFit/>
          </a:bodyPr>
          <a:lstStyle/>
          <a:p>
            <a:pPr algn="l"/>
            <a:r>
              <a:rPr sz="850" b="0" i="0">
                <a:solidFill>
                  <a:srgbClr val="7A8294"/>
                </a:solidFill>
                <a:latin typeface="Calibri" panose="020F0502020204030204"/>
              </a:rPr>
              <a:t>conformes au schéma Hop</a:t>
            </a:r>
            <a:endParaRPr sz="850" b="0" i="0">
              <a:solidFill>
                <a:srgbClr val="7A8294"/>
              </a:solidFill>
              <a:latin typeface="Calibri" panose="020F0502020204030204"/>
            </a:endParaRPr>
          </a:p>
        </p:txBody>
      </p:sp>
      <p:sp>
        <p:nvSpPr>
          <p:cNvPr id="23" name="TextBox 22"/>
          <p:cNvSpPr txBox="1"/>
          <p:nvPr/>
        </p:nvSpPr>
        <p:spPr>
          <a:xfrm>
            <a:off x="6268640" y="4180000"/>
            <a:ext cx="3480000" cy="320000"/>
          </a:xfrm>
          <a:prstGeom prst="rect">
            <a:avLst/>
          </a:prstGeom>
          <a:noFill/>
        </p:spPr>
        <p:txBody>
          <a:bodyPr wrap="square">
            <a:spAutoFit/>
          </a:bodyPr>
          <a:lstStyle/>
          <a:p>
            <a:pPr algn="l"/>
            <a:r>
              <a:rPr sz="850" b="0" i="0">
                <a:solidFill>
                  <a:srgbClr val="7A8294"/>
                </a:solidFill>
                <a:latin typeface="Calibri" panose="020F0502020204030204"/>
              </a:rPr>
              <a:t>pour chaque entité</a:t>
            </a:r>
            <a:endParaRPr sz="850" b="0" i="0">
              <a:solidFill>
                <a:srgbClr val="7A8294"/>
              </a:solidFill>
              <a:latin typeface="Calibri" panose="020F0502020204030204"/>
            </a:endParaRPr>
          </a:p>
        </p:txBody>
      </p:sp>
      <p:sp>
        <p:nvSpPr>
          <p:cNvPr id="24" name="Rounded Rectangle 23"/>
          <p:cNvSpPr/>
          <p:nvPr/>
        </p:nvSpPr>
        <p:spPr>
          <a:xfrm>
            <a:off x="568960" y="480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25" name="TextBox 24"/>
          <p:cNvSpPr txBox="1"/>
          <p:nvPr/>
        </p:nvSpPr>
        <p:spPr>
          <a:xfrm>
            <a:off x="189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6" name="Rounded Rectangle 25"/>
          <p:cNvSpPr/>
          <p:nvPr/>
        </p:nvSpPr>
        <p:spPr>
          <a:xfrm>
            <a:off x="2128960" y="480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27" name="TextBox 26"/>
          <p:cNvSpPr txBox="1"/>
          <p:nvPr/>
        </p:nvSpPr>
        <p:spPr>
          <a:xfrm>
            <a:off x="415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8" name="Rounded Rectangle 27"/>
          <p:cNvSpPr/>
          <p:nvPr/>
        </p:nvSpPr>
        <p:spPr>
          <a:xfrm>
            <a:off x="4388960" y="480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29" name="TextBox 28"/>
          <p:cNvSpPr txBox="1"/>
          <p:nvPr/>
        </p:nvSpPr>
        <p:spPr>
          <a:xfrm>
            <a:off x="6268640" y="514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 workflow d'orchestration</a:t>
            </a:r>
            <a:endParaRPr sz="850" b="0" i="0">
              <a:solidFill>
                <a:srgbClr val="7A8294"/>
              </a:solidFill>
              <a:latin typeface="Calibri" panose="020F0502020204030204"/>
            </a:endParaRPr>
          </a:p>
        </p:txBody>
      </p:sp>
      <p:sp>
        <p:nvSpPr>
          <p:cNvPr id="30" name="TextBox 29"/>
          <p:cNvSpPr txBox="1"/>
          <p:nvPr/>
        </p:nvSpPr>
        <p:spPr>
          <a:xfrm>
            <a:off x="6268640" y="5480000"/>
            <a:ext cx="3480000" cy="320000"/>
          </a:xfrm>
          <a:prstGeom prst="rect">
            <a:avLst/>
          </a:prstGeom>
          <a:noFill/>
        </p:spPr>
        <p:txBody>
          <a:bodyPr wrap="square">
            <a:spAutoFit/>
          </a:bodyPr>
          <a:lstStyle/>
          <a:p>
            <a:pPr algn="l"/>
            <a:r>
              <a:rPr sz="850" b="0" i="0">
                <a:solidFill>
                  <a:srgbClr val="7A8294"/>
                </a:solidFill>
                <a:latin typeface="Calibri" panose="020F0502020204030204"/>
              </a:rPr>
              <a:t>qui enchaîne les pipelines</a:t>
            </a:r>
            <a:endParaRPr sz="850" b="0" i="0">
              <a:solidFill>
                <a:srgbClr val="7A8294"/>
              </a:solidFill>
              <a:latin typeface="Calibri" panose="020F0502020204030204"/>
            </a:endParaRPr>
          </a:p>
        </p:txBody>
      </p:sp>
      <p:sp>
        <p:nvSpPr>
          <p:cNvPr id="31" name="TextBox 30"/>
          <p:cNvSpPr txBox="1"/>
          <p:nvPr/>
        </p:nvSpPr>
        <p:spPr>
          <a:xfrm>
            <a:off x="6268640" y="5820000"/>
            <a:ext cx="3480000" cy="320000"/>
          </a:xfrm>
          <a:prstGeom prst="rect">
            <a:avLst/>
          </a:prstGeom>
          <a:noFill/>
        </p:spPr>
        <p:txBody>
          <a:bodyPr wrap="square">
            <a:spAutoFit/>
          </a:bodyPr>
          <a:lstStyle/>
          <a:p>
            <a:pPr algn="l"/>
            <a:r>
              <a:rPr sz="850" b="0" i="0">
                <a:solidFill>
                  <a:srgbClr val="7A8294"/>
                </a:solidFill>
                <a:latin typeface="Calibri" panose="020F0502020204030204"/>
              </a:rPr>
              <a:t>dans le bon ordre topologique</a:t>
            </a:r>
            <a:endParaRPr sz="850" b="0" i="0">
              <a:solidFill>
                <a:srgbClr val="7A8294"/>
              </a:solidFill>
              <a:latin typeface="Calibri" panose="020F0502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7" name="TextBox 6"/>
          <p:cNvSpPr txBox="1"/>
          <p:nvPr/>
        </p:nvSpPr>
        <p:spPr>
          <a:xfrm>
            <a:off x="548640" y="3200000"/>
            <a:ext cx="11094720" cy="500000"/>
          </a:xfrm>
          <a:prstGeom prst="rect">
            <a:avLst/>
          </a:prstGeom>
          <a:noFill/>
        </p:spPr>
        <p:txBody>
          <a:bodyPr wrap="square">
            <a:spAutoFit/>
          </a:bodyPr>
          <a:lstStyle/>
          <a:p>
            <a:pPr algn="ctr"/>
            <a:r>
              <a:rPr sz="1400" b="0" i="1">
                <a:solidFill>
                  <a:srgbClr val="7A8294"/>
                </a:solidFill>
                <a:latin typeface="Calibri" panose="020F0502020204030204"/>
              </a:rPr>
              <a:t>[Insérer capture d'écran de l'interface ici]</a:t>
            </a:r>
            <a:endParaRPr sz="1400" b="0" i="1">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Bilan des réalisations</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ectangle 7"/>
          <p:cNvSpPr/>
          <p:nvPr/>
        </p:nvSpPr>
        <p:spPr>
          <a:xfrm>
            <a:off x="548640" y="17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0000" y="1760000"/>
            <a:ext cx="8900000" cy="350000"/>
          </a:xfrm>
          <a:prstGeom prst="rect">
            <a:avLst/>
          </a:prstGeom>
          <a:noFill/>
        </p:spPr>
        <p:txBody>
          <a:bodyPr wrap="square">
            <a:spAutoFit/>
          </a:bodyPr>
          <a:lstStyle/>
          <a:p>
            <a:pPr algn="l"/>
            <a:r>
              <a:rPr sz="1100" b="1" i="0">
                <a:solidFill>
                  <a:srgbClr val="12203F"/>
                </a:solidFill>
                <a:latin typeface="Calibri" panose="020F0502020204030204"/>
              </a:rPr>
              <a:t>19 pipelines ETL réutilisables</a:t>
            </a:r>
            <a:endParaRPr sz="1100" b="1" i="0">
              <a:solidFill>
                <a:srgbClr val="12203F"/>
              </a:solidFill>
              <a:latin typeface="Calibri" panose="020F0502020204030204"/>
            </a:endParaRPr>
          </a:p>
        </p:txBody>
      </p:sp>
      <p:sp>
        <p:nvSpPr>
          <p:cNvPr id="10" name="TextBox 9"/>
          <p:cNvSpPr txBox="1"/>
          <p:nvPr/>
        </p:nvSpPr>
        <p:spPr>
          <a:xfrm>
            <a:off x="680000" y="2130000"/>
            <a:ext cx="8900000" cy="300000"/>
          </a:xfrm>
          <a:prstGeom prst="rect">
            <a:avLst/>
          </a:prstGeom>
          <a:noFill/>
        </p:spPr>
        <p:txBody>
          <a:bodyPr wrap="square">
            <a:spAutoFit/>
          </a:bodyPr>
          <a:lstStyle/>
          <a:p>
            <a:pPr algn="l"/>
            <a:r>
              <a:rPr sz="950" b="0" i="0">
                <a:solidFill>
                  <a:srgbClr val="7A8294"/>
                </a:solidFill>
                <a:latin typeface="Calibri" panose="020F0502020204030204"/>
              </a:rPr>
              <a:t>Couvrant 4 domaines : produits, partenaires, commandes de vente, factures</a:t>
            </a:r>
            <a:endParaRPr sz="950" b="0" i="0">
              <a:solidFill>
                <a:srgbClr val="7A8294"/>
              </a:solidFill>
              <a:latin typeface="Calibri" panose="020F0502020204030204"/>
            </a:endParaRPr>
          </a:p>
        </p:txBody>
      </p:sp>
      <p:sp>
        <p:nvSpPr>
          <p:cNvPr id="11" name="Rectangle 10"/>
          <p:cNvSpPr/>
          <p:nvPr/>
        </p:nvSpPr>
        <p:spPr>
          <a:xfrm>
            <a:off x="548640" y="28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000" y="2810000"/>
            <a:ext cx="8900000" cy="350000"/>
          </a:xfrm>
          <a:prstGeom prst="rect">
            <a:avLst/>
          </a:prstGeom>
          <a:noFill/>
        </p:spPr>
        <p:txBody>
          <a:bodyPr wrap="square">
            <a:spAutoFit/>
          </a:bodyPr>
          <a:lstStyle/>
          <a:p>
            <a:pPr algn="l"/>
            <a:r>
              <a:rPr sz="1100" b="1" i="0">
                <a:solidFill>
                  <a:srgbClr val="12203F"/>
                </a:solidFill>
                <a:latin typeface="Calibri" panose="020F0502020204030204"/>
              </a:rPr>
              <a:t>3 skills Claude Code</a:t>
            </a:r>
            <a:endParaRPr sz="1100" b="1" i="0">
              <a:solidFill>
                <a:srgbClr val="12203F"/>
              </a:solidFill>
              <a:latin typeface="Calibri" panose="020F0502020204030204"/>
            </a:endParaRPr>
          </a:p>
        </p:txBody>
      </p:sp>
      <p:sp>
        <p:nvSpPr>
          <p:cNvPr id="13" name="TextBox 12"/>
          <p:cNvSpPr txBox="1"/>
          <p:nvPr/>
        </p:nvSpPr>
        <p:spPr>
          <a:xfrm>
            <a:off x="680000" y="3180000"/>
            <a:ext cx="8900000" cy="300000"/>
          </a:xfrm>
          <a:prstGeom prst="rect">
            <a:avLst/>
          </a:prstGeom>
          <a:noFill/>
        </p:spPr>
        <p:txBody>
          <a:bodyPr wrap="square">
            <a:spAutoFit/>
          </a:bodyPr>
          <a:lstStyle/>
          <a:p>
            <a:pPr algn="l"/>
            <a:r>
              <a:rPr sz="950" b="0" i="0">
                <a:solidFill>
                  <a:srgbClr val="7A8294"/>
                </a:solidFill>
                <a:latin typeface="Calibri" panose="020F0502020204030204"/>
              </a:rPr>
              <a:t>analyze-and-map-entity · generate-pipeline · generate-workflow</a:t>
            </a:r>
            <a:endParaRPr sz="950" b="0" i="0">
              <a:solidFill>
                <a:srgbClr val="7A8294"/>
              </a:solidFill>
              <a:latin typeface="Calibri" panose="020F0502020204030204"/>
            </a:endParaRPr>
          </a:p>
        </p:txBody>
      </p:sp>
      <p:sp>
        <p:nvSpPr>
          <p:cNvPr id="14" name="Rectangle 13"/>
          <p:cNvSpPr/>
          <p:nvPr/>
        </p:nvSpPr>
        <p:spPr>
          <a:xfrm>
            <a:off x="548640" y="38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000" y="3860000"/>
            <a:ext cx="8900000" cy="350000"/>
          </a:xfrm>
          <a:prstGeom prst="rect">
            <a:avLst/>
          </a:prstGeom>
          <a:noFill/>
        </p:spPr>
        <p:txBody>
          <a:bodyPr wrap="square">
            <a:spAutoFit/>
          </a:bodyPr>
          <a:lstStyle/>
          <a:p>
            <a:pPr algn="l"/>
            <a:r>
              <a:rPr sz="1100" b="1" i="0">
                <a:solidFill>
                  <a:srgbClr val="12203F"/>
                </a:solidFill>
                <a:latin typeface="Calibri" panose="020F0502020204030204"/>
              </a:rPr>
              <a:t>Axelor Import Studio</a:t>
            </a:r>
            <a:endParaRPr sz="1100" b="1" i="0">
              <a:solidFill>
                <a:srgbClr val="12203F"/>
              </a:solidFill>
              <a:latin typeface="Calibri" panose="020F0502020204030204"/>
            </a:endParaRPr>
          </a:p>
        </p:txBody>
      </p:sp>
      <p:sp>
        <p:nvSpPr>
          <p:cNvPr id="16" name="TextBox 15"/>
          <p:cNvSpPr txBox="1"/>
          <p:nvPr/>
        </p:nvSpPr>
        <p:spPr>
          <a:xfrm>
            <a:off x="680000" y="4230000"/>
            <a:ext cx="8900000" cy="300000"/>
          </a:xfrm>
          <a:prstGeom prst="rect">
            <a:avLst/>
          </a:prstGeom>
          <a:noFill/>
        </p:spPr>
        <p:txBody>
          <a:bodyPr wrap="square">
            <a:spAutoFit/>
          </a:bodyPr>
          <a:lstStyle/>
          <a:p>
            <a:pPr algn="l"/>
            <a:r>
              <a:rPr sz="950" b="0" i="0">
                <a:solidFill>
                  <a:srgbClr val="7A8294"/>
                </a:solidFill>
                <a:latin typeface="Calibri" panose="020F0502020204030204"/>
              </a:rPr>
              <a:t>Application web FastAPI + React + terminal PTY (xterm.js + WebSocket)</a:t>
            </a:r>
            <a:endParaRPr sz="950" b="0" i="0">
              <a:solidFill>
                <a:srgbClr val="7A8294"/>
              </a:solidFill>
              <a:latin typeface="Calibri" panose="020F0502020204030204"/>
            </a:endParaRPr>
          </a:p>
        </p:txBody>
      </p:sp>
      <p:sp>
        <p:nvSpPr>
          <p:cNvPr id="17" name="Rectangle 16"/>
          <p:cNvSpPr/>
          <p:nvPr/>
        </p:nvSpPr>
        <p:spPr>
          <a:xfrm>
            <a:off x="548640" y="49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000" y="4910000"/>
            <a:ext cx="8900000" cy="350000"/>
          </a:xfrm>
          <a:prstGeom prst="rect">
            <a:avLst/>
          </a:prstGeom>
          <a:noFill/>
        </p:spPr>
        <p:txBody>
          <a:bodyPr wrap="square">
            <a:spAutoFit/>
          </a:bodyPr>
          <a:lstStyle/>
          <a:p>
            <a:pPr algn="l"/>
            <a:r>
              <a:rPr sz="1100" b="1" i="0">
                <a:solidFill>
                  <a:srgbClr val="12203F"/>
                </a:solidFill>
                <a:latin typeface="Calibri" panose="020F0502020204030204"/>
              </a:rPr>
              <a:t>Manifeste JSON</a:t>
            </a:r>
            <a:endParaRPr sz="1100" b="1" i="0">
              <a:solidFill>
                <a:srgbClr val="12203F"/>
              </a:solidFill>
              <a:latin typeface="Calibri" panose="020F0502020204030204"/>
            </a:endParaRPr>
          </a:p>
        </p:txBody>
      </p:sp>
      <p:sp>
        <p:nvSpPr>
          <p:cNvPr id="19" name="TextBox 18"/>
          <p:cNvSpPr txBox="1"/>
          <p:nvPr/>
        </p:nvSpPr>
        <p:spPr>
          <a:xfrm>
            <a:off x="680000" y="5280000"/>
            <a:ext cx="8900000" cy="300000"/>
          </a:xfrm>
          <a:prstGeom prst="rect">
            <a:avLst/>
          </a:prstGeom>
          <a:noFill/>
        </p:spPr>
        <p:txBody>
          <a:bodyPr wrap="square">
            <a:spAutoFit/>
          </a:bodyPr>
          <a:lstStyle/>
          <a:p>
            <a:pPr algn="l"/>
            <a:r>
              <a:rPr sz="950" b="0" i="0">
                <a:solidFill>
                  <a:srgbClr val="7A8294"/>
                </a:solidFill>
                <a:latin typeface="Calibri" panose="020F0502020204030204"/>
              </a:rPr>
              <a:t>Contrat versionnable entre analyse IA et génération de pipelines</a:t>
            </a:r>
            <a:endParaRPr sz="950" b="0" i="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19</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0</a:t>
                      </a:r>
                      <a:endParaRPr sz="900" b="0">
                        <a:solidFill>
                          <a:srgbClr val="2A3142"/>
                        </a:solidFill>
                        <a:latin typeface="Calibri" panose="020F0502020204030204"/>
                      </a:endParaRPr>
                    </a:p>
                  </a:txBody>
                  <a:tcPr>
                    <a:solidFill>
                      <a:srgbClr val="F5F5F5"/>
                    </a:solidFill>
                  </a:tcPr>
                </a:tc>
              </a:tr>
            </a:tbl>
          </a:graphicData>
        </a:graphic>
      </p:graphicFrame>
      <p:sp>
        <p:nvSpPr>
          <p:cNvPr id="9" name="Rounded Rectangle 8"/>
          <p:cNvSpPr/>
          <p:nvPr/>
        </p:nvSpPr>
        <p:spPr>
          <a:xfrm>
            <a:off x="548640"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Ventilation des factures</a:t>
            </a:r>
            <a:endParaRPr sz="950" b="1">
              <a:solidFill>
                <a:srgbClr val="12203F"/>
              </a:solidFill>
              <a:latin typeface="Calibri" panose="020F0502020204030204"/>
            </a:endParaRPr>
          </a:p>
          <a:p>
            <a:pPr algn="ctr"/>
            <a:r>
              <a:rPr sz="850" b="0">
                <a:solidFill>
                  <a:srgbClr val="2A3142"/>
                </a:solidFill>
                <a:latin typeface="Calibri" panose="020F0502020204030204"/>
              </a:rPr>
              <a:t>Réussie — mouvements et lignes comptables créés</a:t>
            </a:r>
            <a:endParaRPr sz="850" b="0">
              <a:solidFill>
                <a:srgbClr val="2A3142"/>
              </a:solidFill>
              <a:latin typeface="Calibri" panose="020F0502020204030204"/>
            </a:endParaRPr>
          </a:p>
        </p:txBody>
      </p:sp>
      <p:sp>
        <p:nvSpPr>
          <p:cNvPr id="10" name="Rounded Rectangle 9"/>
          <p:cNvSpPr/>
          <p:nvPr/>
        </p:nvSpPr>
        <p:spPr>
          <a:xfrm>
            <a:off x="3581973"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Idempotence</a:t>
            </a:r>
            <a:endParaRPr sz="950" b="1">
              <a:solidFill>
                <a:srgbClr val="12203F"/>
              </a:solidFill>
              <a:latin typeface="Calibri" panose="020F0502020204030204"/>
            </a:endParaRPr>
          </a:p>
          <a:p>
            <a:pPr algn="ctr"/>
            <a:r>
              <a:rPr sz="850" b="0">
                <a:solidFill>
                  <a:srgbClr val="2A3142"/>
                </a:solidFill>
                <a:latin typeface="Calibri" panose="020F0502020204030204"/>
              </a:rPr>
              <a:t>0 doublon sur ré-exécution complète du workflow</a:t>
            </a:r>
            <a:endParaRPr sz="850" b="0">
              <a:solidFill>
                <a:srgbClr val="2A3142"/>
              </a:solidFill>
              <a:latin typeface="Calibri" panose="020F0502020204030204"/>
            </a:endParaRPr>
          </a:p>
        </p:txBody>
      </p:sp>
      <p:sp>
        <p:nvSpPr>
          <p:cNvPr id="11" name="Rounded Rectangle 10"/>
          <p:cNvSpPr/>
          <p:nvPr/>
        </p:nvSpPr>
        <p:spPr>
          <a:xfrm>
            <a:off x="6615306" y="4620000"/>
            <a:ext cx="2833333" cy="150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Performance</a:t>
            </a:r>
            <a:endParaRPr sz="950" b="1">
              <a:solidFill>
                <a:srgbClr val="12203F"/>
              </a:solidFill>
              <a:latin typeface="Calibri" panose="020F0502020204030204"/>
            </a:endParaRPr>
          </a:p>
          <a:p>
            <a:pPr algn="ctr"/>
            <a:r>
              <a:rPr sz="850" b="0">
                <a:solidFill>
                  <a:srgbClr val="2A3142"/>
                </a:solidFill>
                <a:latin typeface="Calibri" panose="020F0502020204030204"/>
              </a:rPr>
              <a:t>3.6× plus rapide que l'import natif Axelor</a:t>
            </a:r>
            <a:endParaRPr sz="850" b="0">
              <a:solidFill>
                <a:srgbClr val="2A3142"/>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20</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1</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7739</Words>
  <Application>WPS Presentation</Application>
  <PresentationFormat>On-screen Show (16:9)</PresentationFormat>
  <Paragraphs>623</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26</cp:revision>
  <dcterms:created xsi:type="dcterms:W3CDTF">2026-06-26T14:43:00Z</dcterms:created>
  <dcterms:modified xsi:type="dcterms:W3CDTF">2026-07-02T16:20:42Z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