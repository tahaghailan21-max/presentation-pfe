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63" r:id="rId21"/>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en-US"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en-US"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La phase post-mapping démarre quand le consultant clique sur Générer les pipelines en fournissant les chemins et le contexte. L'agent lit le manifeste et les pipelines de référence, les adapte, et gén</a:t>
            </a:r>
            <a:r>
              <a:rPr lang="en-US" altLang="en-US"/>
              <a:t>è</a:t>
            </a:r>
            <a:r>
              <a:rPr lang="en-US" altLang="en-US"/>
              <a:t>re les fichiers Apache Hop — les .hpl pour les pipelines et le .hwf pour le workflow.</a:t>
            </a:r>
            <a:endParaRPr lang="en-US" altLang="en-US"/>
          </a:p>
          <a:p>
            <a:endParaRPr lang="en-US" altLang="en-US"/>
          </a:p>
          <a:p>
            <a:r>
              <a:rPr lang="en-US" altLang="en-US"/>
              <a:t>Le consultant clique ensuite sur Exécuter le workflow. L'application appelle hop-run.sh, Apache Hop prend le relais : il lit le CSV source, résout les FK via des lookups en base, et fait les INSERT ou UPDATE dans PostgreSQL. Les logs arrivent en temps réel dans l'interface via SSE.</a:t>
            </a:r>
            <a:endParaRPr lang="en-US" altLang="en-US"/>
          </a:p>
          <a:p>
            <a:endParaRPr lang="en-US" altLang="en-US"/>
          </a:p>
          <a:p>
            <a:r>
              <a:rPr lang="en-US" altLang="en-US"/>
              <a:t>Enfin, le consultant consulte les résultats : un tableau avec le nombre de lignes importées et les erreurs éventuelles.</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arrive maintenant à l'architecture globale du framework, telle qu'elle a été implémentée.</a:t>
            </a:r>
            <a:endParaRPr lang="fr-FR" dirty="0"/>
          </a:p>
          <a:p>
            <a:endParaRPr lang="fr-FR" dirty="0"/>
          </a:p>
          <a:p>
            <a:r>
              <a:rPr lang="fr-FR" dirty="0"/>
              <a:t>En entrée, les fichiers CSV du client. Ils arrivent dans Axelor Mapper, l'application web qu'on a développée. Côté technique, elle repose sur React pour l'interface, FastAPI pour le backend, et xterm.js pour le terminal conversationnel directement dans le navigateur.</a:t>
            </a:r>
            <a:endParaRPr lang="fr-FR" dirty="0"/>
          </a:p>
          <a:p>
            <a:endParaRPr lang="fr-FR" dirty="0"/>
          </a:p>
          <a:p>
            <a:r>
              <a:rPr lang="fr-FR" dirty="0"/>
              <a:t>De là, les skills IA prennent le relais. On en a trois, développés comme des skills Claude Code. Le premier analyse le CSV et produit un manifeste JSON de mapping. Le deuxième lit ce manifeste et génère les fichiers de pipelines Apache Hop. Le troisième orchestre l'exécution du workflow.</a:t>
            </a:r>
            <a:endParaRPr lang="fr-FR" dirty="0"/>
          </a:p>
          <a:p>
            <a:endParaRPr lang="fr-FR" dirty="0"/>
          </a:p>
          <a:p>
            <a:r>
              <a:rPr lang="fr-FR" dirty="0"/>
              <a:t>Ces pipelines couvrent les 4 entités métier d'Axelor : produits, partenaires, commandes de vente et factures. En tout, environ 19 pipelines générés.</a:t>
            </a:r>
            <a:endParaRPr lang="fr-FR" dirty="0"/>
          </a:p>
          <a:p>
            <a:endParaRPr lang="fr-FR" dirty="0"/>
          </a:p>
          <a:p>
            <a:r>
              <a:rPr lang="fr-FR" dirty="0"/>
              <a:t>Et en bout de chaîne, Apache Hop exécute les pipelines et insère les données directement dans PostgreSQL via JDBC, sans passer par la couche ORM d'Axelor. Ca évite toutes les validations métier qui ne sont pas pertinentes pour un import, et c'est là qu'on gagne le plus en performance.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lstStyle/>
          <a:p>
            <a:r>
              <a:rPr lang="en-US" altLang="en-US" dirty="0"/>
              <a:t>L'application Axelor Import Studio se compose de deux parties : un frontend React et un backend FastAPI.</a:t>
            </a:r>
            <a:endParaRPr lang="en-US" altLang="en-US" dirty="0"/>
          </a:p>
          <a:p>
            <a:endParaRPr lang="en-US" altLang="en-US" dirty="0"/>
          </a:p>
          <a:p>
            <a:r>
              <a:rPr lang="en-US" altLang="en-US" dirty="0"/>
              <a:t>Le frontend communique avec le backend via HTTP classique pour les actions : démarrer une session, déclencher la génération des pipelines, consulter les résultats.</a:t>
            </a:r>
            <a:endParaRPr lang="en-US" altLang="en-US" dirty="0"/>
          </a:p>
          <a:p>
            <a:endParaRPr lang="en-US" altLang="en-US" dirty="0"/>
          </a:p>
          <a:p>
            <a:r>
              <a:rPr lang="en-US" altLang="en-US" dirty="0"/>
              <a:t>Pour le terminal, c'est différent. Dans le navigateur, on a xterm.js qui émule un vrai terminal. La communication entre xterm.js et le backend se fait via WebSocket, bidirectionnel et en temps réel. Les frappes partent vers le backend, les réponses reviennent en flux continu.</a:t>
            </a:r>
            <a:endParaRPr lang="en-US" altLang="en-US" dirty="0"/>
          </a:p>
          <a:p>
            <a:endParaRPr lang="en-US" altLang="en-US" dirty="0"/>
          </a:p>
          <a:p>
            <a:r>
              <a:rPr lang="en-US" altLang="en-US" dirty="0"/>
              <a:t>Côté backend, quand une session démarre, FastAPI spawn Claude CLI dans un PTY, un pseudo-terminal. Et c'est un choix architectural important.</a:t>
            </a:r>
            <a:endParaRPr lang="en-US" altLang="en-US" dirty="0"/>
          </a:p>
          <a:p>
            <a:endParaRPr lang="en-US" altLang="en-US" dirty="0"/>
          </a:p>
          <a:p>
            <a:r>
              <a:rPr lang="en-US" altLang="en-US" dirty="0"/>
              <a:t>Pourquoi un PTY et pas un simple subprocess ? Parce que Claude a un mécanisme d'interaction, le AskUserQuestion, qui affiche des choix cliquables dans le terminal et attend une réponse de l'utilisateur. Ce comportement est incompatible avec le mode sans interaction en ligne de commande classique.</a:t>
            </a:r>
            <a:endParaRPr lang="en-US" altLang="en-US" dirty="0"/>
          </a:p>
          <a:p>
            <a:endParaRPr lang="en-US" altLang="en-US" dirty="0"/>
          </a:p>
          <a:p>
            <a:r>
              <a:rPr lang="en-US" altLang="en-US" dirty="0"/>
              <a:t>Maître-esclave c'est le terme technique : le PTY crée une paire maître-esclave. Claude tourne sur le côté esclave, le backend lit en continu depuis le maître et relaie les données vers le WebSocket. Et dans l'autre sens, les frappes de l'utilisateur remontent du WebSocket vers le maître.</a:t>
            </a:r>
            <a:endParaRPr lang="en-US" altLang="en-US" dirty="0"/>
          </a:p>
          <a:p>
            <a:endParaRPr lang="en-US" altLang="en-US" dirty="0"/>
          </a:p>
          <a:p>
            <a:r>
              <a:rPr lang="en-US" altLang="en-US" dirty="0"/>
              <a:t>Le reste du backend g</a:t>
            </a:r>
            <a:r>
              <a:rPr lang="en-US" altLang="en-US" dirty="0"/>
              <a:t>è</a:t>
            </a:r>
            <a:r>
              <a:rPr lang="en-US" altLang="en-US" dirty="0"/>
              <a:t>re les sessions par UUID, la génération des fichiers XML Apache Hop depuis le manifeste, et l'acc</a:t>
            </a:r>
            <a:r>
              <a:rPr lang="en-US" altLang="en-US" dirty="0"/>
              <a:t>è</a:t>
            </a:r>
            <a:r>
              <a:rPr lang="en-US" altLang="en-US" dirty="0"/>
              <a:t>s direct à PostgreSQL pour la phase d'exécution.</a:t>
            </a:r>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Ce slide présente les pipelines qu'on a développés.</a:t>
            </a:r>
            <a:endParaRPr lang="fr-FR" dirty="0"/>
          </a:p>
          <a:p>
            <a:endParaRPr lang="fr-FR" dirty="0"/>
          </a:p>
          <a:p>
            <a:r>
              <a:rPr lang="fr-FR" dirty="0"/>
              <a:t>À gauche, les 4 domaines métier couverts. Les produits, avec 4 pipelines et un workflow d'orchestration. Les partenaires, 6 pipelines. Les commandes de vente, 4 pipelines. Et les factures, qui sont l'entité la plus complexe, 6 pipelines également. En tout, une vingtaine de pipelines, le nombre exact peut varier selon la nature des données du client.</a:t>
            </a:r>
            <a:endParaRPr lang="fr-FR" dirty="0"/>
          </a:p>
          <a:p>
            <a:endParaRPr lang="fr-FR" dirty="0"/>
          </a:p>
          <a:p>
            <a:r>
              <a:rPr lang="fr-FR" dirty="0"/>
              <a:t>À droite, les 3 patterns qui structurent tous ces pipelines. Le premier c'est le pattern Upsert : avant chaque insertion, on vérifie si l'enregistrement existe déjà via un import_id. Si oui on met à jour, sinon on insère. C'est ce qui garantit l'idempotence, on peut relancer un import sans risquer de créer des doublons.</a:t>
            </a:r>
            <a:endParaRPr lang="fr-FR" dirty="0"/>
          </a:p>
          <a:p>
            <a:endParaRPr lang="fr-FR" dirty="0"/>
          </a:p>
          <a:p>
            <a:r>
              <a:rPr lang="fr-FR" dirty="0"/>
              <a:t>Le deuxième c'est le Junction M2M, pour gérer les relations many-to-many. Par exemple les taxes dans Axelor sont stockées dans des tables intermédiaires qui font le lien entre les lignes de commandes ou de factures et les valeurs de taxes prédéfinies dans le système. Ce pattern peuple ces tables de jonction.</a:t>
            </a:r>
            <a:endParaRPr lang="fr-FR" dirty="0"/>
          </a:p>
          <a:p>
            <a:endParaRPr lang="fr-FR" dirty="0"/>
          </a:p>
          <a:p>
            <a:r>
              <a:rPr lang="fr-FR" dirty="0"/>
              <a:t>Le troisième c'est le Post-SQL. Certaines valeurs ne peuvent pas être calculées au moment de l'insertion, les séquences, les totaux, les champs dérivés. Ce pattern les recalcule après injection directement en 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passe maintenant à la réalisation. Ce diagramme montre l'architecture globale telle qu'elle a été implémentée.</a:t>
            </a:r>
            <a:endParaRPr lang="fr-FR" dirty="0"/>
          </a:p>
          <a:p>
            <a:endParaRPr lang="fr-FR" dirty="0"/>
          </a:p>
          <a:p>
            <a:r>
              <a:rPr lang="fr-FR" dirty="0"/>
              <a:t>En entrée, les fichiers CSV du client. Ils passent par Axelor Mapper, l'application web qu'on a développée, qui expose une interface web et un terminal conversationnel connecté à Claude.</a:t>
            </a:r>
            <a:endParaRPr lang="fr-FR" dirty="0"/>
          </a:p>
          <a:p>
            <a:endParaRPr lang="fr-FR" dirty="0"/>
          </a:p>
          <a:p>
            <a:r>
              <a:rPr lang="fr-FR" dirty="0"/>
              <a:t>Les deux skills IA s'enchaînent : Analyze &amp; Map produit le manifeste JSON, Generate Pipeline le lit et génère les fichiers Apache Hop. Le moteur Apache Hop exécute ces pipelines et insère les données directement dans PostgreSQL.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3.png"/><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image" Target="../media/image15.png"/><Relationship Id="rId3" Type="http://schemas.openxmlformats.org/officeDocument/2006/relationships/image" Target="../media/image14.png"/><Relationship Id="rId2" Type="http://schemas.openxmlformats.org/officeDocument/2006/relationships/image" Target="../media/image4.png"/><Relationship Id="rId1" Type="http://schemas.openxmlformats.org/officeDocument/2006/relationships/image" Target="../media/image2.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22</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22</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004050" y="340360"/>
            <a:ext cx="2405380" cy="6243320"/>
          </a:xfrm>
          <a:prstGeom prst="rect">
            <a:avLst/>
          </a:prstGeom>
        </p:spPr>
      </p:pic>
      <p:sp>
        <p:nvSpPr>
          <p:cNvPr id="9" name="Text 8"/>
          <p:cNvSpPr txBox="1"/>
          <p:nvPr/>
        </p:nvSpPr>
        <p:spPr>
          <a:xfrm>
            <a:off x="640080" y="1900000"/>
            <a:ext cx="5500000" cy="500000"/>
          </a:xfrm>
          <a:prstGeom prst="rect">
            <a:avLst/>
          </a:prstGeom>
          <a:noFill/>
        </p:spPr>
        <p:txBody>
          <a:bodyPr wrap="square">
            <a:spAutoFit/>
          </a:bodyPr>
          <a:lstStyle/>
          <a:p>
            <a:pPr algn="l"/>
            <a:r>
              <a:rPr sz="900" b="0" dirty="0">
                <a:solidFill>
                  <a:srgbClr val="7A8294"/>
                </a:solidFill>
                <a:latin typeface="Calibri" panose="020F0502020204030204"/>
              </a:rPr>
              <a:t>Axelor Mapper</a:t>
            </a:r>
            <a:endParaRPr sz="900" b="0" dirty="0">
              <a:solidFill>
                <a:srgbClr val="7A8294"/>
              </a:solidFill>
              <a:latin typeface="Calibri" panose="020F0502020204030204"/>
            </a:endParaRPr>
          </a:p>
          <a:p>
            <a:pPr algn="l"/>
            <a:r>
              <a:rPr sz="1100" b="1" dirty="0">
                <a:solidFill>
                  <a:srgbClr val="1F4E9C"/>
                </a:solidFill>
                <a:latin typeface="Calibri" panose="020F0502020204030204"/>
              </a:rPr>
              <a:t>React + FastAPI + xterm.js</a:t>
            </a:r>
            <a:endParaRPr sz="1100" b="1" dirty="0">
              <a:solidFill>
                <a:srgbClr val="1F4E9C"/>
              </a:solidFill>
              <a:latin typeface="Calibri" panose="020F0502020204030204"/>
            </a:endParaRPr>
          </a:p>
        </p:txBody>
      </p:sp>
      <p:sp>
        <p:nvSpPr>
          <p:cNvPr id="10" name="Text 9"/>
          <p:cNvSpPr txBox="1"/>
          <p:nvPr/>
        </p:nvSpPr>
        <p:spPr>
          <a:xfrm>
            <a:off x="658495" y="2400535"/>
            <a:ext cx="5500000" cy="398780"/>
          </a:xfrm>
          <a:prstGeom prst="rect">
            <a:avLst/>
          </a:prstGeom>
          <a:noFill/>
        </p:spPr>
        <p:txBody>
          <a:bodyPr wrap="square">
            <a:spAutoFit/>
          </a:bodyPr>
          <a:lstStyle/>
          <a:p>
            <a:pPr algn="l"/>
            <a:r>
              <a:rPr sz="900" b="0" dirty="0">
                <a:solidFill>
                  <a:srgbClr val="7A8294"/>
                </a:solidFill>
                <a:latin typeface="Calibri" panose="020F0502020204030204"/>
              </a:rPr>
              <a:t>Skills IA</a:t>
            </a:r>
            <a:endParaRPr sz="900" b="0" dirty="0">
              <a:solidFill>
                <a:srgbClr val="7A8294"/>
              </a:solidFill>
              <a:latin typeface="Calibri" panose="020F0502020204030204"/>
            </a:endParaRPr>
          </a:p>
          <a:p>
            <a:pPr algn="l"/>
            <a:r>
              <a:rPr sz="1100" b="1" dirty="0">
                <a:solidFill>
                  <a:srgbClr val="1F4E9C"/>
                </a:solidFill>
                <a:latin typeface="Calibri" panose="020F0502020204030204"/>
              </a:rPr>
              <a:t>3 skills Claude</a:t>
            </a:r>
            <a:endParaRPr sz="1100" b="1" dirty="0">
              <a:solidFill>
                <a:srgbClr val="1F4E9C"/>
              </a:solidFill>
              <a:latin typeface="Calibri" panose="020F0502020204030204"/>
            </a:endParaRPr>
          </a:p>
        </p:txBody>
      </p:sp>
      <p:sp>
        <p:nvSpPr>
          <p:cNvPr id="11" name="Text 10"/>
          <p:cNvSpPr txBox="1"/>
          <p:nvPr/>
        </p:nvSpPr>
        <p:spPr>
          <a:xfrm>
            <a:off x="658495" y="2900715"/>
            <a:ext cx="5500000" cy="398780"/>
          </a:xfrm>
          <a:prstGeom prst="rect">
            <a:avLst/>
          </a:prstGeom>
          <a:noFill/>
        </p:spPr>
        <p:txBody>
          <a:bodyPr wrap="square">
            <a:spAutoFit/>
          </a:bodyPr>
          <a:lstStyle/>
          <a:p>
            <a:pPr algn="l"/>
            <a:r>
              <a:rPr sz="900" b="0" dirty="0">
                <a:solidFill>
                  <a:srgbClr val="7A8294"/>
                </a:solidFill>
                <a:latin typeface="Calibri" panose="020F0502020204030204"/>
              </a:rPr>
              <a:t>Pipelines</a:t>
            </a:r>
            <a:endParaRPr sz="900" b="0" dirty="0">
              <a:solidFill>
                <a:srgbClr val="7A8294"/>
              </a:solidFill>
              <a:latin typeface="Calibri" panose="020F0502020204030204"/>
            </a:endParaRPr>
          </a:p>
          <a:p>
            <a:pPr algn="l"/>
            <a:r>
              <a:rPr sz="1100" b="1" dirty="0">
                <a:solidFill>
                  <a:srgbClr val="1F4E9C"/>
                </a:solidFill>
                <a:latin typeface="Calibri" panose="020F0502020204030204"/>
              </a:rPr>
              <a:t>~19 pipelines — 4 entités</a:t>
            </a:r>
            <a:r>
              <a:rPr lang="fr-FR" sz="1100" b="1" dirty="0">
                <a:solidFill>
                  <a:srgbClr val="1F4E9C"/>
                </a:solidFill>
                <a:latin typeface="Calibri" panose="020F0502020204030204"/>
              </a:rPr>
              <a:t> principales (et d’autres </a:t>
            </a:r>
            <a:r>
              <a:rPr sz="1100" b="1" dirty="0">
                <a:solidFill>
                  <a:srgbClr val="1F4E9C"/>
                </a:solidFill>
                <a:latin typeface="Calibri" panose="020F0502020204030204"/>
                <a:sym typeface="+mn-ea"/>
              </a:rPr>
              <a:t>entités</a:t>
            </a:r>
            <a:r>
              <a:rPr lang="fr-FR" sz="1100" b="1" dirty="0">
                <a:solidFill>
                  <a:srgbClr val="1F4E9C"/>
                </a:solidFill>
                <a:latin typeface="Calibri" panose="020F0502020204030204"/>
                <a:sym typeface="+mn-ea"/>
              </a:rPr>
              <a:t> de d</a:t>
            </a:r>
            <a:r>
              <a:rPr sz="1100" b="1" dirty="0">
                <a:solidFill>
                  <a:srgbClr val="1F4E9C"/>
                </a:solidFill>
                <a:latin typeface="Calibri" panose="020F0502020204030204"/>
                <a:sym typeface="+mn-ea"/>
              </a:rPr>
              <a:t>é</a:t>
            </a:r>
            <a:r>
              <a:rPr lang="fr-FR" sz="1100" b="1" dirty="0">
                <a:solidFill>
                  <a:srgbClr val="1F4E9C"/>
                </a:solidFill>
                <a:latin typeface="Calibri" panose="020F0502020204030204"/>
                <a:sym typeface="+mn-ea"/>
              </a:rPr>
              <a:t>pendances</a:t>
            </a:r>
            <a:endParaRPr lang="fr-FR" sz="1100" b="1" dirty="0">
              <a:solidFill>
                <a:srgbClr val="1F4E9C"/>
              </a:solidFill>
              <a:latin typeface="Calibri" panose="020F0502020204030204"/>
            </a:endParaRPr>
          </a:p>
        </p:txBody>
      </p:sp>
      <p:sp>
        <p:nvSpPr>
          <p:cNvPr id="12" name="Text 11"/>
          <p:cNvSpPr txBox="1"/>
          <p:nvPr/>
        </p:nvSpPr>
        <p:spPr>
          <a:xfrm>
            <a:off x="658495" y="3427335"/>
            <a:ext cx="5500000" cy="500000"/>
          </a:xfrm>
          <a:prstGeom prst="rect">
            <a:avLst/>
          </a:prstGeom>
          <a:noFill/>
        </p:spPr>
        <p:txBody>
          <a:bodyPr wrap="square">
            <a:spAutoFit/>
          </a:bodyPr>
          <a:lstStyle/>
          <a:p>
            <a:pPr algn="l"/>
            <a:r>
              <a:rPr sz="900" b="0" dirty="0">
                <a:solidFill>
                  <a:srgbClr val="7A8294"/>
                </a:solidFill>
                <a:latin typeface="Calibri" panose="020F0502020204030204"/>
              </a:rPr>
              <a:t>PostgreSQL</a:t>
            </a:r>
            <a:endParaRPr sz="900" b="0" dirty="0">
              <a:solidFill>
                <a:srgbClr val="7A8294"/>
              </a:solidFill>
              <a:latin typeface="Calibri" panose="020F0502020204030204"/>
            </a:endParaRPr>
          </a:p>
          <a:p>
            <a:pPr algn="l"/>
            <a:r>
              <a:rPr sz="1100" b="1" dirty="0">
                <a:solidFill>
                  <a:srgbClr val="1F4E9C"/>
                </a:solidFill>
                <a:latin typeface="Calibri" panose="020F0502020204030204"/>
              </a:rPr>
              <a:t>Accès direct JDBC — bypass couche ORM</a:t>
            </a:r>
            <a:endParaRPr sz="1100" b="1" dirty="0">
              <a:solidFill>
                <a:srgbClr val="1F4E9C"/>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CSV Box"/>
          <p:cNvSpPr/>
          <p:nvPr/>
        </p:nvSpPr>
        <p:spPr>
          <a:xfrm>
            <a:off x="264160" y="2578735"/>
            <a:ext cx="1067435" cy="54991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Arrow1"/>
          <p:cNvSpPr txBox="1"/>
          <p:nvPr/>
        </p:nvSpPr>
        <p:spPr>
          <a:xfrm>
            <a:off x="1415310" y="270373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0" name="Analyze Box"/>
          <p:cNvSpPr/>
          <p:nvPr/>
        </p:nvSpPr>
        <p:spPr>
          <a:xfrm>
            <a:off x="1718945" y="2576195"/>
            <a:ext cx="1050290" cy="54864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Arrow2"/>
          <p:cNvSpPr txBox="1"/>
          <p:nvPr/>
        </p:nvSpPr>
        <p:spPr>
          <a:xfrm>
            <a:off x="2853085" y="270119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3" name="ArrowSW"/>
          <p:cNvSpPr txBox="1"/>
          <p:nvPr/>
        </p:nvSpPr>
        <p:spPr>
          <a:xfrm rot="12240000">
            <a:off x="6794255" y="203531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4" name="ArrowSE"/>
          <p:cNvSpPr txBox="1"/>
          <p:nvPr/>
        </p:nvSpPr>
        <p:spPr>
          <a:xfrm>
            <a:off x="6849785" y="347803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5" name="GenPipeline Box"/>
          <p:cNvSpPr/>
          <p:nvPr/>
        </p:nvSpPr>
        <p:spPr>
          <a:xfrm>
            <a:off x="7258685" y="1809750"/>
            <a:ext cx="1212850" cy="47625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6" name="GenWorkflow Box"/>
          <p:cNvSpPr/>
          <p:nvPr/>
        </p:nvSpPr>
        <p:spPr>
          <a:xfrm>
            <a:off x="7240905" y="3713480"/>
            <a:ext cx="1263015" cy="452755"/>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17" name="HPL Output"/>
          <p:cNvSpPr/>
          <p:nvPr/>
        </p:nvSpPr>
        <p:spPr>
          <a:xfrm>
            <a:off x="8964930" y="1809750"/>
            <a:ext cx="105664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a:t>
            </a:r>
            <a:endParaRPr sz="800" b="0">
              <a:solidFill>
                <a:srgbClr val="12203F"/>
              </a:solidFill>
              <a:latin typeface="Calibri" panose="020F0502020204030204"/>
            </a:endParaRPr>
          </a:p>
        </p:txBody>
      </p:sp>
      <p:sp>
        <p:nvSpPr>
          <p:cNvPr id="18" name="HWF Output"/>
          <p:cNvSpPr/>
          <p:nvPr/>
        </p:nvSpPr>
        <p:spPr>
          <a:xfrm>
            <a:off x="8869680" y="3705225"/>
            <a:ext cx="115189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19" name="Divider"/>
          <p:cNvSpPr/>
          <p:nvPr/>
        </p:nvSpPr>
        <p:spPr>
          <a:xfrm>
            <a:off x="548640" y="5069280"/>
            <a:ext cx="9100000" cy="2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l1 Header"/>
          <p:cNvSpPr txBox="1"/>
          <p:nvPr/>
        </p:nvSpPr>
        <p:spPr>
          <a:xfrm>
            <a:off x="54864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analyze-and-map-entity</a:t>
            </a:r>
            <a:endParaRPr sz="900" b="1" dirty="0">
              <a:solidFill>
                <a:srgbClr val="1F4E9C"/>
              </a:solidFill>
              <a:latin typeface="Calibri" panose="020F0502020204030204"/>
            </a:endParaRPr>
          </a:p>
        </p:txBody>
      </p:sp>
      <p:sp>
        <p:nvSpPr>
          <p:cNvPr id="21" name="Col1 Content"/>
          <p:cNvSpPr txBox="1"/>
          <p:nvPr/>
        </p:nvSpPr>
        <p:spPr>
          <a:xfrm>
            <a:off x="54864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FK résolues via INFORMATION_SCHEMA PostgreSQL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Résolution interactive pour les cas ambigus</a:t>
            </a:r>
            <a:endParaRPr sz="820" b="0" dirty="0">
              <a:solidFill>
                <a:srgbClr val="7A8294"/>
              </a:solidFill>
              <a:latin typeface="Calibri" panose="020F0502020204030204"/>
            </a:endParaRPr>
          </a:p>
        </p:txBody>
      </p:sp>
      <p:sp>
        <p:nvSpPr>
          <p:cNvPr id="22" name="Col2 Header"/>
          <p:cNvSpPr txBox="1"/>
          <p:nvPr/>
        </p:nvSpPr>
        <p:spPr>
          <a:xfrm>
            <a:off x="320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generate-pipeline</a:t>
            </a:r>
            <a:endParaRPr sz="900" b="1" dirty="0">
              <a:solidFill>
                <a:srgbClr val="1F4E9C"/>
              </a:solidFill>
              <a:latin typeface="Calibri" panose="020F0502020204030204"/>
            </a:endParaRPr>
          </a:p>
        </p:txBody>
      </p:sp>
      <p:sp>
        <p:nvSpPr>
          <p:cNvPr id="23" name="Col2 Content"/>
          <p:cNvSpPr txBox="1"/>
          <p:nvPr/>
        </p:nvSpPr>
        <p:spPr>
          <a:xfrm>
            <a:off x="320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3 pipelines de référence injectés comme contexte XML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Conventions XML Hop strictes appliquées</a:t>
            </a:r>
            <a:endParaRPr sz="820" b="0" dirty="0">
              <a:solidFill>
                <a:srgbClr val="7A8294"/>
              </a:solidFill>
              <a:latin typeface="Calibri" panose="020F0502020204030204"/>
            </a:endParaRPr>
          </a:p>
        </p:txBody>
      </p:sp>
      <p:sp>
        <p:nvSpPr>
          <p:cNvPr id="24" name="Col3 Header"/>
          <p:cNvSpPr txBox="1"/>
          <p:nvPr/>
        </p:nvSpPr>
        <p:spPr>
          <a:xfrm>
            <a:off x="585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generate-workflow</a:t>
            </a:r>
            <a:endParaRPr sz="900" b="1" dirty="0">
              <a:solidFill>
                <a:srgbClr val="1F4E9C"/>
              </a:solidFill>
              <a:latin typeface="Calibri" panose="020F0502020204030204"/>
            </a:endParaRPr>
          </a:p>
        </p:txBody>
      </p:sp>
      <p:sp>
        <p:nvSpPr>
          <p:cNvPr id="25" name="Col3 Content"/>
          <p:cNvSpPr txBox="1"/>
          <p:nvPr/>
        </p:nvSpPr>
        <p:spPr>
          <a:xfrm>
            <a:off x="585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Preflight checks : CSV + connexion BD</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Ordre topologique des entités via le manifeste</a:t>
            </a:r>
            <a:endParaRPr sz="820" b="0" dirty="0">
              <a:solidFill>
                <a:srgbClr val="7A8294"/>
              </a:solidFill>
              <a:latin typeface="Calibri" panose="020F0502020204030204"/>
            </a:endParaRPr>
          </a:p>
        </p:txBody>
      </p:sp>
      <p:pic>
        <p:nvPicPr>
          <p:cNvPr id="26" name="Picture 25" descr="Screenshot 2026-07-03 105304"/>
          <p:cNvPicPr>
            <a:picLocks noChangeAspect="1"/>
          </p:cNvPicPr>
          <p:nvPr/>
        </p:nvPicPr>
        <p:blipFill>
          <a:blip r:embed="rId3"/>
          <a:stretch>
            <a:fillRect/>
          </a:stretch>
        </p:blipFill>
        <p:spPr>
          <a:xfrm>
            <a:off x="3199765" y="1971040"/>
            <a:ext cx="3523615" cy="1765935"/>
          </a:xfrm>
          <a:prstGeom prst="rect">
            <a:avLst/>
          </a:prstGeom>
        </p:spPr>
      </p:pic>
      <p:sp>
        <p:nvSpPr>
          <p:cNvPr id="27" name="Text Box 26"/>
          <p:cNvSpPr txBox="1"/>
          <p:nvPr/>
        </p:nvSpPr>
        <p:spPr>
          <a:xfrm>
            <a:off x="2005330" y="1697355"/>
            <a:ext cx="6239510" cy="273685"/>
          </a:xfrm>
          <a:prstGeom prst="rect">
            <a:avLst/>
          </a:prstGeom>
          <a:noFill/>
        </p:spPr>
        <p:txBody>
          <a:bodyPr wrap="square" rtlCol="0" anchor="t">
            <a:noAutofit/>
          </a:bodyPr>
          <a:p>
            <a:pPr algn="ctr"/>
            <a:r>
              <a:rPr lang="fr-FR" sz="900" b="1">
                <a:solidFill>
                  <a:srgbClr val="12203F"/>
                </a:solidFill>
                <a:latin typeface="Calibri" panose="020F0502020204030204"/>
                <a:sym typeface="+mn-ea"/>
              </a:rPr>
              <a:t>manifest.json</a:t>
            </a:r>
            <a:endParaRPr lang="fr-FR" sz="900" b="1">
              <a:solidFill>
                <a:srgbClr val="12203F"/>
              </a:solidFill>
              <a:latin typeface="Calibri" panose="020F0502020204030204"/>
              <a:sym typeface="+mn-ea"/>
            </a:endParaRPr>
          </a:p>
        </p:txBody>
      </p:sp>
      <p:sp>
        <p:nvSpPr>
          <p:cNvPr id="28" name="Text Box 27"/>
          <p:cNvSpPr txBox="1"/>
          <p:nvPr/>
        </p:nvSpPr>
        <p:spPr>
          <a:xfrm>
            <a:off x="8591550" y="1863725"/>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
        <p:nvSpPr>
          <p:cNvPr id="29" name="Text Box 28"/>
          <p:cNvSpPr txBox="1"/>
          <p:nvPr/>
        </p:nvSpPr>
        <p:spPr>
          <a:xfrm>
            <a:off x="8544560" y="3765550"/>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Screenshot Landing Page"/>
          <p:cNvPicPr>
            <a:picLocks noChangeAspect="1"/>
          </p:cNvPicPr>
          <p:nvPr/>
        </p:nvPicPr>
        <p:blipFill>
          <a:blip r:embed="rId3"/>
          <a:srcRect t="5283"/>
          <a:stretch>
            <a:fillRect/>
          </a:stretch>
        </p:blipFill>
        <p:spPr>
          <a:xfrm>
            <a:off x="93345" y="1793875"/>
            <a:ext cx="5754370" cy="3289935"/>
          </a:xfrm>
          <a:prstGeom prst="rect">
            <a:avLst/>
          </a:prstGeom>
        </p:spPr>
      </p:pic>
      <p:pic>
        <p:nvPicPr>
          <p:cNvPr id="10" name="Screenshot Manifest Review"/>
          <p:cNvPicPr>
            <a:picLocks noChangeAspect="1"/>
          </p:cNvPicPr>
          <p:nvPr/>
        </p:nvPicPr>
        <p:blipFill>
          <a:blip r:embed="rId4"/>
          <a:srcRect t="4889"/>
          <a:stretch>
            <a:fillRect/>
          </a:stretch>
        </p:blipFill>
        <p:spPr>
          <a:xfrm>
            <a:off x="6193790" y="1700530"/>
            <a:ext cx="5895975" cy="3384550"/>
          </a:xfrm>
          <a:prstGeom prst="rect">
            <a:avLst/>
          </a:prstGeom>
        </p:spPr>
      </p:pic>
      <p:sp>
        <p:nvSpPr>
          <p:cNvPr id="11" name="Caption Left"/>
          <p:cNvSpPr txBox="1"/>
          <p:nvPr/>
        </p:nvSpPr>
        <p:spPr>
          <a:xfrm>
            <a:off x="548640" y="5546305"/>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1 — Sélection &amp; configuration</a:t>
            </a:r>
            <a:endParaRPr sz="900" b="1" dirty="0">
              <a:solidFill>
                <a:srgbClr val="1F4E9C"/>
              </a:solidFill>
              <a:latin typeface="Calibri" panose="020F0502020204030204"/>
            </a:endParaRPr>
          </a:p>
          <a:p>
            <a:pPr algn="ctr"/>
            <a:r>
              <a:rPr sz="820" b="0" dirty="0">
                <a:solidFill>
                  <a:srgbClr val="7A8294"/>
                </a:solidFill>
                <a:latin typeface="Calibri" panose="020F0502020204030204"/>
              </a:rPr>
              <a:t>Choix de l'entité Axelor et credentials PostgreSQL</a:t>
            </a:r>
            <a:endParaRPr sz="820" b="0" dirty="0">
              <a:solidFill>
                <a:srgbClr val="7A8294"/>
              </a:solidFill>
              <a:latin typeface="Calibri" panose="020F0502020204030204"/>
            </a:endParaRPr>
          </a:p>
        </p:txBody>
      </p:sp>
      <p:sp>
        <p:nvSpPr>
          <p:cNvPr id="12" name="Caption Right"/>
          <p:cNvSpPr txBox="1"/>
          <p:nvPr/>
        </p:nvSpPr>
        <p:spPr>
          <a:xfrm>
            <a:off x="6922165" y="5546305"/>
            <a:ext cx="4440000" cy="600000"/>
          </a:xfrm>
          <a:prstGeom prst="rect">
            <a:avLst/>
          </a:prstGeom>
          <a:noFill/>
        </p:spPr>
        <p:txBody>
          <a:bodyPr wrap="square">
            <a:spAutoFit/>
          </a:bodyPr>
          <a:lstStyle/>
          <a:p>
            <a:pPr algn="ctr"/>
            <a:r>
              <a:rPr sz="900" b="1" dirty="0">
                <a:solidFill>
                  <a:srgbClr val="1F4E9C"/>
                </a:solidFill>
                <a:latin typeface="Calibri" panose="020F0502020204030204"/>
              </a:rPr>
              <a:t>Étape 2 — Revue du manifeste</a:t>
            </a:r>
            <a:endParaRPr sz="900" b="1" dirty="0">
              <a:solidFill>
                <a:srgbClr val="1F4E9C"/>
              </a:solidFill>
              <a:latin typeface="Calibri" panose="020F0502020204030204"/>
            </a:endParaRPr>
          </a:p>
          <a:p>
            <a:pPr algn="ctr"/>
            <a:r>
              <a:rPr sz="820" b="0" dirty="0">
                <a:solidFill>
                  <a:srgbClr val="7A8294"/>
                </a:solidFill>
                <a:latin typeface="Calibri" panose="020F0502020204030204"/>
              </a:rPr>
              <a:t>Mappings colonnes + résolution interactive des clés étrangères</a:t>
            </a:r>
            <a:endParaRPr sz="820" b="0" dirty="0">
              <a:solidFill>
                <a:srgbClr val="7A8294"/>
              </a:solidFill>
              <a:latin typeface="Calibri" panose="020F0502020204030204"/>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Bilan des réalisations</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ectangle 7"/>
          <p:cNvSpPr/>
          <p:nvPr/>
        </p:nvSpPr>
        <p:spPr>
          <a:xfrm>
            <a:off x="548640" y="17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0000" y="1760000"/>
            <a:ext cx="8900000" cy="350000"/>
          </a:xfrm>
          <a:prstGeom prst="rect">
            <a:avLst/>
          </a:prstGeom>
          <a:noFill/>
        </p:spPr>
        <p:txBody>
          <a:bodyPr wrap="square">
            <a:spAutoFit/>
          </a:bodyPr>
          <a:lstStyle/>
          <a:p>
            <a:pPr algn="l"/>
            <a:r>
              <a:rPr sz="1100" b="1" i="0">
                <a:solidFill>
                  <a:srgbClr val="12203F"/>
                </a:solidFill>
                <a:latin typeface="Calibri" panose="020F0502020204030204"/>
              </a:rPr>
              <a:t>19 pipelines ETL réutilisables</a:t>
            </a:r>
            <a:endParaRPr sz="1100" b="1" i="0">
              <a:solidFill>
                <a:srgbClr val="12203F"/>
              </a:solidFill>
              <a:latin typeface="Calibri" panose="020F0502020204030204"/>
            </a:endParaRPr>
          </a:p>
        </p:txBody>
      </p:sp>
      <p:sp>
        <p:nvSpPr>
          <p:cNvPr id="10" name="TextBox 9"/>
          <p:cNvSpPr txBox="1"/>
          <p:nvPr/>
        </p:nvSpPr>
        <p:spPr>
          <a:xfrm>
            <a:off x="680000" y="2130000"/>
            <a:ext cx="8900000" cy="300000"/>
          </a:xfrm>
          <a:prstGeom prst="rect">
            <a:avLst/>
          </a:prstGeom>
          <a:noFill/>
        </p:spPr>
        <p:txBody>
          <a:bodyPr wrap="square">
            <a:spAutoFit/>
          </a:bodyPr>
          <a:lstStyle/>
          <a:p>
            <a:pPr algn="l"/>
            <a:r>
              <a:rPr sz="950" b="0" i="0">
                <a:solidFill>
                  <a:srgbClr val="7A8294"/>
                </a:solidFill>
                <a:latin typeface="Calibri" panose="020F0502020204030204"/>
              </a:rPr>
              <a:t>Couvrant 4 domaines : produits, partenaires, commandes de vente, factures</a:t>
            </a:r>
            <a:endParaRPr sz="950" b="0" i="0">
              <a:solidFill>
                <a:srgbClr val="7A8294"/>
              </a:solidFill>
              <a:latin typeface="Calibri" panose="020F0502020204030204"/>
            </a:endParaRPr>
          </a:p>
        </p:txBody>
      </p:sp>
      <p:sp>
        <p:nvSpPr>
          <p:cNvPr id="11" name="Rectangle 10"/>
          <p:cNvSpPr/>
          <p:nvPr/>
        </p:nvSpPr>
        <p:spPr>
          <a:xfrm>
            <a:off x="548640" y="28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000" y="2810000"/>
            <a:ext cx="8900000" cy="350000"/>
          </a:xfrm>
          <a:prstGeom prst="rect">
            <a:avLst/>
          </a:prstGeom>
          <a:noFill/>
        </p:spPr>
        <p:txBody>
          <a:bodyPr wrap="square">
            <a:spAutoFit/>
          </a:bodyPr>
          <a:lstStyle/>
          <a:p>
            <a:pPr algn="l"/>
            <a:r>
              <a:rPr sz="1100" b="1" i="0">
                <a:solidFill>
                  <a:srgbClr val="12203F"/>
                </a:solidFill>
                <a:latin typeface="Calibri" panose="020F0502020204030204"/>
              </a:rPr>
              <a:t>3 skills Claude Code</a:t>
            </a:r>
            <a:endParaRPr sz="1100" b="1" i="0">
              <a:solidFill>
                <a:srgbClr val="12203F"/>
              </a:solidFill>
              <a:latin typeface="Calibri" panose="020F0502020204030204"/>
            </a:endParaRPr>
          </a:p>
        </p:txBody>
      </p:sp>
      <p:sp>
        <p:nvSpPr>
          <p:cNvPr id="13" name="TextBox 12"/>
          <p:cNvSpPr txBox="1"/>
          <p:nvPr/>
        </p:nvSpPr>
        <p:spPr>
          <a:xfrm>
            <a:off x="680000" y="3180000"/>
            <a:ext cx="8900000" cy="300000"/>
          </a:xfrm>
          <a:prstGeom prst="rect">
            <a:avLst/>
          </a:prstGeom>
          <a:noFill/>
        </p:spPr>
        <p:txBody>
          <a:bodyPr wrap="square">
            <a:spAutoFit/>
          </a:bodyPr>
          <a:lstStyle/>
          <a:p>
            <a:pPr algn="l"/>
            <a:r>
              <a:rPr sz="950" b="0" i="0">
                <a:solidFill>
                  <a:srgbClr val="7A8294"/>
                </a:solidFill>
                <a:latin typeface="Calibri" panose="020F0502020204030204"/>
              </a:rPr>
              <a:t>analyze-and-map-entity · generate-pipeline · generate-workflow</a:t>
            </a:r>
            <a:endParaRPr sz="950" b="0" i="0">
              <a:solidFill>
                <a:srgbClr val="7A8294"/>
              </a:solidFill>
              <a:latin typeface="Calibri" panose="020F0502020204030204"/>
            </a:endParaRPr>
          </a:p>
        </p:txBody>
      </p:sp>
      <p:sp>
        <p:nvSpPr>
          <p:cNvPr id="14" name="Rectangle 13"/>
          <p:cNvSpPr/>
          <p:nvPr/>
        </p:nvSpPr>
        <p:spPr>
          <a:xfrm>
            <a:off x="548640" y="38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000" y="3860000"/>
            <a:ext cx="8900000" cy="350000"/>
          </a:xfrm>
          <a:prstGeom prst="rect">
            <a:avLst/>
          </a:prstGeom>
          <a:noFill/>
        </p:spPr>
        <p:txBody>
          <a:bodyPr wrap="square">
            <a:spAutoFit/>
          </a:bodyPr>
          <a:lstStyle/>
          <a:p>
            <a:pPr algn="l"/>
            <a:r>
              <a:rPr sz="1100" b="1" i="0">
                <a:solidFill>
                  <a:srgbClr val="12203F"/>
                </a:solidFill>
                <a:latin typeface="Calibri" panose="020F0502020204030204"/>
              </a:rPr>
              <a:t>Axelor Import Studio</a:t>
            </a:r>
            <a:endParaRPr sz="1100" b="1" i="0">
              <a:solidFill>
                <a:srgbClr val="12203F"/>
              </a:solidFill>
              <a:latin typeface="Calibri" panose="020F0502020204030204"/>
            </a:endParaRPr>
          </a:p>
        </p:txBody>
      </p:sp>
      <p:sp>
        <p:nvSpPr>
          <p:cNvPr id="16" name="TextBox 15"/>
          <p:cNvSpPr txBox="1"/>
          <p:nvPr/>
        </p:nvSpPr>
        <p:spPr>
          <a:xfrm>
            <a:off x="680000" y="4230000"/>
            <a:ext cx="8900000" cy="300000"/>
          </a:xfrm>
          <a:prstGeom prst="rect">
            <a:avLst/>
          </a:prstGeom>
          <a:noFill/>
        </p:spPr>
        <p:txBody>
          <a:bodyPr wrap="square">
            <a:spAutoFit/>
          </a:bodyPr>
          <a:lstStyle/>
          <a:p>
            <a:pPr algn="l"/>
            <a:r>
              <a:rPr sz="950" b="0" i="0">
                <a:solidFill>
                  <a:srgbClr val="7A8294"/>
                </a:solidFill>
                <a:latin typeface="Calibri" panose="020F0502020204030204"/>
              </a:rPr>
              <a:t>Application web FastAPI + React + terminal PTY (xterm.js + WebSocket)</a:t>
            </a:r>
            <a:endParaRPr sz="950" b="0" i="0">
              <a:solidFill>
                <a:srgbClr val="7A8294"/>
              </a:solidFill>
              <a:latin typeface="Calibri" panose="020F0502020204030204"/>
            </a:endParaRPr>
          </a:p>
        </p:txBody>
      </p:sp>
      <p:sp>
        <p:nvSpPr>
          <p:cNvPr id="17" name="Rectangle 16"/>
          <p:cNvSpPr/>
          <p:nvPr/>
        </p:nvSpPr>
        <p:spPr>
          <a:xfrm>
            <a:off x="548640" y="49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0000" y="4910000"/>
            <a:ext cx="8900000" cy="350000"/>
          </a:xfrm>
          <a:prstGeom prst="rect">
            <a:avLst/>
          </a:prstGeom>
          <a:noFill/>
        </p:spPr>
        <p:txBody>
          <a:bodyPr wrap="square">
            <a:spAutoFit/>
          </a:bodyPr>
          <a:lstStyle/>
          <a:p>
            <a:pPr algn="l"/>
            <a:r>
              <a:rPr sz="1100" b="1" i="0">
                <a:solidFill>
                  <a:srgbClr val="12203F"/>
                </a:solidFill>
                <a:latin typeface="Calibri" panose="020F0502020204030204"/>
              </a:rPr>
              <a:t>Manifeste JSON</a:t>
            </a:r>
            <a:endParaRPr sz="1100" b="1" i="0">
              <a:solidFill>
                <a:srgbClr val="12203F"/>
              </a:solidFill>
              <a:latin typeface="Calibri" panose="020F0502020204030204"/>
            </a:endParaRPr>
          </a:p>
        </p:txBody>
      </p:sp>
      <p:sp>
        <p:nvSpPr>
          <p:cNvPr id="19" name="TextBox 18"/>
          <p:cNvSpPr txBox="1"/>
          <p:nvPr/>
        </p:nvSpPr>
        <p:spPr>
          <a:xfrm>
            <a:off x="680000" y="5280000"/>
            <a:ext cx="8900000" cy="300000"/>
          </a:xfrm>
          <a:prstGeom prst="rect">
            <a:avLst/>
          </a:prstGeom>
          <a:noFill/>
        </p:spPr>
        <p:txBody>
          <a:bodyPr wrap="square">
            <a:spAutoFit/>
          </a:bodyPr>
          <a:lstStyle/>
          <a:p>
            <a:pPr algn="l"/>
            <a:r>
              <a:rPr sz="950" b="0" i="0">
                <a:solidFill>
                  <a:srgbClr val="7A8294"/>
                </a:solidFill>
                <a:latin typeface="Calibri" panose="020F0502020204030204"/>
              </a:rPr>
              <a:t>Contrat versionnable entre analyse IA et génération de pipelines</a:t>
            </a:r>
            <a:endParaRPr sz="950" b="0" i="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19</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0</a:t>
                      </a:r>
                      <a:endParaRPr sz="900" b="0">
                        <a:solidFill>
                          <a:srgbClr val="2A3142"/>
                        </a:solidFill>
                        <a:latin typeface="Calibri" panose="020F0502020204030204"/>
                      </a:endParaRPr>
                    </a:p>
                  </a:txBody>
                  <a:tcPr>
                    <a:solidFill>
                      <a:srgbClr val="F5F5F5"/>
                    </a:solidFill>
                  </a:tcPr>
                </a:tc>
              </a:tr>
            </a:tbl>
          </a:graphicData>
        </a:graphic>
      </p:graphicFrame>
      <p:sp>
        <p:nvSpPr>
          <p:cNvPr id="9" name="Rounded Rectangle 8"/>
          <p:cNvSpPr/>
          <p:nvPr/>
        </p:nvSpPr>
        <p:spPr>
          <a:xfrm>
            <a:off x="548640"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Ventilation des factures</a:t>
            </a:r>
            <a:endParaRPr sz="950" b="1">
              <a:solidFill>
                <a:srgbClr val="12203F"/>
              </a:solidFill>
              <a:latin typeface="Calibri" panose="020F0502020204030204"/>
            </a:endParaRPr>
          </a:p>
          <a:p>
            <a:pPr algn="ctr"/>
            <a:r>
              <a:rPr sz="850" b="0">
                <a:solidFill>
                  <a:srgbClr val="2A3142"/>
                </a:solidFill>
                <a:latin typeface="Calibri" panose="020F0502020204030204"/>
              </a:rPr>
              <a:t>Réussie — mouvements et lignes comptables créés</a:t>
            </a:r>
            <a:endParaRPr sz="850" b="0">
              <a:solidFill>
                <a:srgbClr val="2A3142"/>
              </a:solidFill>
              <a:latin typeface="Calibri" panose="020F0502020204030204"/>
            </a:endParaRPr>
          </a:p>
        </p:txBody>
      </p:sp>
      <p:sp>
        <p:nvSpPr>
          <p:cNvPr id="10" name="Rounded Rectangle 9"/>
          <p:cNvSpPr/>
          <p:nvPr/>
        </p:nvSpPr>
        <p:spPr>
          <a:xfrm>
            <a:off x="3581973"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Idempotence</a:t>
            </a:r>
            <a:endParaRPr sz="950" b="1">
              <a:solidFill>
                <a:srgbClr val="12203F"/>
              </a:solidFill>
              <a:latin typeface="Calibri" panose="020F0502020204030204"/>
            </a:endParaRPr>
          </a:p>
          <a:p>
            <a:pPr algn="ctr"/>
            <a:r>
              <a:rPr sz="850" b="0">
                <a:solidFill>
                  <a:srgbClr val="2A3142"/>
                </a:solidFill>
                <a:latin typeface="Calibri" panose="020F0502020204030204"/>
              </a:rPr>
              <a:t>0 doublon sur ré-exécution complète du workflow</a:t>
            </a:r>
            <a:endParaRPr sz="850" b="0">
              <a:solidFill>
                <a:srgbClr val="2A3142"/>
              </a:solidFill>
              <a:latin typeface="Calibri" panose="020F0502020204030204"/>
            </a:endParaRPr>
          </a:p>
        </p:txBody>
      </p:sp>
      <p:sp>
        <p:nvSpPr>
          <p:cNvPr id="11" name="Rounded Rectangle 10"/>
          <p:cNvSpPr/>
          <p:nvPr/>
        </p:nvSpPr>
        <p:spPr>
          <a:xfrm>
            <a:off x="6615306" y="4620000"/>
            <a:ext cx="2833333" cy="150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Performance</a:t>
            </a:r>
            <a:endParaRPr sz="950" b="1">
              <a:solidFill>
                <a:srgbClr val="12203F"/>
              </a:solidFill>
              <a:latin typeface="Calibri" panose="020F0502020204030204"/>
            </a:endParaRPr>
          </a:p>
          <a:p>
            <a:pPr algn="ctr"/>
            <a:r>
              <a:rPr sz="850" b="0">
                <a:solidFill>
                  <a:srgbClr val="2A3142"/>
                </a:solidFill>
                <a:latin typeface="Calibri" panose="020F0502020204030204"/>
              </a:rPr>
              <a:t>3.6× plus rapide que l'import natif Axelor</a:t>
            </a:r>
            <a:endParaRPr sz="850" b="0">
              <a:solidFill>
                <a:srgbClr val="2A3142"/>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TECHNIQUES</a:t>
            </a:r>
            <a:endParaRPr lang="en-US" sz="1100" dirty="0"/>
          </a:p>
          <a:p>
            <a:pPr marL="177800" indent="-177800">
              <a:spcAft>
                <a:spcPts val="1200"/>
              </a:spcAft>
              <a:buSzPct val="100000"/>
              <a:buChar char="•"/>
            </a:pPr>
            <a:r>
              <a:rPr lang="en-US" sz="1400" dirty="0">
                <a:solidFill>
                  <a:srgbClr val="2A3142"/>
                </a:solidFill>
              </a:rPr>
              <a:t>Génération de pipelines partielle — cas complexes nécessitent du tuning manuel</a:t>
            </a:r>
            <a:endParaRPr lang="en-US" sz="1100" dirty="0"/>
          </a:p>
          <a:p>
            <a:pPr marL="177800" indent="-177800">
              <a:spcAft>
                <a:spcPts val="1200"/>
              </a:spcAft>
              <a:buSzPct val="100000"/>
              <a:buChar char="•"/>
            </a:pPr>
            <a:r>
              <a:rPr lang="en-US" sz="1400" dirty="0">
                <a:solidFill>
                  <a:srgbClr val="2A3142"/>
                </a:solidFill>
              </a:rPr>
              <a:t>Débit modéré — ~15 lignes/sec (lookups FK ligne par ligne, pas en batch)</a:t>
            </a:r>
            <a:endParaRPr lang="en-US" sz="1100" dirty="0"/>
          </a:p>
          <a:p>
            <a:pPr marL="177800" indent="-177800">
              <a:buSzPct val="100000"/>
              <a:buChar char="•"/>
            </a:pPr>
            <a:r>
              <a:rPr lang="en-US" sz="1400" dirty="0">
                <a:solidFill>
                  <a:srgbClr val="2A3142"/>
                </a:solidFill>
              </a:rPr>
              <a:t>Sources CSV uniquement — Excel, SQL, XML d'autres ERP non supportés</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ORGANISATIONNELLES</a:t>
            </a:r>
            <a:endParaRPr lang="en-US" sz="1100" dirty="0"/>
          </a:p>
          <a:p>
            <a:pPr marL="177800" indent="-177800">
              <a:spcAft>
                <a:spcPts val="1200"/>
              </a:spcAft>
              <a:buSzPct val="100000"/>
              <a:buChar char="•"/>
            </a:pPr>
            <a:r>
              <a:rPr lang="en-US" sz="1400" dirty="0">
                <a:solidFill>
                  <a:srgbClr val="2A3142"/>
                </a:solidFill>
              </a:rPr>
              <a:t>Données personnelles transmises à l'IA — pas d'anonymisation automatique</a:t>
            </a:r>
            <a:endParaRPr lang="en-US" sz="1100" dirty="0"/>
          </a:p>
          <a:p>
            <a:pPr marL="177800" indent="-177800">
              <a:spcAft>
                <a:spcPts val="1200"/>
              </a:spcAft>
              <a:buSzPct val="100000"/>
              <a:buChar char="•"/>
            </a:pPr>
            <a:r>
              <a:rPr lang="en-US" sz="1400" dirty="0">
                <a:solidFill>
                  <a:srgbClr val="2A3142"/>
                </a:solidFill>
              </a:rPr>
              <a:t>Rapport de qualité de données pré-import absent</a:t>
            </a:r>
            <a:endParaRPr lang="en-US" sz="1100" dirty="0"/>
          </a:p>
          <a:p>
            <a:pPr marL="177800" indent="-177800">
              <a:buSzPct val="100000"/>
              <a:buChar char="•"/>
            </a:pPr>
            <a:r>
              <a:rPr lang="en-US" sz="1400" dirty="0">
                <a:solidFill>
                  <a:srgbClr val="2A3142"/>
                </a:solidFill>
              </a:rPr>
              <a:t>Interface web non authentifiée — usage interne uniquement</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20</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1</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7927</Words>
  <Application>WPS Presentation</Application>
  <PresentationFormat>On-screen Show (16:9)</PresentationFormat>
  <Paragraphs>623</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29</cp:revision>
  <dcterms:created xsi:type="dcterms:W3CDTF">2026-06-26T14:43:00Z</dcterms:created>
  <dcterms:modified xsi:type="dcterms:W3CDTF">2026-07-03T10:28:18Z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