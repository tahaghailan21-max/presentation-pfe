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docProps\app.xml><?xml version="1.0" encoding="utf-8"?>
<Properties xmlns="http://schemas.openxmlformats.org/officeDocument/2006/extended-properties" xmlns:vt="http://schemas.openxmlformats.org/officeDocument/2006/docPropsVTypes">
  <TotalTime>0</TotalTime>
  <Words>7739</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26</cp:revision>
  <dcterms:created xsi:type="dcterms:W3CDTF">2026-06-26T14:43:00Z</dcterms:created>
  <dcterms:modified xsi:type="dcterms:W3CDTF">2026-07-02T16:20:42Z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 altLang="en-US" dirty="0"/>
              <a:t>è</a:t>
            </a:r>
            <a:r>
              <a:rPr lang="en-US" altLang="en-US" dirty="0"/>
              <a:t>re les sessions par UUID, la génération des fichiers XML Apache Hop depuis le manifeste, et l'acc</a:t>
            </a:r>
            <a:r>
              <a:rPr lang=""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1.xml"/><Relationship Id="rId4" Type="http://schemas.openxmlformats.org/officeDocument/2006/relationships/notesSlide" Target="../notesSlides/notesSlide16.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CSV Box"/>
          <p:cNvSpPr/>
          <p:nvPr/>
        </p:nvSpPr>
        <p:spPr>
          <a:xfrm>
            <a:off x="548640" y="1780000"/>
            <a:ext cx="1500000" cy="80000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p>
          <a:p>
            <a:pPr algn="ctr"/>
            <a:r>
              <a:rPr sz="800" b="0">
                <a:solidFill>
                  <a:srgbClr val="12203F"/>
                </a:solidFill>
                <a:latin typeface="Calibri" panose="020F0502020204030204"/>
              </a:rPr>
              <a:t>Schéma PostgreSQL</a:t>
            </a:r>
          </a:p>
        </p:txBody>
      </p:sp>
      <p:sp>
        <p:nvSpPr>
          <p:cNvPr id="9" name="Arrow1"/>
          <p:cNvSpPr txBox="1"/>
          <p:nvPr/>
        </p:nvSpPr>
        <p:spPr>
          <a:xfrm>
            <a:off x="2110000" y="2030000"/>
            <a:ext cx="220000" cy="300000"/>
          </a:xfrm>
          <a:prstGeom prst="rect">
            <a:avLst/>
          </a:prstGeom>
          <a:noFill/>
        </p:spPr>
        <p:txBody>
          <a:bodyPr wrap="square">
            <a:spAutoFit/>
          </a:bodyPr>
          <a:lstStyle/>
          <a:p>
            <a:pPr algn="ctr"/>
            <a:r>
              <a:rPr sz="1400" b="1">
                <a:solidFill>
                  <a:srgbClr val="1F4E9C"/>
                </a:solidFill>
                <a:latin typeface="Calibri" panose="020F0502020204030204"/>
              </a:rPr>
              <a:t>&gt;</a:t>
            </a:r>
          </a:p>
        </p:txBody>
      </p:sp>
      <p:sp>
        <p:nvSpPr>
          <p:cNvPr id="10" name="Analyze Box"/>
          <p:cNvSpPr/>
          <p:nvPr/>
        </p:nvSpPr>
        <p:spPr>
          <a:xfrm>
            <a:off x="2380000" y="1780000"/>
            <a:ext cx="2400000" cy="8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p>
        </p:txBody>
      </p:sp>
      <p:sp>
        <p:nvSpPr>
          <p:cNvPr id="11" name="Arrow2"/>
          <p:cNvSpPr txBox="1"/>
          <p:nvPr/>
        </p:nvSpPr>
        <p:spPr>
          <a:xfrm>
            <a:off x="4840000" y="2030000"/>
            <a:ext cx="220000" cy="300000"/>
          </a:xfrm>
          <a:prstGeom prst="rect">
            <a:avLst/>
          </a:prstGeom>
          <a:noFill/>
        </p:spPr>
        <p:txBody>
          <a:bodyPr wrap="square">
            <a:spAutoFit/>
          </a:bodyPr>
          <a:lstStyle/>
          <a:p>
            <a:pPr algn="ctr"/>
            <a:r>
              <a:rPr sz="1400" b="1">
                <a:solidFill>
                  <a:srgbClr val="1F4E9C"/>
                </a:solidFill>
                <a:latin typeface="Calibri" panose="020F0502020204030204"/>
              </a:rPr>
              <a:t>&gt;</a:t>
            </a:r>
          </a:p>
        </p:txBody>
      </p:sp>
      <p:sp>
        <p:nvSpPr>
          <p:cNvPr id="12" name="Manifeste Box"/>
          <p:cNvSpPr/>
          <p:nvPr/>
        </p:nvSpPr>
        <p:spPr>
          <a:xfrm>
            <a:off x="5120000" y="1680000"/>
            <a:ext cx="2400000" cy="1000000"/>
          </a:xfrm>
          <a:prstGeom prst="roundRect">
            <a:avLst/>
          </a:prstGeom>
          <a:solidFill>
            <a:srgbClr val="D4EDDA"/>
          </a:solidFill>
          <a:ln w="3810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a:solidFill>
                  <a:srgbClr val="12203F"/>
                </a:solidFill>
                <a:latin typeface="Calibri" panose="020F0502020204030204"/>
              </a:rPr>
              <a:t>Manifeste JSON</a:t>
            </a:r>
          </a:p>
        </p:txBody>
      </p:sp>
      <p:sp>
        <p:nvSpPr>
          <p:cNvPr id="13" name="ArrowSW"/>
          <p:cNvSpPr txBox="1"/>
          <p:nvPr/>
        </p:nvSpPr>
        <p:spPr>
          <a:xfrm>
            <a:off x="4500000" y="2730000"/>
            <a:ext cx="400000" cy="400000"/>
          </a:xfrm>
          <a:prstGeom prst="rect">
            <a:avLst/>
          </a:prstGeom>
          <a:noFill/>
        </p:spPr>
        <p:txBody>
          <a:bodyPr wrap="square">
            <a:spAutoFit/>
          </a:bodyPr>
          <a:lstStyle/>
          <a:p>
            <a:pPr algn="ctr"/>
            <a:r>
              <a:rPr sz="1800" b="1">
                <a:solidFill>
                  <a:srgbClr val="1F4E9C"/>
                </a:solidFill>
                <a:latin typeface="Calibri" panose="020F0502020204030204"/>
              </a:rPr>
              <a:t>↙</a:t>
            </a:r>
          </a:p>
        </p:txBody>
      </p:sp>
      <p:sp>
        <p:nvSpPr>
          <p:cNvPr id="14" name="ArrowSE"/>
          <p:cNvSpPr txBox="1"/>
          <p:nvPr/>
        </p:nvSpPr>
        <p:spPr>
          <a:xfrm>
            <a:off x="7300000" y="2730000"/>
            <a:ext cx="400000" cy="400000"/>
          </a:xfrm>
          <a:prstGeom prst="rect">
            <a:avLst/>
          </a:prstGeom>
          <a:noFill/>
        </p:spPr>
        <p:txBody>
          <a:bodyPr wrap="square">
            <a:spAutoFit/>
          </a:bodyPr>
          <a:lstStyle/>
          <a:p>
            <a:pPr algn="ctr"/>
            <a:r>
              <a:rPr sz="1800" b="1">
                <a:solidFill>
                  <a:srgbClr val="1F4E9C"/>
                </a:solidFill>
                <a:latin typeface="Calibri" panose="020F0502020204030204"/>
              </a:rPr>
              <a:t>↘</a:t>
            </a:r>
          </a:p>
        </p:txBody>
      </p:sp>
      <p:sp>
        <p:nvSpPr>
          <p:cNvPr id="15" name="GenPipeline Box"/>
          <p:cNvSpPr/>
          <p:nvPr/>
        </p:nvSpPr>
        <p:spPr>
          <a:xfrm>
            <a:off x="2380000" y="3050000"/>
            <a:ext cx="2400000" cy="75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p>
        </p:txBody>
      </p:sp>
      <p:sp>
        <p:nvSpPr>
          <p:cNvPr id="16" name="GenWorkflow Box"/>
          <p:cNvSpPr/>
          <p:nvPr/>
        </p:nvSpPr>
        <p:spPr>
          <a:xfrm>
            <a:off x="7000000" y="3050000"/>
            <a:ext cx="2400000" cy="75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p>
        </p:txBody>
      </p:sp>
      <p:sp>
        <p:nvSpPr>
          <p:cNvPr id="17" name="HPL Output"/>
          <p:cNvSpPr/>
          <p:nvPr/>
        </p:nvSpPr>
        <p:spPr>
          <a:xfrm>
            <a:off x="2380000" y="3880000"/>
            <a:ext cx="1800000" cy="48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p>
        </p:txBody>
      </p:sp>
      <p:sp>
        <p:nvSpPr>
          <p:cNvPr id="18" name="HWF Output"/>
          <p:cNvSpPr/>
          <p:nvPr/>
        </p:nvSpPr>
        <p:spPr>
          <a:xfrm>
            <a:off x="7000000" y="3880000"/>
            <a:ext cx="1800000" cy="48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p>
        </p:txBody>
      </p:sp>
      <p:sp>
        <p:nvSpPr>
          <p:cNvPr id="19" name="Divider"/>
          <p:cNvSpPr/>
          <p:nvPr/>
        </p:nvSpPr>
        <p:spPr>
          <a:xfrm>
            <a:off x="548640" y="448000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454000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p>
        </p:txBody>
      </p:sp>
      <p:sp>
        <p:nvSpPr>
          <p:cNvPr id="21" name="Col1 Content"/>
          <p:cNvSpPr txBox="1"/>
          <p:nvPr/>
        </p:nvSpPr>
        <p:spPr>
          <a:xfrm>
            <a:off x="548640" y="489000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p>
        </p:txBody>
      </p:sp>
      <p:sp>
        <p:nvSpPr>
          <p:cNvPr id="22" name="Col2 Header"/>
          <p:cNvSpPr txBox="1"/>
          <p:nvPr/>
        </p:nvSpPr>
        <p:spPr>
          <a:xfrm>
            <a:off x="3200000" y="454000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p>
        </p:txBody>
      </p:sp>
      <p:sp>
        <p:nvSpPr>
          <p:cNvPr id="23" name="Col2 Content"/>
          <p:cNvSpPr txBox="1"/>
          <p:nvPr/>
        </p:nvSpPr>
        <p:spPr>
          <a:xfrm>
            <a:off x="3200000" y="489000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p>
        </p:txBody>
      </p:sp>
      <p:sp>
        <p:nvSpPr>
          <p:cNvPr id="24" name="Col3 Header"/>
          <p:cNvSpPr txBox="1"/>
          <p:nvPr/>
        </p:nvSpPr>
        <p:spPr>
          <a:xfrm>
            <a:off x="5850000" y="454000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p>
        </p:txBody>
      </p:sp>
      <p:sp>
        <p:nvSpPr>
          <p:cNvPr id="25" name="Col3 Content"/>
          <p:cNvSpPr txBox="1"/>
          <p:nvPr/>
        </p:nvSpPr>
        <p:spPr>
          <a:xfrm>
            <a:off x="5850000" y="489000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