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Pointer 1"/>
          <p:cNvSpPr txBox="1"/>
          <p:nvPr/>
        </p:nvSpPr>
        <p:spPr>
          <a:xfrm>
            <a:off x="5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Validation — ventilation des factures</a:t>
            </a:r>
            <a:endParaRPr sz="900" b="1" dirty="0">
              <a:solidFill>
                <a:srgbClr val="1F4E9C"/>
              </a:solidFill>
              <a:latin typeface="Calibri" panose="020F0502020204030204"/>
            </a:endParaRPr>
          </a:p>
          <a:p>
            <a:pPr algn="l"/>
            <a:r>
              <a:rPr sz="820" b="0" dirty="0">
                <a:solidFill>
                  <a:srgbClr val="7A8294"/>
                </a:solidFill>
                <a:latin typeface="Calibri" panose="020F0502020204030204"/>
              </a:rPr>
              <a:t>Partenaires, produits, comptes comptables et taxes correctement liés dans chaque facture</a:t>
            </a:r>
            <a:endParaRPr sz="820" b="0" dirty="0">
              <a:solidFill>
                <a:srgbClr val="7A8294"/>
              </a:solidFill>
              <a:latin typeface="Calibri" panose="020F0502020204030204"/>
            </a:endParaRPr>
          </a:p>
        </p:txBody>
      </p:sp>
      <p:sp>
        <p:nvSpPr>
          <p:cNvPr id="10" name="Pointer 2"/>
          <p:cNvSpPr txBox="1"/>
          <p:nvPr/>
        </p:nvSpPr>
        <p:spPr>
          <a:xfrm>
            <a:off x="28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Idempotence garantie</a:t>
            </a:r>
            <a:endParaRPr sz="900" b="1" dirty="0">
              <a:solidFill>
                <a:srgbClr val="1F4E9C"/>
              </a:solidFill>
              <a:latin typeface="Calibri" panose="020F0502020204030204"/>
            </a:endParaRPr>
          </a:p>
          <a:p>
            <a:pPr algn="l"/>
            <a:r>
              <a:rPr sz="820" b="0" dirty="0">
                <a:solidFill>
                  <a:srgbClr val="7A8294"/>
                </a:solidFill>
                <a:latin typeface="Calibri" panose="020F0502020204030204"/>
              </a:rPr>
              <a:t>0 doublon sur ré-exécution complète du workflow</a:t>
            </a:r>
            <a:endParaRPr sz="820" b="0" dirty="0">
              <a:solidFill>
                <a:srgbClr val="7A8294"/>
              </a:solidFill>
              <a:latin typeface="Calibri" panose="020F0502020204030204"/>
            </a:endParaRPr>
          </a:p>
        </p:txBody>
      </p:sp>
      <p:sp>
        <p:nvSpPr>
          <p:cNvPr id="11" name="Pointer 3"/>
          <p:cNvSpPr txBox="1"/>
          <p:nvPr/>
        </p:nvSpPr>
        <p:spPr>
          <a:xfrm>
            <a:off x="51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3.6× plus rapide que l'import natif</a:t>
            </a:r>
            <a:endParaRPr sz="900" b="1" dirty="0">
              <a:solidFill>
                <a:srgbClr val="1F4E9C"/>
              </a:solidFill>
              <a:latin typeface="Calibri" panose="020F0502020204030204"/>
            </a:endParaRPr>
          </a:p>
          <a:p>
            <a:pPr algn="l"/>
            <a:r>
              <a:rPr sz="820" b="0" dirty="0">
                <a:solidFill>
                  <a:srgbClr val="7A8294"/>
                </a:solidFill>
                <a:latin typeface="Calibri" panose="020F0502020204030204"/>
              </a:rPr>
              <a:t>642s vs 2 340s pour 2 000 documents et ~10 000 lignes</a:t>
            </a:r>
            <a:endParaRPr sz="820" b="0" dirty="0">
              <a:solidFill>
                <a:srgbClr val="7A8294"/>
              </a:solidFill>
              <a:latin typeface="Calibri" panose="020F0502020204030204"/>
            </a:endParaRPr>
          </a:p>
        </p:txBody>
      </p:sp>
      <p:sp>
        <p:nvSpPr>
          <p:cNvPr id="12" name="Pointer 4"/>
          <p:cNvSpPr txBox="1"/>
          <p:nvPr/>
        </p:nvSpPr>
        <p:spPr>
          <a:xfrm>
            <a:off x="74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Mapping IA — quelques minutes</a:t>
            </a:r>
            <a:endParaRPr sz="900" b="1" dirty="0">
              <a:solidFill>
                <a:srgbClr val="1F4E9C"/>
              </a:solidFill>
              <a:latin typeface="Calibri" panose="020F0502020204030204"/>
            </a:endParaRPr>
          </a:p>
          <a:p>
            <a:pPr algn="l"/>
            <a:r>
              <a:rPr sz="820" b="0" dirty="0">
                <a:solidFill>
                  <a:srgbClr val="7A8294"/>
                </a:solidFill>
                <a:latin typeface="Calibri" panose="020F0502020204030204"/>
              </a:rPr>
              <a:t>Contre plusieurs heures de configuration manuelle par entité</a:t>
            </a:r>
            <a:endParaRPr sz="820" b="0" dirty="0">
              <a:solidFill>
                <a:srgbClr val="7A8294"/>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