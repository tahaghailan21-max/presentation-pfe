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21.xml" ContentType="application/vnd.openxmlformats-officedocument.presentationml.notesSlide+xml"/>
  <Override PartName="/ppt/notesSlides/notesSlide20.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diagramme couvre la phase mapping. Le responsable d'intégration démarre une session, ce qui inclut la configuration de la connexion à la base de données, dépose ses fichiers CSV, génère le manifeste, et peut consulter les fichiers ou le manifeste à tout moment. L'agent IA n'intervient qu'à un seul endroit : la résolution des dépendances de clés étrangères. C'est le seul cas d'utilisation partagé entre l'humain et Claude.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à l'écoute de vos remarques et de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termine par les limitations du projet.</a:t>
            </a:r>
            <a:endParaRPr lang="fr-FR" dirty="0"/>
          </a:p>
          <a:p>
            <a:endParaRPr lang="fr-FR" dirty="0"/>
          </a:p>
          <a:p>
            <a:r>
              <a:rPr lang="fr-FR" dirty="0"/>
              <a:t>La première, et la plus honnête, c'est le contexte dans lequel le projet a été mené. Pendant tout le stage, j'étais intégré à 50% sur un projet client en parallèle. Ça a directement contraint le périmètre de ce qu'on pouvait faire.</a:t>
            </a:r>
            <a:endParaRPr lang="fr-FR" dirty="0"/>
          </a:p>
          <a:p>
            <a:endParaRPr lang="fr-FR" dirty="0"/>
          </a:p>
          <a:p>
            <a:r>
              <a:rPr lang="fr-FR" dirty="0"/>
              <a:t>La deuxième limitation est plus architecturale. Contourner l'ORM d'Axelor, c'est ce qui nous donne les gains de performance qu'on a vus. Mais ça a un coût. Hibernate gère nativement des mécanismes comme l'auto-incrément des IDs ou la gestion des séquences PostgreSQL. En écrivant directement en base, on doit réimplémenter tout ça manuellement dans chaque pipeline. On réécrit des problèmes qui avaient déjà été résolus.</a:t>
            </a:r>
            <a:endParaRPr lang="fr-FR" dirty="0"/>
          </a:p>
          <a:p>
            <a:endParaRPr lang="fr-FR" dirty="0"/>
          </a:p>
          <a:p>
            <a:r>
              <a:rPr lang="fr-FR" dirty="0"/>
              <a:t>La troisième limitation concerne la scalabilité du framework. On a couvert 4 entités métier. Mais Axelor va bien plus loin que ça. Un import de commandes de vente, par exemple, devrait mettre à jour les stocks. La production a ses propres règles, les achats aussi. Reproduire tout le comportement d'Axelor via des pipelines Apache Hop reviendrait à réécrire toute la logique métier du framework en XML. Ce n'est pas viable.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les perspectives, trois directions naturelles.</a:t>
            </a:r>
            <a:endParaRPr lang="fr-FR" dirty="0"/>
          </a:p>
          <a:p>
            <a:endParaRPr lang="fr-FR" dirty="0"/>
          </a:p>
          <a:p>
            <a:r>
              <a:rPr lang="fr-FR" dirty="0"/>
              <a:t>La première c'est l'extension des sources. Pour l'instant le framework ne supporte que les CSV. Mais en pratique, les clients Axelor ont des données dans des fichiers Excel, des bases SQL existantes ou des exports XML d'autres ERP. Étendre le framework à ces formats élargirait significativement le périmètre d'utilisation.</a:t>
            </a:r>
            <a:endParaRPr lang="fr-FR" dirty="0"/>
          </a:p>
          <a:p>
            <a:endParaRPr lang="fr-FR" dirty="0"/>
          </a:p>
          <a:p>
            <a:r>
              <a:rPr lang="fr-FR" dirty="0"/>
              <a:t>Ensuite l'anonymisation automatique. On a vu en limitations que les données client sont transmises au modèle IA pendant le mapping. Implémenter un mécanisme de masquage automatique des données personnelles avant cette transmission permettrait de déployer l'outil dans des contextes plus sensibles.</a:t>
            </a:r>
            <a:endParaRPr lang="fr-FR" dirty="0"/>
          </a:p>
          <a:p>
            <a:endParaRPr lang="fr-FR" dirty="0"/>
          </a:p>
          <a:p>
            <a:r>
              <a:rPr lang="fr-FR" dirty="0"/>
              <a:t>Et enfin la capitalisation IA. À chaque mapping réussi, le framework accumule de l'expérience. On peut imaginer un mécanisme où les mappings validés alimentent un historique qui améliore la qualité des suggestions pour les entités suivantes. Plus on s'en sert, meilleur il devient.</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3 skills Claude Code au coeur du framework.</a:t>
            </a:r>
            <a:endParaRPr lang="fr-FR" dirty="0"/>
          </a:p>
          <a:p>
            <a:endParaRPr lang="fr-FR" dirty="0"/>
          </a:p>
          <a:p>
            <a:r>
              <a:rPr lang="fr-FR" dirty="0"/>
              <a:t>Le premier, analyze-and-map-entity, est le skill de mapping. Il lit simultanément le CSV et interroge l'INFORMATION_SCHEMA de PostgreSQL pour comprendre la structure cible. Il catégorise les colonnes, détecte les clés étrangères, et pour les cas ambigus, il pose la question à l'utilisateur de manière interactive. En sortie : le manifest.json — le contrat central du framework.</a:t>
            </a:r>
            <a:endParaRPr lang="fr-FR" dirty="0"/>
          </a:p>
          <a:p>
            <a:endParaRPr lang="fr-FR" dirty="0"/>
          </a:p>
          <a:p>
            <a:r>
              <a:rPr lang="fr-FR" dirty="0"/>
              <a:t>Le deuxième, generate-pipeline, consomme ce manifeste pour générer les fichiers .hpl d'Apache Hop. Il s'appuie sur 3 pipelines de référence injectés en contexte — le modèle ne génère pas librement, il a des exemples concrets sous les yeux.</a:t>
            </a:r>
            <a:endParaRPr lang="fr-FR" dirty="0"/>
          </a:p>
          <a:p>
            <a:endParaRPr lang="fr-FR" dirty="0"/>
          </a:p>
          <a:p>
            <a:r>
              <a:rPr lang="fr-FR" dirty="0"/>
              <a:t>Le troisième, generate-workflow, génère le fichier d'orchestration .hwf. Il commence par des preflight checks sur le CSV et la connexion BD, puis enchaîne les pipelines dans l'ordre topologique extrait du manifeste.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Voici l'interface développée pour encapsuler tout ça. À gauche, l'écran de départ : le consultant choisit l'entité Axelor à importer et renseigne les credentials de la base cible. C'est tout ce qu'il faut pour lancer le mapping.</a:t>
            </a:r>
            <a:endParaRPr lang="fr-FR" dirty="0"/>
          </a:p>
          <a:p>
            <a:endParaRPr lang="fr-FR" dirty="0"/>
          </a:p>
          <a:p>
            <a:r>
              <a:rPr lang="fr-FR" dirty="0"/>
              <a:t>À droite, la revue : le consultant peut consulter le manifeste généré et les fichiers qu'il a déposés. Une vue de contrôle avant de passer à la génération des pipelines.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 Id="rId5"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 Id="rId5"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 Id="rId6"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Périmètre contraint par le contexte</a:t>
            </a:r>
            <a:endParaRPr sz="1100" b="1" dirty="0">
              <a:solidFill>
                <a:srgbClr val="1F4E9C"/>
              </a:solidFill>
              <a:latin typeface="Calibri" panose="020F0502020204030204"/>
            </a:endParaRPr>
          </a:p>
          <a:p>
            <a:pPr algn="l"/>
            <a:r>
              <a:rPr sz="900" b="0" dirty="0">
                <a:solidFill>
                  <a:srgbClr val="7A8294"/>
                </a:solidFill>
                <a:latin typeface="Calibri" panose="020F0502020204030204"/>
              </a:rPr>
              <a:t>Projet mené en parallèle d'une mission client à 50%, ce qui a limité le périmètre couvert</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Contournement de l'ORM = réimplémentation from scratch</a:t>
            </a:r>
            <a:endParaRPr sz="1100" b="1" dirty="0">
              <a:solidFill>
                <a:srgbClr val="1F4E9C"/>
              </a:solidFill>
              <a:latin typeface="Calibri" panose="020F0502020204030204"/>
            </a:endParaRPr>
          </a:p>
          <a:p>
            <a:pPr algn="l"/>
            <a:r>
              <a:rPr sz="900" b="0" dirty="0">
                <a:solidFill>
                  <a:srgbClr val="7A8294"/>
                </a:solidFill>
                <a:latin typeface="Calibri" panose="020F0502020204030204"/>
              </a:rPr>
              <a:t>Des mécanismes nativement gérés par Hibernate (auto-incrément des IDs, gestion des séquences) doivent être réimplantés manuellement dans chaque pipeline</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Non extensible aux modules métier complexes</a:t>
            </a:r>
            <a:endParaRPr sz="1100" b="1" dirty="0">
              <a:solidFill>
                <a:srgbClr val="1F4E9C"/>
              </a:solidFill>
              <a:latin typeface="Calibri" panose="020F0502020204030204"/>
            </a:endParaRPr>
          </a:p>
          <a:p>
            <a:pPr algn="l"/>
            <a:r>
              <a:rPr sz="900" b="0" dirty="0">
                <a:solidFill>
                  <a:srgbClr val="7A8294"/>
                </a:solidFill>
                <a:latin typeface="Calibri" panose="020F0502020204030204"/>
              </a:rPr>
              <a:t>Reproduire le comportement d'Axelor pour les stocks, achats ou production nécessiterait de réécrire toute la logique métier en Apache Hop, ce qui n'est pas viable</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Extension des sources</a:t>
            </a:r>
            <a:endParaRPr sz="1100" b="1" dirty="0">
              <a:solidFill>
                <a:srgbClr val="1F4E9C"/>
              </a:solidFill>
              <a:latin typeface="Calibri" panose="020F0502020204030204"/>
            </a:endParaRPr>
          </a:p>
          <a:p>
            <a:pPr algn="l"/>
            <a:r>
              <a:rPr sz="900" b="0" dirty="0">
                <a:solidFill>
                  <a:srgbClr val="7A8294"/>
                </a:solidFill>
                <a:latin typeface="Calibri" panose="020F0502020204030204"/>
              </a:rPr>
              <a:t>Prise en charge de fichiers Excel, bases SQL et exports XML d'autres ERP</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Anonymisation automatique</a:t>
            </a:r>
            <a:endParaRPr sz="1100" b="1" dirty="0">
              <a:solidFill>
                <a:srgbClr val="1F4E9C"/>
              </a:solidFill>
              <a:latin typeface="Calibri" panose="020F0502020204030204"/>
            </a:endParaRPr>
          </a:p>
          <a:p>
            <a:pPr algn="l"/>
            <a:r>
              <a:rPr sz="900" b="0" dirty="0">
                <a:solidFill>
                  <a:srgbClr val="7A8294"/>
                </a:solidFill>
                <a:latin typeface="Calibri" panose="020F0502020204030204"/>
              </a:rPr>
              <a:t>Masquage des données personnelles avant transmission au modèle IA</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Capitalisation IA</a:t>
            </a:r>
            <a:endParaRPr sz="1100" b="1" dirty="0">
              <a:solidFill>
                <a:srgbClr val="1F4E9C"/>
              </a:solidFill>
              <a:latin typeface="Calibri" panose="020F0502020204030204"/>
            </a:endParaRPr>
          </a:p>
          <a:p>
            <a:pPr algn="l"/>
            <a:r>
              <a:rPr sz="900" b="0" dirty="0">
                <a:solidFill>
                  <a:srgbClr val="7A8294"/>
                </a:solidFill>
                <a:latin typeface="Calibri" panose="020F0502020204030204"/>
              </a:rPr>
              <a:t>Apprentissage sur l'historique des mappings réussis pour améliorer la qualité des suggestions</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0</a:t>
            </a:r>
            <a:r>
              <a:rPr sz="1000" b="0">
                <a:solidFill>
                  <a:srgbClr val="7A8294"/>
                </a:solidFill>
                <a:latin typeface="Calibri" panose="020F0502020204030204"/>
              </a:rPr>
              <a:t> / </a:t>
            </a:r>
            <a:r>
              <a:rPr lang="fr-FR" sz="1000" b="0">
                <a:solidFill>
                  <a:srgbClr val="7A8294"/>
                </a:solidFill>
                <a:latin typeface="Calibri" panose="020F0502020204030204"/>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