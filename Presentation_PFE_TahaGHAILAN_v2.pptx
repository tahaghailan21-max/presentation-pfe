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63" r:id="rId21"/>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Justifier le choix de la méthode en une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solution en action. Les chiffres clés marquent les esprits.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Conclure par une phrase de synthèse forte.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El Bouzekri El Idrissi 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s,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Aabane,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un sprint par domaine fonctionnel, suivi Redmine. Critère de réussite : ventilation comptable des factures importées.</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954645" y="307340"/>
            <a:ext cx="2405380" cy="6243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568960" y="152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TextBox 8"/>
          <p:cNvSpPr txBox="1"/>
          <p:nvPr/>
        </p:nvSpPr>
        <p:spPr>
          <a:xfrm>
            <a:off x="189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0" name="Rounded Rectangle 9"/>
          <p:cNvSpPr/>
          <p:nvPr/>
        </p:nvSpPr>
        <p:spPr>
          <a:xfrm>
            <a:off x="2128960" y="152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TextBox 10"/>
          <p:cNvSpPr txBox="1"/>
          <p:nvPr/>
        </p:nvSpPr>
        <p:spPr>
          <a:xfrm>
            <a:off x="415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2" name="Rounded Rectangle 11"/>
          <p:cNvSpPr/>
          <p:nvPr/>
        </p:nvSpPr>
        <p:spPr>
          <a:xfrm>
            <a:off x="4388960" y="152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3" name="TextBox 12"/>
          <p:cNvSpPr txBox="1"/>
          <p:nvPr/>
        </p:nvSpPr>
        <p:spPr>
          <a:xfrm>
            <a:off x="6268640" y="1860000"/>
            <a:ext cx="3480000" cy="320000"/>
          </a:xfrm>
          <a:prstGeom prst="rect">
            <a:avLst/>
          </a:prstGeom>
          <a:noFill/>
        </p:spPr>
        <p:txBody>
          <a:bodyPr wrap="square">
            <a:spAutoFit/>
          </a:bodyPr>
          <a:lstStyle/>
          <a:p>
            <a:pPr algn="l"/>
            <a:r>
              <a:rPr sz="850" b="0" i="0">
                <a:solidFill>
                  <a:srgbClr val="7A8294"/>
                </a:solidFill>
                <a:latin typeface="Calibri" panose="020F0502020204030204"/>
              </a:rPr>
              <a:t>Lit le CSV, introspècte la BD,</a:t>
            </a:r>
            <a:endParaRPr sz="850" b="0" i="0">
              <a:solidFill>
                <a:srgbClr val="7A8294"/>
              </a:solidFill>
              <a:latin typeface="Calibri" panose="020F0502020204030204"/>
            </a:endParaRPr>
          </a:p>
        </p:txBody>
      </p:sp>
      <p:sp>
        <p:nvSpPr>
          <p:cNvPr id="14" name="TextBox 13"/>
          <p:cNvSpPr txBox="1"/>
          <p:nvPr/>
        </p:nvSpPr>
        <p:spPr>
          <a:xfrm>
            <a:off x="6268640" y="2200000"/>
            <a:ext cx="3480000" cy="320000"/>
          </a:xfrm>
          <a:prstGeom prst="rect">
            <a:avLst/>
          </a:prstGeom>
          <a:noFill/>
        </p:spPr>
        <p:txBody>
          <a:bodyPr wrap="square">
            <a:spAutoFit/>
          </a:bodyPr>
          <a:lstStyle/>
          <a:p>
            <a:pPr algn="l"/>
            <a:r>
              <a:rPr sz="850" b="0" i="0">
                <a:solidFill>
                  <a:srgbClr val="7A8294"/>
                </a:solidFill>
                <a:latin typeface="Calibri" panose="020F0502020204030204"/>
              </a:rPr>
              <a:t>résout les FK interactivement</a:t>
            </a:r>
            <a:endParaRPr sz="850" b="0" i="0">
              <a:solidFill>
                <a:srgbClr val="7A8294"/>
              </a:solidFill>
              <a:latin typeface="Calibri" panose="020F0502020204030204"/>
            </a:endParaRPr>
          </a:p>
        </p:txBody>
      </p:sp>
      <p:sp>
        <p:nvSpPr>
          <p:cNvPr id="15" name="TextBox 14"/>
          <p:cNvSpPr txBox="1"/>
          <p:nvPr/>
        </p:nvSpPr>
        <p:spPr>
          <a:xfrm>
            <a:off x="6268640" y="2540000"/>
            <a:ext cx="3480000" cy="320000"/>
          </a:xfrm>
          <a:prstGeom prst="rect">
            <a:avLst/>
          </a:prstGeom>
          <a:noFill/>
        </p:spPr>
        <p:txBody>
          <a:bodyPr wrap="square">
            <a:spAutoFit/>
          </a:bodyPr>
          <a:lstStyle/>
          <a:p>
            <a:pPr algn="l"/>
            <a:r>
              <a:rPr sz="850" b="0" i="0">
                <a:solidFill>
                  <a:srgbClr val="7A8294"/>
                </a:solidFill>
                <a:latin typeface="Calibri" panose="020F0502020204030204"/>
              </a:rPr>
              <a:t>avec le consultant</a:t>
            </a:r>
            <a:endParaRPr sz="850" b="0" i="0">
              <a:solidFill>
                <a:srgbClr val="7A8294"/>
              </a:solidFill>
              <a:latin typeface="Calibri" panose="020F0502020204030204"/>
            </a:endParaRPr>
          </a:p>
        </p:txBody>
      </p:sp>
      <p:sp>
        <p:nvSpPr>
          <p:cNvPr id="16" name="Rounded Rectangle 15"/>
          <p:cNvSpPr/>
          <p:nvPr/>
        </p:nvSpPr>
        <p:spPr>
          <a:xfrm>
            <a:off x="568960" y="316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7" name="TextBox 16"/>
          <p:cNvSpPr txBox="1"/>
          <p:nvPr/>
        </p:nvSpPr>
        <p:spPr>
          <a:xfrm>
            <a:off x="189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8" name="Rounded Rectangle 17"/>
          <p:cNvSpPr/>
          <p:nvPr/>
        </p:nvSpPr>
        <p:spPr>
          <a:xfrm>
            <a:off x="2128960" y="316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9" name="TextBox 18"/>
          <p:cNvSpPr txBox="1"/>
          <p:nvPr/>
        </p:nvSpPr>
        <p:spPr>
          <a:xfrm>
            <a:off x="415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0" name="Rounded Rectangle 19"/>
          <p:cNvSpPr/>
          <p:nvPr/>
        </p:nvSpPr>
        <p:spPr>
          <a:xfrm>
            <a:off x="4388960" y="316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 (Apache Hop)</a:t>
            </a:r>
            <a:endParaRPr sz="800" b="0">
              <a:solidFill>
                <a:srgbClr val="12203F"/>
              </a:solidFill>
              <a:latin typeface="Calibri" panose="020F0502020204030204"/>
            </a:endParaRPr>
          </a:p>
        </p:txBody>
      </p:sp>
      <p:sp>
        <p:nvSpPr>
          <p:cNvPr id="21" name="TextBox 20"/>
          <p:cNvSpPr txBox="1"/>
          <p:nvPr/>
        </p:nvSpPr>
        <p:spPr>
          <a:xfrm>
            <a:off x="6268640" y="350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les pipelines XML</a:t>
            </a:r>
            <a:endParaRPr sz="850" b="0" i="0">
              <a:solidFill>
                <a:srgbClr val="7A8294"/>
              </a:solidFill>
              <a:latin typeface="Calibri" panose="020F0502020204030204"/>
            </a:endParaRPr>
          </a:p>
        </p:txBody>
      </p:sp>
      <p:sp>
        <p:nvSpPr>
          <p:cNvPr id="22" name="TextBox 21"/>
          <p:cNvSpPr txBox="1"/>
          <p:nvPr/>
        </p:nvSpPr>
        <p:spPr>
          <a:xfrm>
            <a:off x="6268640" y="3840000"/>
            <a:ext cx="3480000" cy="320000"/>
          </a:xfrm>
          <a:prstGeom prst="rect">
            <a:avLst/>
          </a:prstGeom>
          <a:noFill/>
        </p:spPr>
        <p:txBody>
          <a:bodyPr wrap="square">
            <a:spAutoFit/>
          </a:bodyPr>
          <a:lstStyle/>
          <a:p>
            <a:pPr algn="l"/>
            <a:r>
              <a:rPr sz="850" b="0" i="0">
                <a:solidFill>
                  <a:srgbClr val="7A8294"/>
                </a:solidFill>
                <a:latin typeface="Calibri" panose="020F0502020204030204"/>
              </a:rPr>
              <a:t>conformes au schéma Hop</a:t>
            </a:r>
            <a:endParaRPr sz="850" b="0" i="0">
              <a:solidFill>
                <a:srgbClr val="7A8294"/>
              </a:solidFill>
              <a:latin typeface="Calibri" panose="020F0502020204030204"/>
            </a:endParaRPr>
          </a:p>
        </p:txBody>
      </p:sp>
      <p:sp>
        <p:nvSpPr>
          <p:cNvPr id="23" name="TextBox 22"/>
          <p:cNvSpPr txBox="1"/>
          <p:nvPr/>
        </p:nvSpPr>
        <p:spPr>
          <a:xfrm>
            <a:off x="6268640" y="4180000"/>
            <a:ext cx="3480000" cy="320000"/>
          </a:xfrm>
          <a:prstGeom prst="rect">
            <a:avLst/>
          </a:prstGeom>
          <a:noFill/>
        </p:spPr>
        <p:txBody>
          <a:bodyPr wrap="square">
            <a:spAutoFit/>
          </a:bodyPr>
          <a:lstStyle/>
          <a:p>
            <a:pPr algn="l"/>
            <a:r>
              <a:rPr sz="850" b="0" i="0">
                <a:solidFill>
                  <a:srgbClr val="7A8294"/>
                </a:solidFill>
                <a:latin typeface="Calibri" panose="020F0502020204030204"/>
              </a:rPr>
              <a:t>pour chaque entité</a:t>
            </a:r>
            <a:endParaRPr sz="850" b="0" i="0">
              <a:solidFill>
                <a:srgbClr val="7A8294"/>
              </a:solidFill>
              <a:latin typeface="Calibri" panose="020F0502020204030204"/>
            </a:endParaRPr>
          </a:p>
        </p:txBody>
      </p:sp>
      <p:sp>
        <p:nvSpPr>
          <p:cNvPr id="24" name="Rounded Rectangle 23"/>
          <p:cNvSpPr/>
          <p:nvPr/>
        </p:nvSpPr>
        <p:spPr>
          <a:xfrm>
            <a:off x="568960" y="480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25" name="TextBox 24"/>
          <p:cNvSpPr txBox="1"/>
          <p:nvPr/>
        </p:nvSpPr>
        <p:spPr>
          <a:xfrm>
            <a:off x="189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6" name="Rounded Rectangle 25"/>
          <p:cNvSpPr/>
          <p:nvPr/>
        </p:nvSpPr>
        <p:spPr>
          <a:xfrm>
            <a:off x="2128960" y="480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27" name="TextBox 26"/>
          <p:cNvSpPr txBox="1"/>
          <p:nvPr/>
        </p:nvSpPr>
        <p:spPr>
          <a:xfrm>
            <a:off x="415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8" name="Rounded Rectangle 27"/>
          <p:cNvSpPr/>
          <p:nvPr/>
        </p:nvSpPr>
        <p:spPr>
          <a:xfrm>
            <a:off x="4388960" y="480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29" name="TextBox 28"/>
          <p:cNvSpPr txBox="1"/>
          <p:nvPr/>
        </p:nvSpPr>
        <p:spPr>
          <a:xfrm>
            <a:off x="6268640" y="514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 workflow d'orchestration</a:t>
            </a:r>
            <a:endParaRPr sz="850" b="0" i="0">
              <a:solidFill>
                <a:srgbClr val="7A8294"/>
              </a:solidFill>
              <a:latin typeface="Calibri" panose="020F0502020204030204"/>
            </a:endParaRPr>
          </a:p>
        </p:txBody>
      </p:sp>
      <p:sp>
        <p:nvSpPr>
          <p:cNvPr id="30" name="TextBox 29"/>
          <p:cNvSpPr txBox="1"/>
          <p:nvPr/>
        </p:nvSpPr>
        <p:spPr>
          <a:xfrm>
            <a:off x="6268640" y="5480000"/>
            <a:ext cx="3480000" cy="320000"/>
          </a:xfrm>
          <a:prstGeom prst="rect">
            <a:avLst/>
          </a:prstGeom>
          <a:noFill/>
        </p:spPr>
        <p:txBody>
          <a:bodyPr wrap="square">
            <a:spAutoFit/>
          </a:bodyPr>
          <a:lstStyle/>
          <a:p>
            <a:pPr algn="l"/>
            <a:r>
              <a:rPr sz="850" b="0" i="0">
                <a:solidFill>
                  <a:srgbClr val="7A8294"/>
                </a:solidFill>
                <a:latin typeface="Calibri" panose="020F0502020204030204"/>
              </a:rPr>
              <a:t>qui enchaîne les pipelines</a:t>
            </a:r>
            <a:endParaRPr sz="850" b="0" i="0">
              <a:solidFill>
                <a:srgbClr val="7A8294"/>
              </a:solidFill>
              <a:latin typeface="Calibri" panose="020F0502020204030204"/>
            </a:endParaRPr>
          </a:p>
        </p:txBody>
      </p:sp>
      <p:sp>
        <p:nvSpPr>
          <p:cNvPr id="31" name="TextBox 30"/>
          <p:cNvSpPr txBox="1"/>
          <p:nvPr/>
        </p:nvSpPr>
        <p:spPr>
          <a:xfrm>
            <a:off x="6268640" y="5820000"/>
            <a:ext cx="3480000" cy="320000"/>
          </a:xfrm>
          <a:prstGeom prst="rect">
            <a:avLst/>
          </a:prstGeom>
          <a:noFill/>
        </p:spPr>
        <p:txBody>
          <a:bodyPr wrap="square">
            <a:spAutoFit/>
          </a:bodyPr>
          <a:lstStyle/>
          <a:p>
            <a:pPr algn="l"/>
            <a:r>
              <a:rPr sz="850" b="0" i="0">
                <a:solidFill>
                  <a:srgbClr val="7A8294"/>
                </a:solidFill>
                <a:latin typeface="Calibri" panose="020F0502020204030204"/>
              </a:rPr>
              <a:t>dans le bon ordre topologique</a:t>
            </a:r>
            <a:endParaRPr sz="850" b="0" i="0">
              <a:solidFill>
                <a:srgbClr val="7A8294"/>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7" name="TextBox 6"/>
          <p:cNvSpPr txBox="1"/>
          <p:nvPr/>
        </p:nvSpPr>
        <p:spPr>
          <a:xfrm>
            <a:off x="548640" y="3200000"/>
            <a:ext cx="11094720" cy="500000"/>
          </a:xfrm>
          <a:prstGeom prst="rect">
            <a:avLst/>
          </a:prstGeom>
          <a:noFill/>
        </p:spPr>
        <p:txBody>
          <a:bodyPr wrap="square">
            <a:spAutoFit/>
          </a:bodyPr>
          <a:lstStyle/>
          <a:p>
            <a:pPr algn="ctr"/>
            <a:r>
              <a:rPr sz="1400" b="0" i="1">
                <a:solidFill>
                  <a:srgbClr val="7A8294"/>
                </a:solidFill>
                <a:latin typeface="Calibri" panose="020F0502020204030204"/>
              </a:rPr>
              <a:t>[Insérer capture d'écran de l'interface ici]</a:t>
            </a:r>
            <a:endParaRPr sz="1400" b="0" i="1">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Bilan des réalisations</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panose="020F0502020204030204"/>
              </a:rPr>
              <a:t>19 pipelines ETL réutilisables</a:t>
            </a:r>
            <a:endParaRPr sz="1100" b="1" i="0">
              <a:solidFill>
                <a:srgbClr val="12203F"/>
              </a:solidFill>
              <a:latin typeface="Calibri" panose="020F0502020204030204"/>
            </a:endParaRP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panose="020F0502020204030204"/>
              </a:rPr>
              <a:t>Couvrant 4 domaines : produits, partenaires, commandes de vente, factures</a:t>
            </a:r>
            <a:endParaRPr sz="950" b="0" i="0">
              <a:solidFill>
                <a:srgbClr val="7A8294"/>
              </a:solidFill>
              <a:latin typeface="Calibri" panose="020F0502020204030204"/>
            </a:endParaRP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panose="020F0502020204030204"/>
              </a:rPr>
              <a:t>3 skills Claude Code</a:t>
            </a:r>
            <a:endParaRPr sz="1100" b="1" i="0">
              <a:solidFill>
                <a:srgbClr val="12203F"/>
              </a:solidFill>
              <a:latin typeface="Calibri" panose="020F0502020204030204"/>
            </a:endParaRP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panose="020F0502020204030204"/>
              </a:rPr>
              <a:t>analyze-and-map-entity · generate-pipeline · generate-workflow</a:t>
            </a:r>
            <a:endParaRPr sz="950" b="0" i="0">
              <a:solidFill>
                <a:srgbClr val="7A8294"/>
              </a:solidFill>
              <a:latin typeface="Calibri" panose="020F0502020204030204"/>
            </a:endParaRP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panose="020F0502020204030204"/>
              </a:rPr>
              <a:t>Axelor Import Studio</a:t>
            </a:r>
            <a:endParaRPr sz="1100" b="1" i="0">
              <a:solidFill>
                <a:srgbClr val="12203F"/>
              </a:solidFill>
              <a:latin typeface="Calibri" panose="020F0502020204030204"/>
            </a:endParaRP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panose="020F0502020204030204"/>
              </a:rPr>
              <a:t>Application web FastAPI + React + terminal PTY (xterm.js + WebSocket)</a:t>
            </a:r>
            <a:endParaRPr sz="950" b="0" i="0">
              <a:solidFill>
                <a:srgbClr val="7A8294"/>
              </a:solidFill>
              <a:latin typeface="Calibri" panose="020F0502020204030204"/>
            </a:endParaRP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panose="020F0502020204030204"/>
              </a:rPr>
              <a:t>Manifeste JSON</a:t>
            </a:r>
            <a:endParaRPr sz="1100" b="1" i="0">
              <a:solidFill>
                <a:srgbClr val="12203F"/>
              </a:solidFill>
              <a:latin typeface="Calibri" panose="020F0502020204030204"/>
            </a:endParaRP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panose="020F0502020204030204"/>
              </a:rPr>
              <a:t>Contrat versionnable entre analyse IA et génération de pipelines</a:t>
            </a:r>
            <a:endParaRPr sz="950" b="0" i="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19</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0</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20</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7592</Words>
  <Application>WPS Presentation</Application>
  <PresentationFormat>On-screen Show (16:9)</PresentationFormat>
  <Paragraphs>611</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16</cp:revision>
  <dcterms:created xsi:type="dcterms:W3CDTF">2026-06-26T14:43:00Z</dcterms:created>
  <dcterms:modified xsi:type="dcterms:W3CDTF">2026-07-02T09:24:23Z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