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67" r:id="rId3"/>
    <p:sldId id="257" r:id="rId5"/>
    <p:sldId id="268" r:id="rId6"/>
    <p:sldId id="259" r:id="rId7"/>
    <p:sldId id="260" r:id="rId8"/>
    <p:sldId id="261" r:id="rId9"/>
    <p:sldId id="269" r:id="rId10"/>
    <p:sldId id="272" r:id="rId11"/>
    <p:sldId id="270" r:id="rId12"/>
    <p:sldId id="273" r:id="rId13"/>
    <p:sldId id="271" r:id="rId14"/>
    <p:sldId id="274" r:id="rId15"/>
    <p:sldId id="262" r:id="rId16"/>
    <p:sldId id="275" r:id="rId17"/>
    <p:sldId id="276" r:id="rId18"/>
    <p:sldId id="277" r:id="rId19"/>
    <p:sldId id="278" r:id="rId20"/>
    <p:sldId id="279" r:id="rId22"/>
    <p:sldId id="265" r:id="rId23"/>
    <p:sldId id="266" r:id="rId24"/>
    <p:sldId id="264"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Bonjour à tous. Messieurs les membres du jury, cher encadrant, mesdames et messieurs les invités, je vous remercie de me recevoir aujourd'hui pour la soutenance de mon projet de fin d'études.</a:t>
            </a:r>
            <a:endParaRPr lang="en-US" altLang="en-US" dirty="0"/>
          </a:p>
          <a:p>
            <a:endParaRPr lang="en-US" altLang="en-US" dirty="0"/>
          </a:p>
          <a:p>
            <a:r>
              <a:rPr lang="en-US" altLang="en-US" dirty="0"/>
              <a:t>Je m'appelle Taha Ghailan.</a:t>
            </a:r>
            <a:endParaRPr lang="en-US" altLang="en-US" dirty="0"/>
          </a:p>
          <a:p>
            <a:endParaRPr lang="en-US" altLang="en-US" dirty="0"/>
          </a:p>
          <a:p>
            <a:r>
              <a:rPr lang="en-US" altLang="en-US" dirty="0"/>
              <a:t>Je vais vous présenter mon travail réalisé au sein d'Axelor Maroc, portant sur la conception d'un framework ETL générique assisté par agents IA génératifs.</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Je vais structurer ma présentation en six parties.</a:t>
            </a:r>
            <a:endParaRPr lang="en-US" altLang="en-US" dirty="0"/>
          </a:p>
          <a:p>
            <a:endParaRPr lang="en-US" altLang="en-US" dirty="0"/>
          </a:p>
          <a:p>
            <a:r>
              <a:rPr lang="en-US" altLang="en-US" dirty="0"/>
              <a:t>Je commencerai par présenter le contexte général et l'organisme d'accueil. Ensuite j'aborderai la problématique, puis la méthodologie adoptée. Je passerai ensuite à la conception de la solution, suivie de la réalisation et des résultats obtenus. Et je terminerai par une conclusion en trois parties : le bilan, les limitations et les perspectives d'évolution.</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Axelor est un éditeur fran</a:t>
            </a:r>
            <a:r>
              <a:rPr lang="en-US" altLang="en-US" dirty="0"/>
              <a:t>ç</a:t>
            </a:r>
            <a:r>
              <a:rPr lang="en-US" altLang="en-US" dirty="0"/>
              <a:t>ais de logiciels open source spécialisé dans les solutions ERP, CRM et BPM. Fondée en 2005, la société est aujourd'hui présente dans 4 pays : la France, le Maroc, l'Inde et le Canada. C'est au sein de la filiale Axelor Maroc, dans l'équipe R&amp;D, que j'ai effectué mon stage.</a:t>
            </a:r>
            <a:endParaRPr lang="en-US" altLang="en-US" dirty="0"/>
          </a:p>
          <a:p>
            <a:endParaRPr lang="en-US" altLang="en-US" dirty="0"/>
          </a:p>
          <a:p>
            <a:r>
              <a:rPr lang="en-US" altLang="en-US" dirty="0"/>
              <a:t>Dans tout projet de déploiement ERP, les entreprises doivent migrer leurs données historiques depuis leurs anciens syst</a:t>
            </a:r>
            <a:r>
              <a:rPr lang="en-US" altLang="en-US" dirty="0"/>
              <a:t>è</a:t>
            </a:r>
            <a:r>
              <a:rPr lang="en-US" altLang="en-US" dirty="0"/>
              <a:t>mes — qu'il s'agisse d'anciens ERP, de bases de données relationnelles, de fichiers Excel ou CSV, ou encore d'APIs tierces. C'est une étape critique qui conditionne directement la mise en production.</a:t>
            </a:r>
            <a:endParaRPr lang="en-US" altLang="en-US" dirty="0"/>
          </a:p>
          <a:p>
            <a:endParaRPr lang="en-US" altLang="en-US" dirty="0"/>
          </a:p>
          <a:p>
            <a:r>
              <a:rPr lang="en-US" altLang="en-US" dirty="0"/>
              <a:t>Mon stage avait donc deux volets : participer aux projets d'intégration clients aux côtés des équipes Axelor, et contribuer à l'effort R&amp;D pour résoudre un probl</a:t>
            </a:r>
            <a:r>
              <a:rPr lang="en-US" altLang="en-US" dirty="0"/>
              <a:t>è</a:t>
            </a:r>
            <a:r>
              <a:rPr lang="en-US" altLang="en-US" dirty="0"/>
              <a:t>me récurrent dans les projets de déploiement.</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"Ce probl</a:t>
            </a:r>
            <a:r>
              <a:rPr lang="en-US" altLang="en-US" dirty="0"/>
              <a:t>è</a:t>
            </a:r>
            <a:r>
              <a:rPr lang="en-US" altLang="en-US" dirty="0"/>
              <a:t>me récurrent, c'est la migration de données historiques.</a:t>
            </a:r>
            <a:endParaRPr lang="en-US" altLang="en-US" dirty="0"/>
          </a:p>
          <a:p>
            <a:endParaRPr lang="en-US" altLang="en-US" dirty="0"/>
          </a:p>
          <a:p>
            <a:r>
              <a:rPr lang="en-US" altLang="en-US" dirty="0"/>
              <a:t>Quand Axelor déploie son ERP chez un nouveau client, le client veut garder ses données — ses produits, ses partenaires, ses commandes. Aujourd'hui, </a:t>
            </a:r>
            <a:r>
              <a:rPr lang="en-US" altLang="en-US" dirty="0"/>
              <a:t>ç</a:t>
            </a:r>
            <a:r>
              <a:rPr lang="en-US" altLang="en-US" dirty="0"/>
              <a:t>a se fait avec des scripts Java écrits sur mesure, projet par projet. Plus de 20 scripts à chaque fois.</a:t>
            </a:r>
            <a:endParaRPr lang="en-US" altLang="en-US" dirty="0"/>
          </a:p>
          <a:p>
            <a:endParaRPr lang="en-US" altLang="en-US" dirty="0"/>
          </a:p>
          <a:p>
            <a:r>
              <a:rPr lang="en-US" altLang="en-US" dirty="0"/>
              <a:t>Le probl</a:t>
            </a:r>
            <a:r>
              <a:rPr lang="en-US" altLang="en-US" dirty="0"/>
              <a:t>è</a:t>
            </a:r>
            <a:r>
              <a:rPr lang="en-US" altLang="en-US" dirty="0"/>
              <a:t>me c'est que ces scripts ne servent qu'une fois. Le projet suivant, même si les données se ressemblent, on repart de zéro. </a:t>
            </a:r>
            <a:r>
              <a:rPr lang="en-US" altLang="en-US" dirty="0"/>
              <a:t>Ç</a:t>
            </a:r>
            <a:r>
              <a:rPr lang="en-US" altLang="en-US" dirty="0"/>
              <a:t>a co</a:t>
            </a:r>
            <a:r>
              <a:rPr lang="en-US" altLang="en-US" dirty="0"/>
              <a:t>û</a:t>
            </a:r>
            <a:r>
              <a:rPr lang="en-US" altLang="en-US" dirty="0"/>
              <a:t>te cher et </a:t>
            </a:r>
            <a:r>
              <a:rPr lang="en-US" altLang="en-US" dirty="0"/>
              <a:t>ç</a:t>
            </a:r>
            <a:r>
              <a:rPr lang="en-US" altLang="en-US" dirty="0"/>
              <a:t>a mobilise des ingénieurs à chaque déploiement.</a:t>
            </a:r>
            <a:endParaRPr lang="en-US" altLang="en-US" dirty="0"/>
          </a:p>
          <a:p>
            <a:endParaRPr lang="en-US" altLang="en-US" dirty="0"/>
          </a:p>
          <a:p>
            <a:r>
              <a:rPr lang="en-US" altLang="en-US" dirty="0"/>
              <a:t>Et même quand on arrive à importer, l'import natif d'Axelor passe par toute la couche ORM. Sur de gros volumes, c'est lent.</a:t>
            </a:r>
            <a:endParaRPr lang="en-US" altLang="en-US" dirty="0"/>
          </a:p>
          <a:p>
            <a:endParaRPr lang="en-US" altLang="en-US" dirty="0"/>
          </a:p>
          <a:p>
            <a:r>
              <a:rPr lang="en-US" altLang="en-US" dirty="0"/>
              <a:t>Donc la question que ce projet essaie de répondre : est-ce qu'on peut concevoir un framework générique qui standardise ce processus et automatise la configuration grâce à des agents IA ?</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répondre à cette question, voici comment on a structuré le travail.</a:t>
            </a:r>
            <a:endParaRPr lang="fr-FR" dirty="0"/>
          </a:p>
          <a:p>
            <a:endParaRPr lang="fr-FR" dirty="0"/>
          </a:p>
          <a:p>
            <a:r>
              <a:rPr lang="fr-FR" dirty="0"/>
              <a:t>On a choisi la méthode incrémentale : à chaque incrément, quelque chose fonctionne et peut être validé. Le cycle en V était inadapté, les besoins évoluaient au fil du stage, la complexité d'Axelor se découvre en travaillant dessus, pas sur papier avant de commencer. Scrum, c'était trop lourd pour un projet mono-développeur sans Product Owner. L'incrémental permettait de livrer quelque chose de fonctionnel à chaque incrément, valider avec l'encadrant, et ajuster les priorités pour le suivant.</a:t>
            </a:r>
            <a:endParaRPr lang="fr-FR" dirty="0"/>
          </a:p>
          <a:p>
            <a:endParaRPr lang="fr-FR" dirty="0"/>
          </a:p>
          <a:p>
            <a:r>
              <a:rPr lang="fr-FR" dirty="0"/>
              <a:t>Les 6 premières semaines, c'était de la formation sur AOP, le framework interne qu'Axelor développe et commercialise : l'architecture modulaire, les mécanismes d'import, le modèle de données. Il fallait maîtriser l'écosystème avant de commencer à produire quoi que ce soit.</a:t>
            </a:r>
            <a:endParaRPr lang="fr-FR" dirty="0"/>
          </a:p>
          <a:p>
            <a:endParaRPr lang="fr-FR" dirty="0"/>
          </a:p>
          <a:p>
            <a:r>
              <a:rPr lang="fr-FR" dirty="0"/>
              <a:t>À partir de la semaine 7, deux activités en parallèle. Moitié du temps sur le PFE, moitié sur des projets clients réels au sein de l'équipe. La timeline en haut c'est le PFE, la barre en bas c'est les projets d'intégration.</a:t>
            </a:r>
            <a:endParaRPr lang="fr-FR" dirty="0"/>
          </a:p>
          <a:p>
            <a:endParaRPr lang="fr-FR" dirty="0"/>
          </a:p>
          <a:p>
            <a:r>
              <a:rPr lang="fr-FR" dirty="0"/>
              <a:t>Pour les incréments PFE, on a commencé par les pipelines ETL pour les 4 entités métier, ensuite l'application web Axelor Import Studio, puis les 3 skills IA sur Claude Code, et enfin la validation sur un golden dataset.</a:t>
            </a:r>
            <a:endParaRPr lang="fr-FR" dirty="0"/>
          </a:p>
          <a:p>
            <a:endParaRPr lang="fr-FR" dirty="0"/>
          </a:p>
          <a:p>
            <a:r>
              <a:rPr lang="fr-FR" dirty="0"/>
              <a:t>Le critère qu'on s'était fixé : réussir la ventilation comptable des factures importées. C'est l'entité la plus complexe du lot. Si ce test passe, le framework est validé. On va y revenir dans les résultats.</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Pour choisir l'outil ETL, j'ai évalué trois solutions open source : Apache Hop, Talend, et Apache NiFi.</a:t>
            </a:r>
          </a:p>
          <a:p/>
          <a:p>
            <a:r>
              <a:t>Le critère décisif n'était pas la richesse fonctionnelle — les trois outils sont capables de faire des transformations de données. Le critère décisif, c'est la générabilité par LLM.</a:t>
            </a:r>
          </a:p>
          <a:p/>
          <a:p>
            <a:r>
              <a:t>Puisque l'objectif du framework est de faire générer les pipelines automatiquement par un agent IA, il fallait un format de fichier texte, lisible et structuré. Apache Hop stocke ses pipelines en XML — un fichier par pipeline, versionnable sous Git, que le modèle peut lire comme contexte et reproduire. Talend génère du bytecode Java compilé, NiFi stocke sa configuration dans un état interne non orienté production programmatisée — ni l'un ni l'autre n'est exploitable par un LLM.</a:t>
            </a:r>
          </a:p>
          <a:p/>
          <a:p>
            <a:r>
              <a:t>Apache Hop était donc le seul choix possible pour notre architecture.</a:t>
            </a:r>
          </a:p>
          <a:p/>
          <a:p>
            <a:r>
              <a:t>[Transition] Le même raisonnement s'applique au choix de l'agent IA.</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Pour l'agent IA de génération de code, j'ai comparé trois outils : Claude Code d'Anthropic, Codex CLI d'OpenAI, et Gemini CLI de Google, en m'appuyant sur les benchmarks indépendants d'Artificial Analysis de juin 2026.</a:t>
            </a:r>
          </a:p>
          <a:p/>
          <a:p>
            <a:r>
              <a:t>Les scores sont très proches : 77 pour Claude Code contre 76 pour Codex sur le Coding Agent Index. Aucun ne se démarque de manière décisive sur la qualité de génération.</a:t>
            </a:r>
          </a:p>
          <a:p/>
          <a:p>
            <a:r>
              <a:t>Le choix s'est donc fait sur un critère pragmatique : Axelor disposait déjà d'un abonnement Anthropic actif au démarrage du projet. Choisir Claude Code évitait la mise en place d'une nouvelle infrastructure de facturation et d'authentification pour un gain de performance marginal.</a:t>
            </a:r>
          </a:p>
          <a:p/>
          <a:p>
            <a:r>
              <a:t>[Transition] Maintenant que les choix technologiques sont posés, voici comment la solution s'articule concrètement.</a:t>
            </a:r>
          </a:p>
          <a:p/>
          <a:p>
            <a:r>
              <a:t>---</a:t>
            </a:r>
          </a:p>
          <a:p/>
          <a:p>
            <a:r>
              <a:t>Notes :</a:t>
            </a:r>
          </a:p>
          <a:p/>
          <a:p>
            <a:r>
              <a:t>Coding Agent Index (77 pour Claude)</a:t>
            </a:r>
          </a:p>
          <a:p>
            <a:r>
              <a:t>Score composite qui mesure comment un agent IA accomplit du vrai travail de développement logiciel. Il agrège 3 benchmarks : DeepSWE (113 tâches : ajout de features et correction de bugs sur de vrais dépôts), Terminal-Bench (84 tâches en ligne de commande), et SWE-Atlas-QnA (124 questions sur des dépôts). C'est le score le plus pertinent pour ton projet — il mesure exactement ce que font tes skills.</a:t>
            </a:r>
          </a:p>
          <a:p/>
          <a:p>
            <a:r>
              <a:t>Terminal-Bench Hard (63% pour Claude)</a:t>
            </a:r>
          </a:p>
          <a:p>
            <a:r>
              <a:t>Sous-ensemble des 84 tâches les plus difficiles de Terminal-Bench : infrastructure (configurer un serveur web, récupérer une base de données), machine learning (inférence et training de modèles), cryptographie. Les tâches sont réussies ou échouées selon si les tests passent. Encore une fois très pertinent — ton skill analyze-and-map tourne dans un terminal.</a:t>
            </a:r>
          </a:p>
          <a:p/>
          <a:p>
            <a:r>
              <a:t>Intelligence Index (65 pour Claude)</a:t>
            </a:r>
          </a:p>
          <a:p>
            <a:r>
              <a:t>Score global sur 4 domaines : raisonnement avec outils (34%), code (24%), raisonnement scientifique (24%), connaissances générales (18%). Basé sur 9 benchmarks dont GPQA Diamond et Humanity's Last Exam. C'est une mesure de capacité générale, moins spécifique à ton use case que les deux premiers.</a:t>
            </a:r>
          </a:p>
          <a:p/>
          <a:p>
            <a:r>
              <a:t>---</a:t>
            </a:r>
          </a:p>
          <a:p/>
          <a:p>
            <a:r>
              <a:t>Artificial Analysis :</a:t>
            </a:r>
          </a:p>
          <a:p>
            <a:r>
              <a:t>Site indépendant qui fait des benchmarks comparatifs de modèles d'IA. Ils testent tous les grands modèles (OpenAI, Anthropic, Google, Meta...) sur des critères standardisés — qualité, vitesse, prix, capacités de code — et publient les résultats publiquement. Ni Anthropic ni OpenAI ne finance leurs tests, donc les comparaisons sont neutres. C'est pour ça que c'est une source crédible à citer dans un rapport ou une soutenance.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Maintenant que les outils sont justifiés, voici comment la solution fonctionne dans son ensemble.</a:t>
            </a:r>
            <a:endParaRPr lang="en-US" altLang="en-US"/>
          </a:p>
          <a:p>
            <a:endParaRPr lang="en-US" altLang="en-US"/>
          </a:p>
          <a:p>
            <a:r>
              <a:rPr lang="en-US" altLang="en-US"/>
              <a:t>Le flux est linéaire. L'utilisateur charge un fichier CSV — les données source du client. L'agent IA l'analyse, comprend la structure, propose un mapping vers le schéma Axelor, et produit un manifeste JSON. Ce manifeste c'est le contrat entre l'analyse et la génération : il décrit quoi importer, dans quel ordre, avec quelles transformations. Une fois validé, le deuxi</a:t>
            </a:r>
            <a:r>
              <a:rPr lang="en-US" altLang="en-US"/>
              <a:t>è</a:t>
            </a:r>
            <a:r>
              <a:rPr lang="en-US" altLang="en-US"/>
              <a:t>me agent lit ce manifeste et gén</a:t>
            </a:r>
            <a:r>
              <a:rPr lang="en-US" altLang="en-US"/>
              <a:t>è</a:t>
            </a:r>
            <a:r>
              <a:rPr lang="en-US" altLang="en-US"/>
              <a:t>re les pipelines Apache Hop. Apache Hop exécute, et les données arrivent directement dans PostgreSQL.</a:t>
            </a:r>
            <a:endParaRPr lang="en-US" altLang="en-US"/>
          </a:p>
          <a:p>
            <a:endParaRPr lang="en-US" altLang="en-US"/>
          </a:p>
          <a:p>
            <a:r>
              <a:rPr lang="en-US" altLang="en-US"/>
              <a:t>Le manifeste JSON est la pi</a:t>
            </a:r>
            <a:r>
              <a:rPr lang="en-US" altLang="en-US"/>
              <a:t>è</a:t>
            </a:r>
            <a:r>
              <a:rPr lang="en-US" altLang="en-US"/>
              <a:t>ce centrale de l'architecture. Il découple les deux agents — si on améliore la génération, on ne touche pas à l'analyse. Et l'utilisateur peut le modifier manuellement avant de lancer la génération, sans repartir de zéro.</a:t>
            </a:r>
            <a:endParaRPr lang="en-US" altLang="en-US"/>
          </a:p>
          <a:p>
            <a:endParaRPr lang="en-US" altLang="en-US"/>
          </a:p>
          <a:p>
            <a:r>
              <a:rPr lang="en-US" altLang="en-US"/>
              <a:t>Pour gérer les différents cas d'import, on a identifié 3 patterns ETL. L'upsert garantit l'idempotence : si un enregistrement avec le même import_id existe déjà, on met à jour plutôt qu'insérer en doublon. Le pattern junction g</a:t>
            </a:r>
            <a:r>
              <a:rPr lang="en-US" altLang="en-US"/>
              <a:t>è</a:t>
            </a:r>
            <a:r>
              <a:rPr lang="en-US" altLang="en-US"/>
              <a:t>re les relations many-to-many. Et le post-SQL traite les champs dérivés et les séquences apr</a:t>
            </a:r>
            <a:r>
              <a:rPr lang="en-US" altLang="en-US"/>
              <a:t>è</a:t>
            </a:r>
            <a:r>
              <a:rPr lang="en-US" altLang="en-US"/>
              <a:t>s l'insertion principale.</a:t>
            </a:r>
            <a:endParaRPr lang="en-US" altLang="en-US"/>
          </a:p>
          <a:p>
            <a:endParaRPr lang="en-US" altLang="en-US"/>
          </a:p>
          <a:p>
            <a:r>
              <a:rPr lang="en-US" altLang="en-US"/>
              <a:t>Le framework repose donc sur trois piliers : Apache Hop pour les pipelines, les 3 skills Claude pour l'analyse et la génération, et Axelor Import Studio comme interface pour l'utilisateur.</a:t>
            </a:r>
            <a:endParaRPr lang="en-US" altLang="en-US"/>
          </a:p>
          <a:p>
            <a:endParaRPr lang="en-US" altLang="en-US"/>
          </a:p>
          <a:p>
            <a:endParaRPr lang="en-US" altLang="en-US"/>
          </a:p>
          <a:p>
            <a:r>
              <a:rPr lang="fr-FR" altLang="en-US"/>
              <a:t>Questions potentielles:</a:t>
            </a:r>
            <a:endParaRPr lang="en-US" altLang="en-US"/>
          </a:p>
          <a:p>
            <a:endParaRPr lang="en-US" altLang="en-US"/>
          </a:p>
          <a:p>
            <a:r>
              <a:rPr lang="en-US" altLang="en-US"/>
              <a:t>Q : Pourquoi passer par un manifeste JSON intermédiaire plutôt que générer directement les pipelines ?</a:t>
            </a:r>
            <a:endParaRPr lang="en-US" altLang="en-US"/>
          </a:p>
          <a:p>
            <a:endParaRPr lang="en-US" altLang="en-US"/>
          </a:p>
          <a:p>
            <a:r>
              <a:rPr lang="en-US" altLang="en-US"/>
              <a:t>▎ Le manifeste découple l'analyse de la génération. Les deux peuvent évoluer indépendamment. Et l'utilisateur peut corriger le mapping à la main avant de lancer la génération, sans relancer toute l'analyse.</a:t>
            </a:r>
            <a:endParaRPr lang="en-US" altLang="en-US"/>
          </a:p>
          <a:p>
            <a:endParaRPr lang="en-US" altLang="en-US"/>
          </a:p>
          <a:p>
            <a:r>
              <a:rPr lang="en-US" altLang="en-US"/>
              <a:t>Q : Que se passe-t-il si un import échoue à mi-parcours — par exemple les commandes sont insérées mais les lignes échouent ?</a:t>
            </a:r>
            <a:endParaRPr lang="en-US" altLang="en-US"/>
          </a:p>
          <a:p>
            <a:endParaRPr lang="en-US" altLang="en-US"/>
          </a:p>
          <a:p>
            <a:r>
              <a:rPr lang="en-US" altLang="en-US"/>
              <a:t>▎ Les imports ne sont pas transactionnels, c'est un compromis assumé pour la performance. La mitigation c'est l'idempotence : on corrige l'erreur dans le CSV et on relance le pipeline concerné sans risque de doublons.</a:t>
            </a:r>
            <a:endParaRPr lang="en-US" altLang="en-US"/>
          </a:p>
          <a:p>
            <a:endParaRPr lang="en-US" altLang="en-US"/>
          </a:p>
          <a:p>
            <a:r>
              <a:rPr lang="en-US" altLang="en-US"/>
              <a:t>Q : Comment Apache Hop ins</a:t>
            </a:r>
            <a:r>
              <a:rPr lang="en-US" altLang="en-US"/>
              <a:t>è</a:t>
            </a:r>
            <a:r>
              <a:rPr lang="en-US" altLang="en-US"/>
              <a:t>re-t-il dans PostgreSQL sans passer par Axelor ?</a:t>
            </a:r>
            <a:endParaRPr lang="en-US" altLang="en-US"/>
          </a:p>
          <a:p>
            <a:endParaRPr lang="en-US" altLang="en-US"/>
          </a:p>
          <a:p>
            <a:r>
              <a:rPr lang="en-US" altLang="en-US"/>
              <a:t>▎ Acc</a:t>
            </a:r>
            <a:r>
              <a:rPr lang="en-US" altLang="en-US"/>
              <a:t>è</a:t>
            </a:r>
            <a:r>
              <a:rPr lang="en-US" altLang="en-US"/>
              <a:t>s direct JDBC. On contourne la couche ORM et les validations métier d'Axelor — c'est ce qui donne le gain de performance. En contrepartie, les pipelines reproduisent eux-mêmes les comportements que la couche applicative gérerait normalement : résolution des FK, calcul des champs dérivés, incrémentation des séquences.</a:t>
            </a:r>
            <a:endParaRPr lang="en-US" altLang="en-US"/>
          </a:p>
          <a:p>
            <a:endParaRPr lang="en-US" altLang="en-US"/>
          </a:p>
          <a:p>
            <a:r>
              <a:rPr lang="en-US" altLang="en-US"/>
              <a:t>Q : C'est quoi concr</a:t>
            </a:r>
            <a:r>
              <a:rPr lang="en-US" altLang="en-US"/>
              <a:t>è</a:t>
            </a:r>
            <a:r>
              <a:rPr lang="en-US" altLang="en-US"/>
              <a:t>tement l'idempotence ?</a:t>
            </a:r>
            <a:endParaRPr lang="en-US" altLang="en-US"/>
          </a:p>
          <a:p>
            <a:endParaRPr lang="en-US" altLang="en-US"/>
          </a:p>
          <a:p>
            <a:r>
              <a:rPr lang="en-US" altLang="en-US"/>
              <a:t>▎ Chaque enregistrement a un champ import_id. Si on relance le même import, le pipeline détecte que l'import_id existe déjà et fait un update au lieu d'un insert. Zéro doublon garanti.</a:t>
            </a:r>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Une fois le manifeste validé, on entre dans la phase post-mapping.</a:t>
            </a:r>
            <a:endParaRPr lang="en-US" altLang="en-US"/>
          </a:p>
          <a:p>
            <a:endParaRPr lang="en-US" altLang="en-US"/>
          </a:p>
          <a:p>
            <a:r>
              <a:rPr lang="en-US" altLang="en-US"/>
              <a:t>L'utilisateur lance la génération des pipelines en indiquant les chemins vers le manifeste, les données source et le dossier de sortie. Il peut aussi fournir du contexte additionnel à l'agent IA si nécessaire, pour affiner la génération.</a:t>
            </a:r>
            <a:endParaRPr lang="en-US" altLang="en-US"/>
          </a:p>
          <a:p>
            <a:endParaRPr lang="en-US" altLang="en-US"/>
          </a:p>
          <a:p>
            <a:r>
              <a:rPr lang="en-US" altLang="en-US"/>
              <a:t>Une fois les pipelines générés, l'utilisateur exécute le workflow Apache Hop. Et à la fin, il consulte les résultats d'import directement depuis l'application.</a:t>
            </a:r>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Ce diagramme de séquence détaille comment la phase mapping se déroule concr</a:t>
            </a:r>
            <a:r>
              <a:rPr lang="en-US" altLang="en-US"/>
              <a:t>è</a:t>
            </a:r>
            <a:r>
              <a:rPr lang="en-US" altLang="en-US"/>
              <a:t>tement.</a:t>
            </a:r>
            <a:endParaRPr lang="en-US" altLang="en-US"/>
          </a:p>
          <a:p>
            <a:endParaRPr lang="en-US" altLang="en-US"/>
          </a:p>
          <a:p>
            <a:r>
              <a:rPr lang="en-US" altLang="en-US"/>
              <a:t>Le consultant démarre une session en indiquant l'entité à importer et les credentials de la base. L'agent vérifie la connexion PostgreSQL, puis attend le CSV. Une fois le fichier déposé, l'agent analyse ses colonnes et introspecte le schéma cible directement en base pour récupérer la structure des tables et les FK.</a:t>
            </a:r>
            <a:endParaRPr lang="en-US" altLang="en-US"/>
          </a:p>
          <a:p>
            <a:endParaRPr lang="en-US" altLang="en-US"/>
          </a:p>
          <a:p>
            <a:r>
              <a:rPr lang="en-US" altLang="en-US"/>
              <a:t>Si une FK est ambigu</a:t>
            </a:r>
            <a:r>
              <a:rPr lang="en-US" altLang="en-US"/>
              <a:t>ë, </a:t>
            </a:r>
            <a:r>
              <a:rPr lang="en-US" altLang="en-US"/>
              <a:t>l'agent pose la question au consultant et attend sa réponse avant de continuer. Il vérifie ensuite que les valeurs FK existent bien en base, construit le mapping, et écrit le manifest.json.</a:t>
            </a:r>
            <a:endParaRPr lang="en-US" altLang="en-US"/>
          </a:p>
          <a:p>
            <a:endParaRPr lang="en-US" altLang="en-US"/>
          </a:p>
          <a:p>
            <a:r>
              <a:rPr lang="en-US" altLang="en-US"/>
              <a:t>L'application affiche alors l'interface de review. Le consultant consulte le manifeste, le valide, et on passe à la phase post-mapping.</a:t>
            </a:r>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La phase post-mapping démarre quand le consultant clique sur Générer les pipelines en fournissant les chemins et le contexte. L'agent lit le manifeste et les pipelines de référence, les adapte, et gén</a:t>
            </a:r>
            <a:r>
              <a:rPr lang="en-US" altLang="en-US"/>
              <a:t>è</a:t>
            </a:r>
            <a:r>
              <a:rPr lang="en-US" altLang="en-US"/>
              <a:t>re les fichiers Apache Hop — les .hpl pour les pipelines et le .hwf pour le workflow.</a:t>
            </a:r>
            <a:endParaRPr lang="en-US" altLang="en-US"/>
          </a:p>
          <a:p>
            <a:endParaRPr lang="en-US" altLang="en-US"/>
          </a:p>
          <a:p>
            <a:r>
              <a:rPr lang="en-US" altLang="en-US"/>
              <a:t>Le consultant clique ensuite sur Exécuter le workflow. L'application appelle hop-run.sh, Apache Hop prend le relais : il lit le CSV source, résout les FK via des lookups en base, et fait les INSERT ou UPDATE dans PostgreSQL. Les logs arrivent en temps réel dans l'interface via SSE.</a:t>
            </a:r>
            <a:endParaRPr lang="en-US" altLang="en-US"/>
          </a:p>
          <a:p>
            <a:endParaRPr lang="en-US" altLang="en-US"/>
          </a:p>
          <a:p>
            <a:r>
              <a:rPr lang="en-US" altLang="en-US"/>
              <a:t>Enfin, le consultant consulte les résultats : un tableau avec le nombre de lignes importées et les erreurs éventuelles.</a:t>
            </a:r>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On arrive maintenant à l'architecture globale du framework, telle qu'elle a été implémentée.</a:t>
            </a:r>
            <a:endParaRPr lang="fr-FR" dirty="0"/>
          </a:p>
          <a:p>
            <a:endParaRPr lang="fr-FR" dirty="0"/>
          </a:p>
          <a:p>
            <a:r>
              <a:rPr lang="fr-FR" dirty="0"/>
              <a:t>En entrée, les fichiers CSV du client. Ils arrivent dans Axelor Mapper, l'application web qu'on a développée. Côté technique, elle repose sur React pour l'interface, FastAPI pour le backend, et xterm.js pour le terminal conversationnel directement dans le navigateur.</a:t>
            </a:r>
            <a:endParaRPr lang="fr-FR" dirty="0"/>
          </a:p>
          <a:p>
            <a:endParaRPr lang="fr-FR" dirty="0"/>
          </a:p>
          <a:p>
            <a:r>
              <a:rPr lang="fr-FR" dirty="0"/>
              <a:t>De là, les skills IA prennent le relais. On en a trois, développés comme des skills Claude Code. Le premier analyse le CSV et produit un manifeste JSON de mapping. Le deuxième lit ce manifeste et génère les fichiers de pipelines Apache Hop. Le troisième orchestre l'exécution du workflow.</a:t>
            </a:r>
            <a:endParaRPr lang="fr-FR" dirty="0"/>
          </a:p>
          <a:p>
            <a:endParaRPr lang="fr-FR" dirty="0"/>
          </a:p>
          <a:p>
            <a:r>
              <a:rPr lang="fr-FR" dirty="0"/>
              <a:t>Ces pipelines couvrent les 4 entités métier d'Axelor : produits, partenaires, commandes de vente et factures. En tout, environ 19 pipelines générés.</a:t>
            </a:r>
            <a:endParaRPr lang="fr-FR" dirty="0"/>
          </a:p>
          <a:p>
            <a:endParaRPr lang="fr-FR" dirty="0"/>
          </a:p>
          <a:p>
            <a:r>
              <a:rPr lang="fr-FR" dirty="0"/>
              <a:t>Et en bout de chaîne, Apache Hop exécute les pipelines et insère les données directement dans PostgreSQL via JDBC, sans passer par la couche ORM d'Axelor. Ca évite toutes les validations métier qui ne sont pas pertinentes pour un import, et c'est là qu'on gagne le plus en performance.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lstStyle/>
          <a:p>
            <a:r>
              <a:rPr lang="en-US" altLang="en-US" dirty="0"/>
              <a:t>L'application Axelor Import Studio se compose de deux parties : un frontend React et un backend FastAPI.</a:t>
            </a:r>
            <a:endParaRPr lang="en-US" altLang="en-US" dirty="0"/>
          </a:p>
          <a:p>
            <a:endParaRPr lang="en-US" altLang="en-US" dirty="0"/>
          </a:p>
          <a:p>
            <a:r>
              <a:rPr lang="en-US" altLang="en-US" dirty="0"/>
              <a:t>Le frontend communique avec le backend via HTTP classique pour les actions : démarrer une session, déclencher la génération des pipelines, consulter les résultats.</a:t>
            </a:r>
            <a:endParaRPr lang="en-US" altLang="en-US" dirty="0"/>
          </a:p>
          <a:p>
            <a:endParaRPr lang="en-US" altLang="en-US" dirty="0"/>
          </a:p>
          <a:p>
            <a:r>
              <a:rPr lang="en-US" altLang="en-US" dirty="0"/>
              <a:t>Pour le terminal, c'est différent. Dans le navigateur, on a xterm.js qui émule un vrai terminal. La communication entre xterm.js et le backend se fait via WebSocket, bidirectionnel et en temps réel. Les frappes partent vers le backend, les réponses reviennent en flux continu.</a:t>
            </a:r>
            <a:endParaRPr lang="en-US" altLang="en-US" dirty="0"/>
          </a:p>
          <a:p>
            <a:endParaRPr lang="en-US" altLang="en-US" dirty="0"/>
          </a:p>
          <a:p>
            <a:r>
              <a:rPr lang="en-US" altLang="en-US" dirty="0"/>
              <a:t>Côté backend, quand une session démarre, FastAPI spawn Claude CLI dans un PTY, un pseudo-terminal. Et c'est un choix architectural important.</a:t>
            </a:r>
            <a:endParaRPr lang="en-US" altLang="en-US" dirty="0"/>
          </a:p>
          <a:p>
            <a:endParaRPr lang="en-US" altLang="en-US" dirty="0"/>
          </a:p>
          <a:p>
            <a:r>
              <a:rPr lang="en-US" altLang="en-US" dirty="0"/>
              <a:t>Pourquoi un PTY et pas un simple subprocess ? Parce que Claude a un mécanisme d'interaction, le AskUserQuestion, qui affiche des choix cliquables dans le terminal et attend une réponse de l'utilisateur. Ce comportement est incompatible avec le mode sans interaction en ligne de commande classique.</a:t>
            </a:r>
            <a:endParaRPr lang="en-US" altLang="en-US" dirty="0"/>
          </a:p>
          <a:p>
            <a:endParaRPr lang="en-US" altLang="en-US" dirty="0"/>
          </a:p>
          <a:p>
            <a:r>
              <a:rPr lang="en-US" altLang="en-US" dirty="0"/>
              <a:t>Maître-esclave c'est le terme technique : le PTY crée une paire maître-esclave. Claude tourne sur le côté esclave, le backend lit en continu depuis le maître et relaie les données vers le WebSocket. Et dans l'autre sens, les frappes de l'utilisateur remontent du WebSocket vers le maître.</a:t>
            </a:r>
            <a:endParaRPr lang="en-US" altLang="en-US" dirty="0"/>
          </a:p>
          <a:p>
            <a:endParaRPr lang="en-US" altLang="en-US" dirty="0"/>
          </a:p>
          <a:p>
            <a:r>
              <a:rPr lang="en-US" altLang="en-US" dirty="0"/>
              <a:t>Le reste du backend g</a:t>
            </a:r>
            <a:r>
              <a:rPr lang="en-US" altLang="en-US" dirty="0"/>
              <a:t>è</a:t>
            </a:r>
            <a:r>
              <a:rPr lang="en-US" altLang="en-US" dirty="0"/>
              <a:t>re les sessions par UUID, la génération des fichiers XML Apache Hop depuis le manifeste, et l'acc</a:t>
            </a:r>
            <a:r>
              <a:rPr lang="en-US" altLang="en-US" dirty="0"/>
              <a:t>è</a:t>
            </a:r>
            <a:r>
              <a:rPr lang="en-US" altLang="en-US" dirty="0"/>
              <a:t>s direct à PostgreSQL pour la phase d'exécution.</a:t>
            </a:r>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 slide présente les pipelines qu'on a développés.</a:t>
            </a:r>
            <a:endParaRPr lang="fr-FR" dirty="0"/>
          </a:p>
          <a:p>
            <a:endParaRPr lang="fr-FR" dirty="0"/>
          </a:p>
          <a:p>
            <a:r>
              <a:rPr lang="fr-FR" dirty="0"/>
              <a:t>À gauche, les 4 domaines métier couverts. Les produits, avec 4 pipelines et un workflow d'orchestration. Les partenaires, 6 pipelines. Les commandes de vente, 4 pipelines. Et les factures, qui sont l'entité la plus complexe, 6 pipelines également. En tout, une vingtaine de pipelines, le nombre exact peut varier selon la nature des données du client.</a:t>
            </a:r>
            <a:endParaRPr lang="fr-FR" dirty="0"/>
          </a:p>
          <a:p>
            <a:endParaRPr lang="fr-FR" dirty="0"/>
          </a:p>
          <a:p>
            <a:r>
              <a:rPr lang="fr-FR" dirty="0"/>
              <a:t>À droite, les 3 patterns qui structurent tous ces pipelines. Le premier c'est le pattern Upsert : avant chaque insertion, on vérifie si l'enregistrement existe déjà via un import_id. Si oui on met à jour, sinon on insère. C'est ce qui garantit l'idempotence, on peut relancer un import sans risquer de créer des doublons.</a:t>
            </a:r>
            <a:endParaRPr lang="fr-FR" dirty="0"/>
          </a:p>
          <a:p>
            <a:endParaRPr lang="fr-FR" dirty="0"/>
          </a:p>
          <a:p>
            <a:r>
              <a:rPr lang="fr-FR" dirty="0"/>
              <a:t>Le deuxième c'est le Junction M2M, pour gérer les relations many-to-many. Par exemple les taxes dans Axelor sont stockées dans des tables intermédiaires qui font le lien entre les lignes de commandes ou de factures et les valeurs de taxes prédéfinies dans le système. Ce pattern peuple ces tables de jonction.</a:t>
            </a:r>
            <a:endParaRPr lang="fr-FR" dirty="0"/>
          </a:p>
          <a:p>
            <a:endParaRPr lang="fr-FR" dirty="0"/>
          </a:p>
          <a:p>
            <a:r>
              <a:rPr lang="fr-FR" dirty="0"/>
              <a:t>Le troisième c'est le Post-SQL. Certaines valeurs ne peuvent pas être calculées au moment de l'insertion, les séquences, les totaux, les champs dérivés. Ce pattern les recalcule après injection directement en SQL.</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 diagramme couvre la phase mapping. Le responsable d'intégration démarre une session, ce qui inclut la configuration de la connexion à la base de données, dépose ses fichiers CSV, génère le manifeste, et peut consulter les fichiers ou le manifeste à tout moment. L'agent IA n'intervient qu'à un seul endroit : la résolution des dépendances de clés étrangères. C'est le seul cas d'utilisation partagé entre l'humain et Claude.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pour votre attention. Je suis à l'écoute de vos remarques et de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valider le framework, on a travaillé sur un golden dataset conçu pour tester les cas les plus difficiles. Des produits avec des clés étrangères embarquées directement dans la table source, des partenaires avec des adresses intégrées alors qu'Axelor les stocke dans des tables séparées, et des taxes imbriquées dans les commandes et les factures.</a:t>
            </a:r>
            <a:endParaRPr lang="fr-FR" dirty="0"/>
          </a:p>
          <a:p>
            <a:endParaRPr lang="fr-FR" dirty="0"/>
          </a:p>
          <a:p>
            <a:r>
              <a:rPr lang="fr-FR" dirty="0"/>
              <a:t>Le tableau résume les résultats par entité. Les taux d'import sont élevés, et les quelques erreurs sont volontaires. On les a introduites pour tester la robustesse du système face à des données incomplètes ou incohérentes.</a:t>
            </a:r>
            <a:endParaRPr lang="fr-FR" dirty="0"/>
          </a:p>
          <a:p>
            <a:endParaRPr lang="fr-FR" dirty="0"/>
          </a:p>
          <a:p>
            <a:r>
              <a:rPr lang="fr-FR" dirty="0"/>
              <a:t>Le critère principal de validation c'était la ventilation des factures. Une facture ventilée, ça veut dire que les partenaires sont bien présents, les produits aussi, les comptes comptables sont correctement associés et les taxes sont bien remontées. Sur notre jeu de données, c'est réussi.</a:t>
            </a:r>
            <a:endParaRPr lang="fr-FR" dirty="0"/>
          </a:p>
          <a:p>
            <a:endParaRPr lang="fr-FR" dirty="0"/>
          </a:p>
          <a:p>
            <a:r>
              <a:rPr lang="fr-FR" dirty="0"/>
              <a:t>Côté idempotence, on peut relancer le workflow complet plusieurs fois de suite sans créer de doublons. C'est un comportement important pour un outil destiné à un usage en production.</a:t>
            </a:r>
            <a:endParaRPr lang="fr-FR" dirty="0"/>
          </a:p>
          <a:p>
            <a:endParaRPr lang="fr-FR" dirty="0"/>
          </a:p>
          <a:p>
            <a:r>
              <a:rPr lang="fr-FR" dirty="0"/>
              <a:t>Sur les performances, le framework est 3,6 fois plus rapide que l'import natif Axelor. Concrètement, environ 10 minutes pour traiter 2 000 documents et presque 10 000 lignes, contre près de 40 minutes avec l'approche native. La différence vient du contournement de la couche ORM d'Axelor et de l'écriture directe dans PostgreSQL.</a:t>
            </a:r>
            <a:endParaRPr lang="fr-FR" dirty="0"/>
          </a:p>
          <a:p>
            <a:endParaRPr lang="fr-FR" dirty="0"/>
          </a:p>
          <a:p>
            <a:r>
              <a:rPr lang="fr-FR" dirty="0"/>
              <a:t>Et enfin le mapping. Avec le skill, analyser une entité et produire un manifeste prend quelques minutes. Sans le framework, c'est plusieurs heures de configuration manuelle par entité.</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On termine par les limitations du projet.</a:t>
            </a:r>
            <a:endParaRPr lang="fr-FR" dirty="0"/>
          </a:p>
          <a:p>
            <a:endParaRPr lang="fr-FR" dirty="0"/>
          </a:p>
          <a:p>
            <a:r>
              <a:rPr lang="fr-FR" dirty="0"/>
              <a:t>La première, et la plus honnête, c'est le contexte dans lequel le projet a été mené. Pendant tout le stage, j'étais intégré à 50% sur un projet client en parallèle. Ça a directement contraint le périmètre de ce qu'on pouvait faire.</a:t>
            </a:r>
            <a:endParaRPr lang="fr-FR" dirty="0"/>
          </a:p>
          <a:p>
            <a:endParaRPr lang="fr-FR" dirty="0"/>
          </a:p>
          <a:p>
            <a:r>
              <a:rPr lang="fr-FR" dirty="0"/>
              <a:t>La deuxième limitation est plus architecturale. Contourner l'ORM d'Axelor, c'est ce qui nous donne les gains de performance qu'on a vus. Mais ça a un coût. Hibernate gère nativement des mécanismes comme l'auto-incrément des IDs ou la gestion des séquences PostgreSQL. En écrivant directement en base, on doit réimplémenter tout ça manuellement dans chaque pipeline. On réécrit des problèmes qui avaient déjà été résolus.</a:t>
            </a:r>
            <a:endParaRPr lang="fr-FR" dirty="0"/>
          </a:p>
          <a:p>
            <a:endParaRPr lang="fr-FR" dirty="0"/>
          </a:p>
          <a:p>
            <a:r>
              <a:rPr lang="fr-FR" dirty="0"/>
              <a:t>La troisième limitation concerne la scalabilité du framework. On a couvert 4 entités métier. Mais Axelor va bien plus loin que ça. Un import de commandes de vente, par exemple, devrait mettre à jour les stocks. La production a ses propres règles, les achats aussi. Reproduire tout le comportement d'Axelor via des pipelines Apache Hop reviendrait à réécrire toute la logique métier du framework en XML. Ce n'est pas viable.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les perspectives, trois directions naturelles.</a:t>
            </a:r>
            <a:endParaRPr lang="fr-FR" dirty="0"/>
          </a:p>
          <a:p>
            <a:endParaRPr lang="fr-FR" dirty="0"/>
          </a:p>
          <a:p>
            <a:r>
              <a:rPr lang="fr-FR" dirty="0"/>
              <a:t>La première c'est l'extension des sources. Pour l'instant le framework ne supporte que les CSV. Mais en pratique, les clients Axelor ont des données dans des fichiers Excel, des bases SQL existantes ou des exports XML d'autres ERP. Étendre le framework à ces formats élargirait significativement le périmètre d'utilisation.</a:t>
            </a:r>
            <a:endParaRPr lang="fr-FR" dirty="0"/>
          </a:p>
          <a:p>
            <a:endParaRPr lang="fr-FR" dirty="0"/>
          </a:p>
          <a:p>
            <a:r>
              <a:rPr lang="fr-FR" dirty="0"/>
              <a:t>Ensuite l'anonymisation automatique. On a vu en limitations que les données client sont transmises au modèle IA pendant le mapping. Implémenter un mécanisme de masquage automatique des données personnelles avant cette transmission permettrait de déployer l'outil dans des contextes plus sensibles.</a:t>
            </a:r>
            <a:endParaRPr lang="fr-FR" dirty="0"/>
          </a:p>
          <a:p>
            <a:endParaRPr lang="fr-FR" dirty="0"/>
          </a:p>
          <a:p>
            <a:r>
              <a:rPr lang="fr-FR" dirty="0"/>
              <a:t>Et enfin la capitalisation IA. À chaque mapping réussi, le framework accumule de l'expérience. On peut imaginer un mécanisme où les mappings validés alimentent un historique qui améliore la qualité des suggestions pour les entités suivantes. Plus on s'en sert, meilleur il devient.</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 slide présente les 3 skills Claude Code au coeur du framework.</a:t>
            </a:r>
            <a:endParaRPr lang="fr-FR" dirty="0"/>
          </a:p>
          <a:p>
            <a:endParaRPr lang="fr-FR" dirty="0"/>
          </a:p>
          <a:p>
            <a:r>
              <a:rPr lang="fr-FR" dirty="0"/>
              <a:t>Le premier, analyze-and-map-entity, est le skill de mapping. Il lit simultanément le CSV et interroge l'INFORMATION_SCHEMA de PostgreSQL pour comprendre la structure cible. Il catégorise les colonnes, détecte les clés étrangères, et pour les cas ambigus, il pose la question à l'utilisateur de manière interactive. En sortie : le manifest.json — le contrat central du framework.</a:t>
            </a:r>
            <a:endParaRPr lang="fr-FR" dirty="0"/>
          </a:p>
          <a:p>
            <a:endParaRPr lang="fr-FR" dirty="0"/>
          </a:p>
          <a:p>
            <a:r>
              <a:rPr lang="fr-FR" dirty="0"/>
              <a:t>Le deuxième, generate-pipeline, consomme ce manifeste pour générer les fichiers .hpl d'Apache Hop. Il s'appuie sur 3 pipelines de référence injectés en contexte — le modèle ne génère pas librement, il a des exemples concrets sous les yeux.</a:t>
            </a:r>
            <a:endParaRPr lang="fr-FR" dirty="0"/>
          </a:p>
          <a:p>
            <a:endParaRPr lang="fr-FR" dirty="0"/>
          </a:p>
          <a:p>
            <a:r>
              <a:rPr lang="fr-FR" dirty="0"/>
              <a:t>Le troisième, generate-workflow, génère le fichier d'orchestration .hwf. Il commence par des preflight checks sur le CSV et la connexion BD, puis enchaîne les pipelines dans l'ordre topologique extrait du manifeste.</a:t>
            </a:r>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image" Target="../media/image2.png"/><Relationship Id="rId5" Type="http://schemas.openxmlformats.org/officeDocument/2006/relationships/notesSlide" Target="../notesSlides/notesSlide15.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image" Target="../media/image4.png"/><Relationship Id="rId5" Type="http://schemas.openxmlformats.org/officeDocument/2006/relationships/notesSlide" Target="../notesSlides/notesSlide20.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4.png"/><Relationship Id="rId4"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4.png"/><Relationship Id="rId4"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4.png"/><Relationship Id="rId4"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457200" y="-502920"/>
            <a:ext cx="3014472" cy="7863840"/>
          </a:xfrm>
          <a:prstGeom prst="rect">
            <a:avLst/>
          </a:prstGeom>
        </p:spPr>
      </p:pic>
      <p:pic>
        <p:nvPicPr>
          <p:cNvPr id="3" name="Image 1" descr="preencoded.png"/>
          <p:cNvPicPr>
            <a:picLocks noChangeAspect="1"/>
          </p:cNvPicPr>
          <p:nvPr/>
        </p:nvPicPr>
        <p:blipFill>
          <a:blip r:embed="rId2"/>
          <a:stretch>
            <a:fillRect/>
          </a:stretch>
        </p:blipFill>
        <p:spPr>
          <a:xfrm>
            <a:off x="3200400" y="502920"/>
            <a:ext cx="990234" cy="566928"/>
          </a:xfrm>
          <a:prstGeom prst="rect">
            <a:avLst/>
          </a:prstGeom>
        </p:spPr>
      </p:pic>
      <p:sp>
        <p:nvSpPr>
          <p:cNvPr id="4" name="Text 0"/>
          <p:cNvSpPr/>
          <p:nvPr/>
        </p:nvSpPr>
        <p:spPr>
          <a:xfrm>
            <a:off x="8531352" y="566928"/>
            <a:ext cx="3017520" cy="457200"/>
          </a:xfrm>
          <a:prstGeom prst="rect">
            <a:avLst/>
          </a:prstGeom>
          <a:noFill/>
        </p:spPr>
        <p:txBody>
          <a:bodyPr wrap="square" lIns="0" tIns="0" rIns="0" bIns="0" rtlCol="0" anchor="ctr"/>
          <a:lstStyle/>
          <a:p>
            <a:pPr marL="0" indent="0" algn="r">
              <a:buNone/>
            </a:pPr>
            <a:endParaRPr lang="en-US" sz="1000" dirty="0"/>
          </a:p>
        </p:txBody>
      </p:sp>
      <p:sp>
        <p:nvSpPr>
          <p:cNvPr id="5" name="Text 1"/>
          <p:cNvSpPr/>
          <p:nvPr/>
        </p:nvSpPr>
        <p:spPr>
          <a:xfrm>
            <a:off x="3200400" y="1508760"/>
            <a:ext cx="8412480" cy="274320"/>
          </a:xfrm>
          <a:prstGeom prst="rect">
            <a:avLst/>
          </a:prstGeom>
          <a:noFill/>
        </p:spPr>
        <p:txBody>
          <a:bodyPr wrap="square" lIns="0" tIns="0" rIns="0" bIns="0" rtlCol="0" anchor="ctr"/>
          <a:lstStyle/>
          <a:p>
            <a:pPr marL="0" indent="0">
              <a:buNone/>
            </a:pPr>
            <a:r>
              <a:rPr lang="en-US" sz="1200" b="1" dirty="0">
                <a:solidFill>
                  <a:srgbClr val="1F4E9C"/>
                </a:solidFill>
                <a:latin typeface="Calibri" panose="020F0502020204030204" pitchFamily="34" charset="0"/>
                <a:ea typeface="Calibri" panose="020F0502020204030204" pitchFamily="34" charset="-122"/>
                <a:cs typeface="Calibri" panose="020F0502020204030204" pitchFamily="34" charset="-120"/>
              </a:rPr>
              <a:t>École Nationale des Sciences Appliquées de Kénitra</a:t>
            </a:r>
            <a:endParaRPr lang="en-US" sz="1200" dirty="0"/>
          </a:p>
        </p:txBody>
      </p:sp>
      <p:sp>
        <p:nvSpPr>
          <p:cNvPr id="6" name="Text 2"/>
          <p:cNvSpPr/>
          <p:nvPr/>
        </p:nvSpPr>
        <p:spPr>
          <a:xfrm>
            <a:off x="3200400" y="1801368"/>
            <a:ext cx="8229600" cy="274320"/>
          </a:xfrm>
          <a:prstGeom prst="rect">
            <a:avLst/>
          </a:prstGeom>
          <a:noFill/>
        </p:spPr>
        <p:txBody>
          <a:bodyPr wrap="square" lIns="0" tIns="0" rIns="0" bIns="0" rtlCol="0" anchor="ctr"/>
          <a:lstStyle/>
          <a:p>
            <a:pPr marL="0" indent="0">
              <a:buNone/>
            </a:pPr>
            <a:r>
              <a:rPr lang="en-US" sz="1100" dirty="0">
                <a:solidFill>
                  <a:srgbClr val="7A8294"/>
                </a:solidFill>
                <a:latin typeface="Calibri" panose="020F0502020204030204" pitchFamily="34" charset="0"/>
                <a:ea typeface="Calibri" panose="020F0502020204030204" pitchFamily="34" charset="-122"/>
                <a:cs typeface="Calibri" panose="020F0502020204030204" pitchFamily="34" charset="-120"/>
              </a:rPr>
              <a:t>Université Ibn Tofail</a:t>
            </a:r>
            <a:endParaRPr lang="en-US" sz="1100" dirty="0"/>
          </a:p>
        </p:txBody>
      </p:sp>
      <p:sp>
        <p:nvSpPr>
          <p:cNvPr id="7" name="Text 3"/>
          <p:cNvSpPr/>
          <p:nvPr/>
        </p:nvSpPr>
        <p:spPr>
          <a:xfrm>
            <a:off x="3200400" y="2212848"/>
            <a:ext cx="8229600" cy="320040"/>
          </a:xfrm>
          <a:prstGeom prst="rect">
            <a:avLst/>
          </a:prstGeom>
          <a:noFill/>
        </p:spPr>
        <p:txBody>
          <a:bodyPr wrap="square" lIns="0" tIns="0" rIns="0" bIns="0" rtlCol="0" anchor="ctr"/>
          <a:lstStyle/>
          <a:p>
            <a:pPr marL="0" indent="0">
              <a:buNone/>
            </a:pPr>
            <a:r>
              <a:rPr lang="en-US" sz="1300" dirty="0">
                <a:solidFill>
                  <a:srgbClr val="7A8294"/>
                </a:solidFill>
                <a:latin typeface="Calibri" panose="020F0502020204030204" pitchFamily="34" charset="0"/>
                <a:ea typeface="Calibri" panose="020F0502020204030204" pitchFamily="34" charset="-122"/>
                <a:cs typeface="Calibri" panose="020F0502020204030204" pitchFamily="34" charset="-120"/>
              </a:rPr>
              <a:t>Mémoire de Projet de Fin d'Études</a:t>
            </a:r>
            <a:endParaRPr lang="en-US" sz="1300" dirty="0"/>
          </a:p>
        </p:txBody>
      </p:sp>
      <p:sp>
        <p:nvSpPr>
          <p:cNvPr id="8" name="Text 4"/>
          <p:cNvSpPr/>
          <p:nvPr/>
        </p:nvSpPr>
        <p:spPr>
          <a:xfrm>
            <a:off x="3200400" y="2889250"/>
            <a:ext cx="8412480" cy="1188720"/>
          </a:xfrm>
          <a:prstGeom prst="rect">
            <a:avLst/>
          </a:prstGeom>
          <a:noFill/>
        </p:spPr>
        <p:txBody>
          <a:bodyPr wrap="square" lIns="0" tIns="0" rIns="0" bIns="0" rtlCol="0" anchor="t"/>
          <a:lstStyle/>
          <a:p>
            <a:pPr marL="0" indent="0">
              <a:buNone/>
            </a:pPr>
            <a:r>
              <a:rPr lang="en-US" sz="2400" b="1" dirty="0">
                <a:solidFill>
                  <a:srgbClr val="12203F"/>
                </a:solidFill>
                <a:latin typeface="Cambria" panose="02040503050406030204" pitchFamily="34" charset="0"/>
                <a:ea typeface="Cambria" panose="02040503050406030204" pitchFamily="34" charset="-122"/>
                <a:cs typeface="Cambria" panose="02040503050406030204" pitchFamily="34" charset="-120"/>
              </a:rPr>
              <a:t>Conception d'un Framework ETL Générique pour l'Import de Données Axelor, Assisté par Agents IA Génératifs</a:t>
            </a:r>
            <a:endParaRPr lang="en-US" sz="2400" dirty="0"/>
          </a:p>
        </p:txBody>
      </p:sp>
      <p:sp>
        <p:nvSpPr>
          <p:cNvPr id="9" name="Text 5"/>
          <p:cNvSpPr/>
          <p:nvPr/>
        </p:nvSpPr>
        <p:spPr>
          <a:xfrm>
            <a:off x="3200400" y="3977640"/>
            <a:ext cx="8229600" cy="320040"/>
          </a:xfrm>
          <a:prstGeom prst="rect">
            <a:avLst/>
          </a:prstGeom>
          <a:noFill/>
        </p:spPr>
        <p:txBody>
          <a:bodyPr wrap="square" lIns="0" tIns="0" rIns="0" bIns="0" rtlCol="0" anchor="ctr"/>
          <a:lstStyle/>
          <a:p>
            <a:pPr marL="0" indent="0">
              <a:buNone/>
            </a:pPr>
            <a:r>
              <a:rPr lang="en-US" sz="1300" b="1" dirty="0">
                <a:solidFill>
                  <a:srgbClr val="2A3142"/>
                </a:solidFill>
                <a:latin typeface="Calibri" panose="020F0502020204030204" pitchFamily="34" charset="0"/>
                <a:ea typeface="Calibri" panose="020F0502020204030204" pitchFamily="34" charset="-122"/>
                <a:cs typeface="Calibri" panose="020F0502020204030204" pitchFamily="34" charset="-120"/>
              </a:rPr>
              <a:t>Filière Génie Informatique</a:t>
            </a:r>
            <a:endParaRPr lang="en-US" sz="1300" dirty="0"/>
          </a:p>
        </p:txBody>
      </p:sp>
      <p:sp>
        <p:nvSpPr>
          <p:cNvPr id="10" name="Text 6"/>
          <p:cNvSpPr/>
          <p:nvPr/>
        </p:nvSpPr>
        <p:spPr>
          <a:xfrm>
            <a:off x="3200400" y="4526280"/>
            <a:ext cx="8229600" cy="292608"/>
          </a:xfrm>
          <a:prstGeom prst="rect">
            <a:avLst/>
          </a:prstGeom>
          <a:noFill/>
        </p:spPr>
        <p:txBody>
          <a:bodyPr wrap="square" lIns="0" tIns="0" rIns="0" bIns="0" rtlCol="0" anchor="ctr"/>
          <a:lstStyle/>
          <a:p>
            <a:pPr marL="0" indent="0">
              <a:buNone/>
            </a:pPr>
            <a:r>
              <a:rPr lang="en-US" sz="1200" b="1" dirty="0">
                <a:solidFill>
                  <a:srgbClr val="12203F"/>
                </a:solidFill>
                <a:latin typeface="Calibri" panose="020F0502020204030204" pitchFamily="34" charset="0"/>
                <a:ea typeface="Calibri" panose="020F0502020204030204" pitchFamily="34" charset="-122"/>
                <a:cs typeface="Calibri" panose="020F0502020204030204" pitchFamily="34" charset="-120"/>
              </a:rPr>
              <a:t>Réalisé par   </a:t>
            </a:r>
            <a:r>
              <a:rPr 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rPr>
              <a:t>Taha GHAILAN</a:t>
            </a:r>
            <a:endParaRPr lang="en-US" sz="1200" dirty="0"/>
          </a:p>
        </p:txBody>
      </p:sp>
      <p:sp>
        <p:nvSpPr>
          <p:cNvPr id="11" name="Text 7"/>
          <p:cNvSpPr/>
          <p:nvPr/>
        </p:nvSpPr>
        <p:spPr>
          <a:xfrm>
            <a:off x="3200400" y="4892040"/>
            <a:ext cx="8229600" cy="274320"/>
          </a:xfrm>
          <a:prstGeom prst="rect">
            <a:avLst/>
          </a:prstGeom>
          <a:noFill/>
        </p:spPr>
        <p:txBody>
          <a:bodyPr wrap="square" lIns="0" tIns="0" rIns="0" bIns="0" rtlCol="0" anchor="ctr"/>
          <a:lstStyle/>
          <a:p>
            <a:pPr marL="0" indent="0">
              <a:buNone/>
            </a:pPr>
            <a:r>
              <a:rPr lang="en-US" sz="1200" b="1" dirty="0">
                <a:solidFill>
                  <a:srgbClr val="12203F"/>
                </a:solidFill>
                <a:latin typeface="Calibri" panose="020F0502020204030204" pitchFamily="34" charset="0"/>
                <a:ea typeface="Calibri" panose="020F0502020204030204" pitchFamily="34" charset="-122"/>
                <a:cs typeface="Calibri" panose="020F0502020204030204" pitchFamily="34" charset="-120"/>
              </a:rPr>
              <a:t>Encadré par</a:t>
            </a:r>
            <a:endParaRPr lang="en-US" sz="1200" dirty="0"/>
          </a:p>
        </p:txBody>
      </p:sp>
      <p:sp>
        <p:nvSpPr>
          <p:cNvPr id="12" name="Text 8"/>
          <p:cNvSpPr/>
          <p:nvPr/>
        </p:nvSpPr>
        <p:spPr>
          <a:xfrm>
            <a:off x="3474720" y="5166360"/>
            <a:ext cx="8229600" cy="274320"/>
          </a:xfrm>
          <a:prstGeom prst="rect">
            <a:avLst/>
          </a:prstGeom>
          <a:noFill/>
        </p:spPr>
        <p:txBody>
          <a:bodyPr wrap="square" lIns="0" tIns="0" rIns="0" bIns="0" rtlCol="0" anchor="ctr"/>
          <a:lstStyle/>
          <a:p>
            <a:pPr marL="0" indent="0">
              <a:buNone/>
            </a:pPr>
            <a:r>
              <a:rPr 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rPr>
              <a:t>Pr. </a:t>
            </a:r>
            <a:r>
              <a:rPr 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Youn</a:t>
            </a:r>
            <a:r>
              <a:rPr lang="en-US" alt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è</a:t>
            </a:r>
            <a:r>
              <a:rPr 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s</a:t>
            </a:r>
            <a:r>
              <a:rPr lang="fr-FR" alt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 </a:t>
            </a:r>
            <a:r>
              <a:rPr 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E</a:t>
            </a:r>
            <a:r>
              <a:rPr lang="fr-FR" alt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L</a:t>
            </a:r>
            <a:r>
              <a:rPr 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 B</a:t>
            </a:r>
            <a:r>
              <a:rPr lang="fr-FR" alt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OUZEKRI</a:t>
            </a:r>
            <a:r>
              <a:rPr 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 E</a:t>
            </a:r>
            <a:r>
              <a:rPr lang="fr-FR" alt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L</a:t>
            </a:r>
            <a:r>
              <a:rPr 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 I</a:t>
            </a:r>
            <a:r>
              <a:rPr lang="fr-FR" alt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DRISSI</a:t>
            </a:r>
            <a:r>
              <a:rPr 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rPr>
              <a:t>, encadrant (ENSAK)</a:t>
            </a:r>
            <a:endParaRPr lang="en-US" sz="1200" dirty="0"/>
          </a:p>
        </p:txBody>
      </p:sp>
      <p:sp>
        <p:nvSpPr>
          <p:cNvPr id="13" name="Text 9"/>
          <p:cNvSpPr/>
          <p:nvPr/>
        </p:nvSpPr>
        <p:spPr>
          <a:xfrm>
            <a:off x="3474720" y="5440680"/>
            <a:ext cx="8229600" cy="274320"/>
          </a:xfrm>
          <a:prstGeom prst="rect">
            <a:avLst/>
          </a:prstGeom>
          <a:noFill/>
        </p:spPr>
        <p:txBody>
          <a:bodyPr wrap="square" lIns="0" tIns="0" rIns="0" bIns="0" rtlCol="0" anchor="ctr"/>
          <a:lstStyle/>
          <a:p>
            <a:pPr marL="0" indent="0">
              <a:buNone/>
            </a:pPr>
            <a:r>
              <a:rPr 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rPr>
              <a:t>M. Abderrahim A</a:t>
            </a:r>
            <a:r>
              <a:rPr lang="fr-FR" alt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rPr>
              <a:t>ABANE</a:t>
            </a:r>
            <a:r>
              <a:rPr 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rPr>
              <a:t>, encadrant (Axelor)</a:t>
            </a:r>
            <a:endParaRPr lang="en-US" sz="1200" dirty="0"/>
          </a:p>
        </p:txBody>
      </p:sp>
      <p:sp>
        <p:nvSpPr>
          <p:cNvPr id="14" name="Text 10"/>
          <p:cNvSpPr/>
          <p:nvPr/>
        </p:nvSpPr>
        <p:spPr>
          <a:xfrm>
            <a:off x="3200400" y="5852160"/>
            <a:ext cx="8229600" cy="274320"/>
          </a:xfrm>
          <a:prstGeom prst="rect">
            <a:avLst/>
          </a:prstGeom>
          <a:noFill/>
        </p:spPr>
        <p:txBody>
          <a:bodyPr wrap="square" lIns="0" tIns="0" rIns="0" bIns="0" rtlCol="0" anchor="ctr"/>
          <a:lstStyle/>
          <a:p>
            <a:pPr marL="0" indent="0">
              <a:buNone/>
            </a:pPr>
            <a:r>
              <a:rPr lang="en-US" sz="1200" b="1" dirty="0">
                <a:solidFill>
                  <a:srgbClr val="12203F"/>
                </a:solidFill>
                <a:latin typeface="Calibri" panose="020F0502020204030204" pitchFamily="34" charset="0"/>
                <a:ea typeface="Calibri" panose="020F0502020204030204" pitchFamily="34" charset="-122"/>
                <a:cs typeface="Calibri" panose="020F0502020204030204" pitchFamily="34" charset="-120"/>
              </a:rPr>
              <a:t>Soutenu le </a:t>
            </a:r>
            <a:r>
              <a:rPr lang="fr-FR" altLang="en-US" sz="1200" b="1" dirty="0">
                <a:solidFill>
                  <a:srgbClr val="12203F"/>
                </a:solidFill>
                <a:latin typeface="Calibri" panose="020F0502020204030204" pitchFamily="34" charset="0"/>
                <a:ea typeface="Calibri" panose="020F0502020204030204" pitchFamily="34" charset="-122"/>
                <a:cs typeface="Calibri" panose="020F0502020204030204" pitchFamily="34" charset="-120"/>
              </a:rPr>
              <a:t>07</a:t>
            </a:r>
            <a:r>
              <a:rPr lang="en-US" sz="1200" b="1" dirty="0">
                <a:solidFill>
                  <a:srgbClr val="12203F"/>
                </a:solidFill>
                <a:latin typeface="Calibri" panose="020F0502020204030204" pitchFamily="34" charset="0"/>
                <a:ea typeface="Calibri" panose="020F0502020204030204" pitchFamily="34" charset="-122"/>
                <a:cs typeface="Calibri" panose="020F0502020204030204" pitchFamily="34" charset="-120"/>
              </a:rPr>
              <a:t>/07/2026 devant le jury</a:t>
            </a:r>
            <a:endParaRPr lang="en-US" sz="1200" dirty="0"/>
          </a:p>
        </p:txBody>
      </p:sp>
      <p:sp>
        <p:nvSpPr>
          <p:cNvPr id="15" name="Text 11"/>
          <p:cNvSpPr/>
          <p:nvPr/>
        </p:nvSpPr>
        <p:spPr>
          <a:xfrm>
            <a:off x="3474720" y="6126480"/>
            <a:ext cx="8595360" cy="274320"/>
          </a:xfrm>
          <a:prstGeom prst="rect">
            <a:avLst/>
          </a:prstGeom>
          <a:noFill/>
        </p:spPr>
        <p:txBody>
          <a:bodyPr wrap="square" lIns="0" tIns="0" rIns="0" bIns="0" rtlCol="0" anchor="ctr"/>
          <a:lstStyle/>
          <a:p>
            <a:pPr marL="0" indent="0">
              <a:buNone/>
            </a:pPr>
            <a:r>
              <a:rPr 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rPr>
              <a:t>Pr. </a:t>
            </a:r>
            <a:r>
              <a:rPr 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Youn</a:t>
            </a:r>
            <a:r>
              <a:rPr lang="en-US" alt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è</a:t>
            </a:r>
            <a:r>
              <a:rPr 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s</a:t>
            </a:r>
            <a:r>
              <a:rPr lang="fr-FR" alt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 </a:t>
            </a:r>
            <a:r>
              <a:rPr 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E</a:t>
            </a:r>
            <a:r>
              <a:rPr lang="fr-FR" alt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L</a:t>
            </a:r>
            <a:r>
              <a:rPr 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 B</a:t>
            </a:r>
            <a:r>
              <a:rPr lang="fr-FR" alt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OUZEKRI</a:t>
            </a:r>
            <a:r>
              <a:rPr 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 E</a:t>
            </a:r>
            <a:r>
              <a:rPr lang="fr-FR" alt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L</a:t>
            </a:r>
            <a:r>
              <a:rPr 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 I</a:t>
            </a:r>
            <a:r>
              <a:rPr lang="fr-FR" alt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DRISSI</a:t>
            </a:r>
            <a:r>
              <a:rPr 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sym typeface="+mn-ea"/>
              </a:rPr>
              <a:t> </a:t>
            </a:r>
            <a:r>
              <a:rPr 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rPr>
              <a:t>      Pr. </a:t>
            </a:r>
            <a:r>
              <a:rPr lang="en-US" alt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rPr>
              <a:t>Aniss</a:t>
            </a:r>
            <a:r>
              <a:rPr lang="fr-FR" alt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rPr>
              <a:t> MOUMEN</a:t>
            </a:r>
            <a:r>
              <a:rPr 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rPr>
              <a:t>      Pr. </a:t>
            </a:r>
            <a:r>
              <a:rPr lang="en-US" alt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rPr>
              <a:t>Ayoub</a:t>
            </a:r>
            <a:r>
              <a:rPr lang="fr-FR" alt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rPr>
              <a:t> AIT LAHCEN</a:t>
            </a:r>
            <a:r>
              <a:rPr lang="en-US" sz="1100" dirty="0">
                <a:solidFill>
                  <a:srgbClr val="2A3142"/>
                </a:solidFill>
                <a:latin typeface="Calibri" panose="020F0502020204030204" pitchFamily="34" charset="0"/>
                <a:ea typeface="Calibri" panose="020F0502020204030204" pitchFamily="34" charset="-122"/>
                <a:cs typeface="Calibri" panose="020F0502020204030204" pitchFamily="34" charset="-120"/>
              </a:rPr>
              <a:t>     </a:t>
            </a:r>
            <a:endParaRPr lang="en-US" sz="1100" dirty="0"/>
          </a:p>
        </p:txBody>
      </p:sp>
      <p:sp>
        <p:nvSpPr>
          <p:cNvPr id="16" name="Text 12"/>
          <p:cNvSpPr/>
          <p:nvPr/>
        </p:nvSpPr>
        <p:spPr>
          <a:xfrm>
            <a:off x="3200400" y="6446520"/>
            <a:ext cx="8229600" cy="274320"/>
          </a:xfrm>
          <a:prstGeom prst="rect">
            <a:avLst/>
          </a:prstGeom>
          <a:noFill/>
        </p:spPr>
        <p:txBody>
          <a:bodyPr wrap="square" lIns="0" tIns="0" rIns="0" bIns="0" rtlCol="0" anchor="ctr"/>
          <a:lstStyle/>
          <a:p>
            <a:pPr marL="0" indent="0">
              <a:buNone/>
            </a:pPr>
            <a:r>
              <a:rPr lang="en-US" sz="1000" dirty="0">
                <a:solidFill>
                  <a:srgbClr val="7A8294"/>
                </a:solidFill>
                <a:latin typeface="Calibri" panose="020F0502020204030204" pitchFamily="34" charset="0"/>
                <a:ea typeface="Calibri" panose="020F0502020204030204" pitchFamily="34" charset="-122"/>
                <a:cs typeface="Calibri" panose="020F0502020204030204" pitchFamily="34" charset="-120"/>
              </a:rPr>
              <a:t>Année universitaire 2025/2026</a:t>
            </a:r>
            <a:endParaRPr lang="en-US" sz="1000" dirty="0"/>
          </a:p>
        </p:txBody>
      </p:sp>
      <p:pic>
        <p:nvPicPr>
          <p:cNvPr id="17" name="Picture 16" descr="logo_axelor"/>
          <p:cNvPicPr>
            <a:picLocks noChangeAspect="1"/>
          </p:cNvPicPr>
          <p:nvPr/>
        </p:nvPicPr>
        <p:blipFill>
          <a:blip r:embed="rId3"/>
          <a:stretch>
            <a:fillRect/>
          </a:stretch>
        </p:blipFill>
        <p:spPr>
          <a:xfrm>
            <a:off x="10172700" y="596265"/>
            <a:ext cx="995045" cy="336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566928"/>
            <a:ext cx="10058400" cy="274320"/>
          </a:xfrm>
          <a:prstGeom prst="rect">
            <a:avLst/>
          </a:prstGeom>
          <a:noFill/>
        </p:spPr>
        <p:txBody>
          <a:bodyPr wrap="square" lIns="0" tIns="0" rIns="0" bIns="0" rtlCol="0" anchor="ctr"/>
          <a:lstStyle/>
          <a:p>
            <a:pPr marL="0" indent="0">
              <a:buNone/>
            </a:pPr>
            <a:r>
              <a:rPr lang="en-US" sz="1100" b="1" kern="0" spc="300" dirty="0">
                <a:solidFill>
                  <a:srgbClr val="1F4E9C"/>
                </a:solidFill>
                <a:latin typeface="Calibri" panose="020F0502020204030204" pitchFamily="34" charset="0"/>
                <a:ea typeface="Calibri" panose="020F0502020204030204" pitchFamily="34" charset="-122"/>
                <a:cs typeface="Calibri" panose="020F0502020204030204" pitchFamily="34" charset="-120"/>
              </a:rPr>
              <a:t>SOMMAIRE</a:t>
            </a:r>
            <a:endParaRPr lang="en-US" sz="1100" dirty="0"/>
          </a:p>
        </p:txBody>
      </p:sp>
      <p:sp>
        <p:nvSpPr>
          <p:cNvPr id="3" name="Text 1"/>
          <p:cNvSpPr/>
          <p:nvPr/>
        </p:nvSpPr>
        <p:spPr>
          <a:xfrm>
            <a:off x="640080" y="868680"/>
            <a:ext cx="10881360" cy="685800"/>
          </a:xfrm>
          <a:prstGeom prst="rect">
            <a:avLst/>
          </a:prstGeom>
          <a:noFill/>
        </p:spPr>
        <p:txBody>
          <a:bodyPr wrap="square" lIns="0" tIns="0" rIns="0" bIns="0" rtlCol="0" anchor="ctr"/>
          <a:lstStyle/>
          <a:p>
            <a:pPr marL="0" indent="0">
              <a:buNone/>
            </a:pPr>
            <a:r>
              <a:rPr lang="en-US" sz="3000" b="1" dirty="0">
                <a:solidFill>
                  <a:srgbClr val="12203F"/>
                </a:solidFill>
                <a:latin typeface="Cambria" panose="02040503050406030204" pitchFamily="34" charset="0"/>
                <a:ea typeface="Cambria" panose="02040503050406030204" pitchFamily="34" charset="-122"/>
                <a:cs typeface="Cambria" panose="02040503050406030204" pitchFamily="34" charset="-120"/>
              </a:rPr>
              <a:t>Plan de la présentation</a:t>
            </a:r>
            <a:endParaRPr lang="en-US" sz="3000" dirty="0"/>
          </a:p>
        </p:txBody>
      </p:sp>
      <p:pic>
        <p:nvPicPr>
          <p:cNvPr id="4" name="Image 0" descr="preencoded.png"/>
          <p:cNvPicPr>
            <a:picLocks noChangeAspect="1"/>
          </p:cNvPicPr>
          <p:nvPr/>
        </p:nvPicPr>
        <p:blipFill>
          <a:blip r:embed="rId1"/>
          <a:stretch>
            <a:fillRect/>
          </a:stretch>
        </p:blipFill>
        <p:spPr>
          <a:xfrm>
            <a:off x="9832848" y="2286000"/>
            <a:ext cx="2173224" cy="5669280"/>
          </a:xfrm>
          <a:prstGeom prst="rect">
            <a:avLst/>
          </a:prstGeom>
        </p:spPr>
      </p:pic>
      <p:sp>
        <p:nvSpPr>
          <p:cNvPr id="5" name="Text 2"/>
          <p:cNvSpPr/>
          <p:nvPr/>
        </p:nvSpPr>
        <p:spPr>
          <a:xfrm>
            <a:off x="658368" y="1874520"/>
            <a:ext cx="822960" cy="548640"/>
          </a:xfrm>
          <a:prstGeom prst="rect">
            <a:avLst/>
          </a:prstGeom>
          <a:noFill/>
        </p:spPr>
        <p:txBody>
          <a:bodyPr wrap="square" lIns="0" tIns="0" rIns="0" bIns="0" rtlCol="0" anchor="ctr"/>
          <a:lstStyle/>
          <a:p>
            <a:pPr marL="0" indent="0">
              <a:buNone/>
            </a:pPr>
            <a:r>
              <a:rPr lang="en-US" sz="2400" b="1" dirty="0">
                <a:solidFill>
                  <a:srgbClr val="1F4E9C"/>
                </a:solidFill>
                <a:latin typeface="Cambria" panose="02040503050406030204" pitchFamily="34" charset="0"/>
                <a:ea typeface="Cambria" panose="02040503050406030204" pitchFamily="34" charset="-122"/>
                <a:cs typeface="Cambria" panose="02040503050406030204" pitchFamily="34" charset="-120"/>
              </a:rPr>
              <a:t>01</a:t>
            </a:r>
            <a:endParaRPr lang="en-US" sz="2400" dirty="0"/>
          </a:p>
        </p:txBody>
      </p:sp>
      <p:sp>
        <p:nvSpPr>
          <p:cNvPr id="6" name="Text 3"/>
          <p:cNvSpPr/>
          <p:nvPr/>
        </p:nvSpPr>
        <p:spPr>
          <a:xfrm>
            <a:off x="1600200" y="1874520"/>
            <a:ext cx="3291840" cy="548640"/>
          </a:xfrm>
          <a:prstGeom prst="rect">
            <a:avLst/>
          </a:prstGeom>
          <a:noFill/>
        </p:spPr>
        <p:txBody>
          <a:bodyPr wrap="square" lIns="0" tIns="0" rIns="0" bIns="0" rtlCol="0" anchor="ctr"/>
          <a:lstStyle/>
          <a:p>
            <a:pPr marL="0" indent="0">
              <a:buNone/>
            </a:pPr>
            <a:r>
              <a:rPr lang="en-US" sz="1900" b="1" dirty="0">
                <a:solidFill>
                  <a:srgbClr val="12203F"/>
                </a:solidFill>
                <a:latin typeface="Cambria" panose="02040503050406030204" pitchFamily="34" charset="0"/>
                <a:ea typeface="Cambria" panose="02040503050406030204" pitchFamily="34" charset="-122"/>
                <a:cs typeface="Cambria" panose="02040503050406030204" pitchFamily="34" charset="-120"/>
              </a:rPr>
              <a:t>Contexte</a:t>
            </a:r>
            <a:endParaRPr lang="en-US" sz="1900" dirty="0"/>
          </a:p>
        </p:txBody>
      </p:sp>
      <p:sp>
        <p:nvSpPr>
          <p:cNvPr id="7" name="Text 4"/>
          <p:cNvSpPr/>
          <p:nvPr/>
        </p:nvSpPr>
        <p:spPr>
          <a:xfrm>
            <a:off x="5029200" y="1874520"/>
            <a:ext cx="6400800" cy="548640"/>
          </a:xfrm>
          <a:prstGeom prst="rect">
            <a:avLst/>
          </a:prstGeom>
          <a:noFill/>
        </p:spPr>
        <p:txBody>
          <a:bodyPr wrap="square" lIns="0" tIns="0" rIns="0" bIns="0" rtlCol="0" anchor="ctr"/>
          <a:lstStyle/>
          <a:p>
            <a:pPr marL="0" indent="0">
              <a:buNone/>
            </a:pPr>
            <a:r>
              <a:rPr lang="en-US" sz="1300" dirty="0">
                <a:solidFill>
                  <a:srgbClr val="7A8294"/>
                </a:solidFill>
                <a:latin typeface="Calibri" panose="020F0502020204030204" pitchFamily="34" charset="0"/>
                <a:ea typeface="Calibri" panose="020F0502020204030204" pitchFamily="34" charset="-122"/>
                <a:cs typeface="Calibri" panose="020F0502020204030204" pitchFamily="34" charset="-120"/>
              </a:rPr>
              <a:t>Organisme d'accueil et cadre du projet</a:t>
            </a:r>
            <a:endParaRPr lang="en-US" sz="1300" dirty="0"/>
          </a:p>
        </p:txBody>
      </p:sp>
      <p:sp>
        <p:nvSpPr>
          <p:cNvPr id="8" name="Text 5"/>
          <p:cNvSpPr/>
          <p:nvPr/>
        </p:nvSpPr>
        <p:spPr>
          <a:xfrm>
            <a:off x="658368" y="2624328"/>
            <a:ext cx="822960" cy="548640"/>
          </a:xfrm>
          <a:prstGeom prst="rect">
            <a:avLst/>
          </a:prstGeom>
          <a:noFill/>
        </p:spPr>
        <p:txBody>
          <a:bodyPr wrap="square" lIns="0" tIns="0" rIns="0" bIns="0" rtlCol="0" anchor="ctr"/>
          <a:lstStyle/>
          <a:p>
            <a:pPr marL="0" indent="0">
              <a:buNone/>
            </a:pPr>
            <a:r>
              <a:rPr lang="en-US" sz="2400" b="1" dirty="0">
                <a:solidFill>
                  <a:srgbClr val="1F4E9C"/>
                </a:solidFill>
                <a:latin typeface="Cambria" panose="02040503050406030204" pitchFamily="34" charset="0"/>
                <a:ea typeface="Cambria" panose="02040503050406030204" pitchFamily="34" charset="-122"/>
                <a:cs typeface="Cambria" panose="02040503050406030204" pitchFamily="34" charset="-120"/>
              </a:rPr>
              <a:t>02</a:t>
            </a:r>
            <a:endParaRPr lang="en-US" sz="2400" dirty="0"/>
          </a:p>
        </p:txBody>
      </p:sp>
      <p:sp>
        <p:nvSpPr>
          <p:cNvPr id="9" name="Text 6"/>
          <p:cNvSpPr/>
          <p:nvPr/>
        </p:nvSpPr>
        <p:spPr>
          <a:xfrm>
            <a:off x="1600200" y="2624328"/>
            <a:ext cx="3291840" cy="548640"/>
          </a:xfrm>
          <a:prstGeom prst="rect">
            <a:avLst/>
          </a:prstGeom>
          <a:noFill/>
        </p:spPr>
        <p:txBody>
          <a:bodyPr wrap="square" lIns="0" tIns="0" rIns="0" bIns="0" rtlCol="0" anchor="ctr"/>
          <a:lstStyle/>
          <a:p>
            <a:pPr marL="0" indent="0">
              <a:buNone/>
            </a:pPr>
            <a:r>
              <a:rPr lang="en-US" sz="1900" b="1" dirty="0">
                <a:solidFill>
                  <a:srgbClr val="12203F"/>
                </a:solidFill>
                <a:latin typeface="Cambria" panose="02040503050406030204" pitchFamily="34" charset="0"/>
                <a:ea typeface="Cambria" panose="02040503050406030204" pitchFamily="34" charset="-122"/>
                <a:cs typeface="Cambria" panose="02040503050406030204" pitchFamily="34" charset="-120"/>
              </a:rPr>
              <a:t>Problématique</a:t>
            </a:r>
            <a:endParaRPr lang="en-US" sz="1900" dirty="0"/>
          </a:p>
        </p:txBody>
      </p:sp>
      <p:sp>
        <p:nvSpPr>
          <p:cNvPr id="10" name="Text 7"/>
          <p:cNvSpPr/>
          <p:nvPr/>
        </p:nvSpPr>
        <p:spPr>
          <a:xfrm>
            <a:off x="5029200" y="2624328"/>
            <a:ext cx="6400800" cy="548640"/>
          </a:xfrm>
          <a:prstGeom prst="rect">
            <a:avLst/>
          </a:prstGeom>
          <a:noFill/>
        </p:spPr>
        <p:txBody>
          <a:bodyPr wrap="square" lIns="0" tIns="0" rIns="0" bIns="0" rtlCol="0" anchor="ctr"/>
          <a:lstStyle/>
          <a:p>
            <a:pPr marL="0" indent="0">
              <a:buNone/>
            </a:pPr>
            <a:r>
              <a:rPr lang="en-US" sz="1300" dirty="0">
                <a:solidFill>
                  <a:srgbClr val="7A8294"/>
                </a:solidFill>
                <a:latin typeface="Calibri" panose="020F0502020204030204" pitchFamily="34" charset="0"/>
                <a:ea typeface="Calibri" panose="020F0502020204030204" pitchFamily="34" charset="-122"/>
                <a:cs typeface="Calibri" panose="020F0502020204030204" pitchFamily="34" charset="-120"/>
              </a:rPr>
              <a:t>Limites de l'existant et besoin</a:t>
            </a:r>
            <a:endParaRPr lang="en-US" sz="1300" dirty="0"/>
          </a:p>
        </p:txBody>
      </p:sp>
      <p:sp>
        <p:nvSpPr>
          <p:cNvPr id="11" name="Text 8"/>
          <p:cNvSpPr/>
          <p:nvPr/>
        </p:nvSpPr>
        <p:spPr>
          <a:xfrm>
            <a:off x="658368" y="3374136"/>
            <a:ext cx="822960" cy="548640"/>
          </a:xfrm>
          <a:prstGeom prst="rect">
            <a:avLst/>
          </a:prstGeom>
          <a:noFill/>
        </p:spPr>
        <p:txBody>
          <a:bodyPr wrap="square" lIns="0" tIns="0" rIns="0" bIns="0" rtlCol="0" anchor="ctr"/>
          <a:lstStyle/>
          <a:p>
            <a:pPr marL="0" indent="0">
              <a:buNone/>
            </a:pPr>
            <a:r>
              <a:rPr lang="en-US" sz="2400" b="1" dirty="0">
                <a:solidFill>
                  <a:srgbClr val="1F4E9C"/>
                </a:solidFill>
                <a:latin typeface="Cambria" panose="02040503050406030204" pitchFamily="34" charset="0"/>
                <a:ea typeface="Cambria" panose="02040503050406030204" pitchFamily="34" charset="-122"/>
                <a:cs typeface="Cambria" panose="02040503050406030204" pitchFamily="34" charset="-120"/>
              </a:rPr>
              <a:t>03</a:t>
            </a:r>
            <a:endParaRPr lang="en-US" sz="2400" dirty="0"/>
          </a:p>
        </p:txBody>
      </p:sp>
      <p:sp>
        <p:nvSpPr>
          <p:cNvPr id="12" name="Text 9"/>
          <p:cNvSpPr/>
          <p:nvPr/>
        </p:nvSpPr>
        <p:spPr>
          <a:xfrm>
            <a:off x="1600200" y="3374136"/>
            <a:ext cx="3291840" cy="548640"/>
          </a:xfrm>
          <a:prstGeom prst="rect">
            <a:avLst/>
          </a:prstGeom>
          <a:noFill/>
        </p:spPr>
        <p:txBody>
          <a:bodyPr wrap="square" lIns="0" tIns="0" rIns="0" bIns="0" rtlCol="0" anchor="ctr"/>
          <a:lstStyle/>
          <a:p>
            <a:pPr marL="0" indent="0">
              <a:buNone/>
            </a:pPr>
            <a:r>
              <a:rPr lang="en-US" sz="1900" b="1" dirty="0">
                <a:solidFill>
                  <a:srgbClr val="12203F"/>
                </a:solidFill>
                <a:latin typeface="Cambria" panose="02040503050406030204" pitchFamily="34" charset="0"/>
                <a:ea typeface="Cambria" panose="02040503050406030204" pitchFamily="34" charset="-122"/>
                <a:cs typeface="Cambria" panose="02040503050406030204" pitchFamily="34" charset="-120"/>
              </a:rPr>
              <a:t>Méthodologie</a:t>
            </a:r>
            <a:endParaRPr lang="en-US" sz="1900" dirty="0"/>
          </a:p>
        </p:txBody>
      </p:sp>
      <p:sp>
        <p:nvSpPr>
          <p:cNvPr id="13" name="Text 10"/>
          <p:cNvSpPr/>
          <p:nvPr/>
        </p:nvSpPr>
        <p:spPr>
          <a:xfrm>
            <a:off x="5029200" y="3374136"/>
            <a:ext cx="6400800" cy="548640"/>
          </a:xfrm>
          <a:prstGeom prst="rect">
            <a:avLst/>
          </a:prstGeom>
          <a:noFill/>
        </p:spPr>
        <p:txBody>
          <a:bodyPr wrap="square" lIns="0" tIns="0" rIns="0" bIns="0" rtlCol="0" anchor="ctr"/>
          <a:lstStyle/>
          <a:p>
            <a:pPr marL="0" indent="0">
              <a:buNone/>
            </a:pPr>
            <a:r>
              <a:rPr lang="en-US" sz="1300" dirty="0">
                <a:solidFill>
                  <a:srgbClr val="7A8294"/>
                </a:solidFill>
                <a:latin typeface="Calibri" panose="020F0502020204030204" pitchFamily="34" charset="0"/>
                <a:ea typeface="Calibri" panose="020F0502020204030204" pitchFamily="34" charset="-122"/>
                <a:cs typeface="Calibri" panose="020F0502020204030204" pitchFamily="34" charset="-120"/>
              </a:rPr>
              <a:t>Cadrage, besoins et démarche de travail</a:t>
            </a:r>
            <a:endParaRPr lang="en-US" sz="1300" dirty="0"/>
          </a:p>
        </p:txBody>
      </p:sp>
      <p:sp>
        <p:nvSpPr>
          <p:cNvPr id="14" name="Text 11"/>
          <p:cNvSpPr/>
          <p:nvPr/>
        </p:nvSpPr>
        <p:spPr>
          <a:xfrm>
            <a:off x="658368" y="4123944"/>
            <a:ext cx="822960" cy="548640"/>
          </a:xfrm>
          <a:prstGeom prst="rect">
            <a:avLst/>
          </a:prstGeom>
          <a:noFill/>
        </p:spPr>
        <p:txBody>
          <a:bodyPr wrap="square" lIns="0" tIns="0" rIns="0" bIns="0" rtlCol="0" anchor="ctr"/>
          <a:lstStyle/>
          <a:p>
            <a:pPr marL="0" indent="0">
              <a:buNone/>
            </a:pPr>
            <a:r>
              <a:rPr lang="en-US" sz="2400" b="1" dirty="0">
                <a:solidFill>
                  <a:srgbClr val="1F4E9C"/>
                </a:solidFill>
                <a:latin typeface="Cambria" panose="02040503050406030204" pitchFamily="34" charset="0"/>
                <a:ea typeface="Cambria" panose="02040503050406030204" pitchFamily="34" charset="-122"/>
                <a:cs typeface="Cambria" panose="02040503050406030204" pitchFamily="34" charset="-120"/>
              </a:rPr>
              <a:t>04</a:t>
            </a:r>
            <a:endParaRPr lang="en-US" sz="2400" dirty="0"/>
          </a:p>
        </p:txBody>
      </p:sp>
      <p:sp>
        <p:nvSpPr>
          <p:cNvPr id="15" name="Text 12"/>
          <p:cNvSpPr/>
          <p:nvPr/>
        </p:nvSpPr>
        <p:spPr>
          <a:xfrm>
            <a:off x="1600200" y="4123944"/>
            <a:ext cx="3291840" cy="548640"/>
          </a:xfrm>
          <a:prstGeom prst="rect">
            <a:avLst/>
          </a:prstGeom>
          <a:noFill/>
        </p:spPr>
        <p:txBody>
          <a:bodyPr wrap="square" lIns="0" tIns="0" rIns="0" bIns="0" rtlCol="0" anchor="ctr"/>
          <a:lstStyle/>
          <a:p>
            <a:pPr marL="0" indent="0">
              <a:buNone/>
            </a:pPr>
            <a:r>
              <a:rPr lang="en-US" sz="1900" b="1" dirty="0">
                <a:solidFill>
                  <a:srgbClr val="12203F"/>
                </a:solidFill>
                <a:latin typeface="Cambria" panose="02040503050406030204" pitchFamily="34" charset="0"/>
                <a:ea typeface="Cambria" panose="02040503050406030204" pitchFamily="34" charset="-122"/>
                <a:cs typeface="Cambria" panose="02040503050406030204" pitchFamily="34" charset="-120"/>
              </a:rPr>
              <a:t>Conception</a:t>
            </a:r>
            <a:endParaRPr lang="en-US" sz="1900" dirty="0"/>
          </a:p>
        </p:txBody>
      </p:sp>
      <p:sp>
        <p:nvSpPr>
          <p:cNvPr id="16" name="Text 13"/>
          <p:cNvSpPr/>
          <p:nvPr/>
        </p:nvSpPr>
        <p:spPr>
          <a:xfrm>
            <a:off x="5029200" y="4123944"/>
            <a:ext cx="6400800" cy="548640"/>
          </a:xfrm>
          <a:prstGeom prst="rect">
            <a:avLst/>
          </a:prstGeom>
          <a:noFill/>
        </p:spPr>
        <p:txBody>
          <a:bodyPr wrap="square" lIns="0" tIns="0" rIns="0" bIns="0" rtlCol="0" anchor="ctr"/>
          <a:lstStyle/>
          <a:p>
            <a:pPr marL="0" indent="0">
              <a:buNone/>
            </a:pPr>
            <a:r>
              <a:rPr lang="en-US" sz="1300" dirty="0">
                <a:solidFill>
                  <a:srgbClr val="7A8294"/>
                </a:solidFill>
                <a:latin typeface="Calibri" panose="020F0502020204030204" pitchFamily="34" charset="0"/>
                <a:ea typeface="Calibri" panose="020F0502020204030204" pitchFamily="34" charset="-122"/>
                <a:cs typeface="Calibri" panose="020F0502020204030204" pitchFamily="34" charset="-120"/>
              </a:rPr>
              <a:t>Cas d'utilisation et modélisation</a:t>
            </a:r>
            <a:endParaRPr lang="en-US" sz="1300" dirty="0"/>
          </a:p>
        </p:txBody>
      </p:sp>
      <p:sp>
        <p:nvSpPr>
          <p:cNvPr id="17" name="Text 14"/>
          <p:cNvSpPr/>
          <p:nvPr/>
        </p:nvSpPr>
        <p:spPr>
          <a:xfrm>
            <a:off x="658368" y="4873752"/>
            <a:ext cx="822960" cy="548640"/>
          </a:xfrm>
          <a:prstGeom prst="rect">
            <a:avLst/>
          </a:prstGeom>
          <a:noFill/>
        </p:spPr>
        <p:txBody>
          <a:bodyPr wrap="square" lIns="0" tIns="0" rIns="0" bIns="0" rtlCol="0" anchor="ctr"/>
          <a:lstStyle/>
          <a:p>
            <a:pPr marL="0" indent="0">
              <a:buNone/>
            </a:pPr>
            <a:r>
              <a:rPr lang="en-US" sz="2400" b="1" dirty="0">
                <a:solidFill>
                  <a:srgbClr val="1F4E9C"/>
                </a:solidFill>
                <a:latin typeface="Cambria" panose="02040503050406030204" pitchFamily="34" charset="0"/>
                <a:ea typeface="Cambria" panose="02040503050406030204" pitchFamily="34" charset="-122"/>
                <a:cs typeface="Cambria" panose="02040503050406030204" pitchFamily="34" charset="-120"/>
              </a:rPr>
              <a:t>05</a:t>
            </a:r>
            <a:endParaRPr lang="en-US" sz="2400" dirty="0"/>
          </a:p>
        </p:txBody>
      </p:sp>
      <p:sp>
        <p:nvSpPr>
          <p:cNvPr id="18" name="Text 15"/>
          <p:cNvSpPr/>
          <p:nvPr/>
        </p:nvSpPr>
        <p:spPr>
          <a:xfrm>
            <a:off x="1600200" y="4873752"/>
            <a:ext cx="3291840" cy="548640"/>
          </a:xfrm>
          <a:prstGeom prst="rect">
            <a:avLst/>
          </a:prstGeom>
          <a:noFill/>
        </p:spPr>
        <p:txBody>
          <a:bodyPr wrap="square" lIns="0" tIns="0" rIns="0" bIns="0" rtlCol="0" anchor="ctr"/>
          <a:lstStyle/>
          <a:p>
            <a:pPr marL="0" indent="0">
              <a:buNone/>
            </a:pPr>
            <a:r>
              <a:rPr lang="en-US" sz="1900" b="1" dirty="0">
                <a:solidFill>
                  <a:srgbClr val="12203F"/>
                </a:solidFill>
                <a:latin typeface="Cambria" panose="02040503050406030204" pitchFamily="34" charset="0"/>
                <a:ea typeface="Cambria" panose="02040503050406030204" pitchFamily="34" charset="-122"/>
                <a:cs typeface="Cambria" panose="02040503050406030204" pitchFamily="34" charset="-120"/>
              </a:rPr>
              <a:t>Réalisation</a:t>
            </a:r>
            <a:endParaRPr lang="en-US" sz="1900" dirty="0"/>
          </a:p>
        </p:txBody>
      </p:sp>
      <p:sp>
        <p:nvSpPr>
          <p:cNvPr id="19" name="Text 16"/>
          <p:cNvSpPr/>
          <p:nvPr/>
        </p:nvSpPr>
        <p:spPr>
          <a:xfrm>
            <a:off x="5029200" y="4873752"/>
            <a:ext cx="6400800" cy="548640"/>
          </a:xfrm>
          <a:prstGeom prst="rect">
            <a:avLst/>
          </a:prstGeom>
          <a:noFill/>
        </p:spPr>
        <p:txBody>
          <a:bodyPr wrap="square" lIns="0" tIns="0" rIns="0" bIns="0" rtlCol="0" anchor="ctr"/>
          <a:lstStyle/>
          <a:p>
            <a:pPr marL="0" indent="0">
              <a:buNone/>
            </a:pPr>
            <a:r>
              <a:rPr lang="en-US" sz="1300" dirty="0">
                <a:solidFill>
                  <a:srgbClr val="7A8294"/>
                </a:solidFill>
                <a:latin typeface="Calibri" panose="020F0502020204030204" pitchFamily="34" charset="0"/>
                <a:ea typeface="Calibri" panose="020F0502020204030204" pitchFamily="34" charset="-122"/>
                <a:cs typeface="Calibri" panose="020F0502020204030204" pitchFamily="34" charset="-120"/>
              </a:rPr>
              <a:t>Architecture, implémentation et résultats</a:t>
            </a:r>
            <a:endParaRPr lang="en-US" sz="1300" dirty="0"/>
          </a:p>
        </p:txBody>
      </p:sp>
      <p:sp>
        <p:nvSpPr>
          <p:cNvPr id="20" name="Text 17"/>
          <p:cNvSpPr/>
          <p:nvPr/>
        </p:nvSpPr>
        <p:spPr>
          <a:xfrm>
            <a:off x="658368" y="5623560"/>
            <a:ext cx="822960" cy="548640"/>
          </a:xfrm>
          <a:prstGeom prst="rect">
            <a:avLst/>
          </a:prstGeom>
          <a:noFill/>
        </p:spPr>
        <p:txBody>
          <a:bodyPr wrap="square" lIns="0" tIns="0" rIns="0" bIns="0" rtlCol="0" anchor="ctr"/>
          <a:lstStyle/>
          <a:p>
            <a:pPr marL="0" indent="0">
              <a:buNone/>
            </a:pPr>
            <a:r>
              <a:rPr lang="en-US" sz="2400" b="1" dirty="0">
                <a:solidFill>
                  <a:srgbClr val="1F4E9C"/>
                </a:solidFill>
                <a:latin typeface="Cambria" panose="02040503050406030204" pitchFamily="34" charset="0"/>
                <a:ea typeface="Cambria" panose="02040503050406030204" pitchFamily="34" charset="-122"/>
                <a:cs typeface="Cambria" panose="02040503050406030204" pitchFamily="34" charset="-120"/>
              </a:rPr>
              <a:t>06</a:t>
            </a:r>
            <a:endParaRPr lang="en-US" sz="2400" dirty="0"/>
          </a:p>
        </p:txBody>
      </p:sp>
      <p:sp>
        <p:nvSpPr>
          <p:cNvPr id="21" name="Text 18"/>
          <p:cNvSpPr/>
          <p:nvPr/>
        </p:nvSpPr>
        <p:spPr>
          <a:xfrm>
            <a:off x="1600200" y="5623560"/>
            <a:ext cx="3291840" cy="548640"/>
          </a:xfrm>
          <a:prstGeom prst="rect">
            <a:avLst/>
          </a:prstGeom>
          <a:noFill/>
        </p:spPr>
        <p:txBody>
          <a:bodyPr wrap="square" lIns="0" tIns="0" rIns="0" bIns="0" rtlCol="0" anchor="ctr"/>
          <a:lstStyle/>
          <a:p>
            <a:pPr marL="0" indent="0">
              <a:buNone/>
            </a:pPr>
            <a:r>
              <a:rPr lang="en-US" sz="1900" b="1" dirty="0">
                <a:solidFill>
                  <a:srgbClr val="12203F"/>
                </a:solidFill>
                <a:latin typeface="Cambria" panose="02040503050406030204" pitchFamily="34" charset="0"/>
                <a:ea typeface="Cambria" panose="02040503050406030204" pitchFamily="34" charset="-122"/>
                <a:cs typeface="Cambria" panose="02040503050406030204" pitchFamily="34" charset="-120"/>
              </a:rPr>
              <a:t>Conclusion</a:t>
            </a:r>
            <a:endParaRPr lang="en-US" sz="1900" dirty="0"/>
          </a:p>
        </p:txBody>
      </p:sp>
      <p:sp>
        <p:nvSpPr>
          <p:cNvPr id="22" name="Text 19"/>
          <p:cNvSpPr/>
          <p:nvPr/>
        </p:nvSpPr>
        <p:spPr>
          <a:xfrm>
            <a:off x="5029200" y="5623560"/>
            <a:ext cx="6400800" cy="548640"/>
          </a:xfrm>
          <a:prstGeom prst="rect">
            <a:avLst/>
          </a:prstGeom>
          <a:noFill/>
        </p:spPr>
        <p:txBody>
          <a:bodyPr wrap="square" lIns="0" tIns="0" rIns="0" bIns="0" rtlCol="0" anchor="ctr"/>
          <a:lstStyle/>
          <a:p>
            <a:pPr marL="0" indent="0">
              <a:buNone/>
            </a:pPr>
            <a:r>
              <a:rPr lang="en-US" sz="1300" dirty="0">
                <a:solidFill>
                  <a:srgbClr val="7A8294"/>
                </a:solidFill>
                <a:latin typeface="Calibri" panose="020F0502020204030204" pitchFamily="34" charset="0"/>
                <a:ea typeface="Calibri" panose="020F0502020204030204" pitchFamily="34" charset="-122"/>
                <a:cs typeface="Calibri" panose="020F0502020204030204" pitchFamily="34" charset="-120"/>
              </a:rPr>
              <a:t>Bilan, Limitations et Perspectives d'évolution</a:t>
            </a:r>
            <a:endParaRPr lang="en-US" sz="1300" dirty="0"/>
          </a:p>
        </p:txBody>
      </p:sp>
      <p:pic>
        <p:nvPicPr>
          <p:cNvPr id="23" name="Image 1" descr="preencoded.png"/>
          <p:cNvPicPr>
            <a:picLocks noChangeAspect="1"/>
          </p:cNvPicPr>
          <p:nvPr/>
        </p:nvPicPr>
        <p:blipFill>
          <a:blip r:embed="rId2"/>
          <a:stretch>
            <a:fillRect/>
          </a:stretch>
        </p:blipFill>
        <p:spPr>
          <a:xfrm>
            <a:off x="640080" y="6327648"/>
            <a:ext cx="415260" cy="237744"/>
          </a:xfrm>
          <a:prstGeom prst="rect">
            <a:avLst/>
          </a:prstGeom>
        </p:spPr>
      </p:pic>
      <p:sp>
        <p:nvSpPr>
          <p:cNvPr id="24" name="Text 20"/>
          <p:cNvSpPr/>
          <p:nvPr/>
        </p:nvSpPr>
        <p:spPr>
          <a:xfrm>
            <a:off x="1188720" y="6309360"/>
            <a:ext cx="7315200" cy="274320"/>
          </a:xfrm>
          <a:prstGeom prst="rect">
            <a:avLst/>
          </a:prstGeom>
          <a:noFill/>
        </p:spPr>
        <p:txBody>
          <a:bodyPr wrap="square" lIns="0" tIns="0" rIns="0" bIns="0" rtlCol="0" anchor="ctr"/>
          <a:lstStyle/>
          <a:p>
            <a:pPr marL="0" indent="0">
              <a:buNone/>
            </a:pPr>
            <a:r>
              <a:rPr lang="en-US" sz="900" dirty="0">
                <a:solidFill>
                  <a:srgbClr val="7A8294"/>
                </a:solidFill>
                <a:latin typeface="Calibri" panose="020F0502020204030204" pitchFamily="34" charset="0"/>
                <a:ea typeface="Calibri" panose="020F0502020204030204" pitchFamily="34" charset="-122"/>
                <a:cs typeface="Calibri" panose="020F0502020204030204" pitchFamily="34" charset="-120"/>
              </a:rPr>
              <a:t>Projet de Fin d'Études : Génie Informatique</a:t>
            </a:r>
            <a:endParaRPr lang="en-US" sz="900" dirty="0"/>
          </a:p>
        </p:txBody>
      </p:sp>
      <p:sp>
        <p:nvSpPr>
          <p:cNvPr id="25" name="Text 21"/>
          <p:cNvSpPr/>
          <p:nvPr/>
        </p:nvSpPr>
        <p:spPr>
          <a:xfrm>
            <a:off x="10360152" y="6309360"/>
            <a:ext cx="1188720" cy="274320"/>
          </a:xfrm>
          <a:prstGeom prst="rect">
            <a:avLst/>
          </a:prstGeom>
          <a:noFill/>
        </p:spPr>
        <p:txBody>
          <a:bodyPr wrap="square" lIns="0" tIns="0" rIns="0" bIns="0" rtlCol="0" anchor="ctr"/>
          <a:lstStyle/>
          <a:p>
            <a:pPr marL="0" indent="0" algn="r">
              <a:buNone/>
            </a:pPr>
            <a:r>
              <a:rPr sz="1000" b="1">
                <a:solidFill>
                  <a:srgbClr val="1F4E9C"/>
                </a:solidFill>
                <a:latin typeface="Calibri" panose="020F0502020204030204"/>
              </a:rPr>
              <a:t>02</a:t>
            </a:r>
            <a:r>
              <a:rPr sz="1000" b="0">
                <a:solidFill>
                  <a:srgbClr val="7A8294"/>
                </a:solidFill>
                <a:latin typeface="Calibri" panose="020F0502020204030204"/>
              </a:rPr>
              <a:t> / </a:t>
            </a:r>
            <a:r>
              <a:rPr lang="fr-FR" sz="1000" b="0">
                <a:solidFill>
                  <a:srgbClr val="7A8294"/>
                </a:solidFill>
                <a:latin typeface="Calibri" panose="020F0502020204030204"/>
              </a:rPr>
              <a:t>22</a:t>
            </a:r>
            <a:endParaRPr lang="fr-FR" sz="1000" b="0" dirty="0">
              <a:solidFill>
                <a:srgbClr val="7A8294"/>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566928"/>
            <a:ext cx="10058400" cy="274320"/>
          </a:xfrm>
          <a:prstGeom prst="rect">
            <a:avLst/>
          </a:prstGeom>
          <a:noFill/>
        </p:spPr>
        <p:txBody>
          <a:bodyPr wrap="square" lIns="0" tIns="0" rIns="0" bIns="0" rtlCol="0" anchor="ctr"/>
          <a:lstStyle/>
          <a:p>
            <a:pPr marL="0" indent="0">
              <a:buNone/>
            </a:pPr>
            <a:r>
              <a:rPr lang="en-US" sz="1100" b="1" kern="0" spc="300" dirty="0">
                <a:solidFill>
                  <a:srgbClr val="1F4E9C"/>
                </a:solidFill>
                <a:latin typeface="Calibri" panose="020F0502020204030204" pitchFamily="34" charset="0"/>
                <a:ea typeface="Calibri" panose="020F0502020204030204" pitchFamily="34" charset="-122"/>
                <a:cs typeface="Calibri" panose="020F0502020204030204" pitchFamily="34" charset="-120"/>
              </a:rPr>
              <a:t>01  CONTEXTE</a:t>
            </a:r>
            <a:endParaRPr lang="en-US" sz="1100" dirty="0"/>
          </a:p>
        </p:txBody>
      </p:sp>
      <p:sp>
        <p:nvSpPr>
          <p:cNvPr id="3" name="Text 1"/>
          <p:cNvSpPr/>
          <p:nvPr/>
        </p:nvSpPr>
        <p:spPr>
          <a:xfrm>
            <a:off x="640080" y="868680"/>
            <a:ext cx="10881360" cy="685800"/>
          </a:xfrm>
          <a:prstGeom prst="rect">
            <a:avLst/>
          </a:prstGeom>
          <a:noFill/>
        </p:spPr>
        <p:txBody>
          <a:bodyPr wrap="square" lIns="0" tIns="0" rIns="0" bIns="0" rtlCol="0" anchor="ctr"/>
          <a:lstStyle/>
          <a:p>
            <a:pPr marL="0" indent="0">
              <a:buNone/>
            </a:pPr>
            <a:r>
              <a:rPr lang="en-US" sz="3000" b="1" dirty="0">
                <a:solidFill>
                  <a:srgbClr val="12203F"/>
                </a:solidFill>
                <a:latin typeface="Cambria" panose="02040503050406030204" pitchFamily="34" charset="0"/>
                <a:ea typeface="Cambria" panose="02040503050406030204" pitchFamily="34" charset="-122"/>
                <a:cs typeface="Cambria" panose="02040503050406030204" pitchFamily="34" charset="-120"/>
              </a:rPr>
              <a:t>Contexte du projet</a:t>
            </a:r>
            <a:endParaRPr lang="en-US" sz="3000" dirty="0"/>
          </a:p>
        </p:txBody>
      </p:sp>
      <p:pic>
        <p:nvPicPr>
          <p:cNvPr id="4" name="Image 0" descr="preencoded.png"/>
          <p:cNvPicPr>
            <a:picLocks noChangeAspect="1"/>
          </p:cNvPicPr>
          <p:nvPr/>
        </p:nvPicPr>
        <p:blipFill>
          <a:blip r:embed="rId1"/>
          <a:stretch>
            <a:fillRect/>
          </a:stretch>
        </p:blipFill>
        <p:spPr>
          <a:xfrm>
            <a:off x="9832848" y="2286000"/>
            <a:ext cx="2173224" cy="5669280"/>
          </a:xfrm>
          <a:prstGeom prst="rect">
            <a:avLst/>
          </a:prstGeom>
        </p:spPr>
      </p:pic>
      <p:sp>
        <p:nvSpPr>
          <p:cNvPr id="5" name="Text 2"/>
          <p:cNvSpPr/>
          <p:nvPr/>
        </p:nvSpPr>
        <p:spPr>
          <a:xfrm>
            <a:off x="658368" y="1828800"/>
            <a:ext cx="5669280" cy="3840480"/>
          </a:xfrm>
          <a:prstGeom prst="rect">
            <a:avLst/>
          </a:prstGeom>
          <a:noFill/>
        </p:spPr>
        <p:txBody>
          <a:bodyPr wrap="square" lIns="0" tIns="0" rIns="0" bIns="0" rtlCol="0" anchor="t"/>
          <a:lstStyle/>
          <a:p>
            <a:pPr marL="0" indent="0">
              <a:spcAft>
                <a:spcPts val="500"/>
              </a:spcAft>
              <a:buNone/>
            </a:pPr>
            <a:r>
              <a:rPr lang="en-US" sz="1100" b="1" kern="0" spc="200" dirty="0">
                <a:solidFill>
                  <a:srgbClr val="1F4E9C"/>
                </a:solidFill>
              </a:rPr>
              <a:t>ORGANISME D'ACCUEIL</a:t>
            </a:r>
            <a:endParaRPr lang="en-US" sz="1100" dirty="0"/>
          </a:p>
          <a:p>
            <a:pPr marL="0" indent="0">
              <a:spcAft>
                <a:spcPts val="1800"/>
              </a:spcAft>
              <a:buNone/>
            </a:pPr>
            <a:r>
              <a:rPr lang="en-US" sz="1400" dirty="0">
                <a:solidFill>
                  <a:srgbClr val="2A3142"/>
                </a:solidFill>
              </a:rPr>
              <a:t>Axelor SAS</a:t>
            </a:r>
            <a:r>
              <a:rPr lang="fr-FR" altLang="en-US" sz="1400" dirty="0">
                <a:solidFill>
                  <a:srgbClr val="2A3142"/>
                </a:solidFill>
              </a:rPr>
              <a:t>: </a:t>
            </a:r>
            <a:r>
              <a:rPr lang="en-US" sz="1400" dirty="0">
                <a:solidFill>
                  <a:srgbClr val="2A3142"/>
                </a:solidFill>
              </a:rPr>
              <a:t> éditeur français de solutions ERP/CRM/BPM open source, fondé en 2005, présent dans 4 pays (France, Maroc, Inde, Canada)</a:t>
            </a:r>
            <a:endParaRPr lang="en-US" sz="1100" dirty="0"/>
          </a:p>
          <a:p>
            <a:pPr marL="0" indent="0">
              <a:spcAft>
                <a:spcPts val="500"/>
              </a:spcAft>
              <a:buNone/>
            </a:pPr>
            <a:r>
              <a:rPr lang="en-US" sz="1100" b="1" kern="0" spc="200" dirty="0">
                <a:solidFill>
                  <a:srgbClr val="1F4E9C"/>
                </a:solidFill>
              </a:rPr>
              <a:t>CADRE DU PROJET</a:t>
            </a:r>
            <a:endParaRPr lang="en-US" sz="1100" dirty="0"/>
          </a:p>
          <a:p>
            <a:pPr marL="0" indent="0">
              <a:spcAft>
                <a:spcPts val="1800"/>
              </a:spcAft>
              <a:buNone/>
            </a:pPr>
            <a:r>
              <a:rPr lang="en-US" altLang="en-US" sz="1100" dirty="0"/>
              <a:t> </a:t>
            </a:r>
            <a:r>
              <a:rPr lang="en-US" altLang="en-US" sz="1400" dirty="0"/>
              <a:t>Tout déploiement ERP implique une migration des données historiques du client, étape critique qui conditionne la mise en production.</a:t>
            </a:r>
            <a:endParaRPr lang="en-US" sz="1100" dirty="0"/>
          </a:p>
          <a:p>
            <a:pPr marL="0" indent="0">
              <a:spcAft>
                <a:spcPts val="500"/>
              </a:spcAft>
              <a:buNone/>
            </a:pPr>
            <a:r>
              <a:rPr lang="en-US" sz="1100" b="1" kern="0" spc="200" dirty="0">
                <a:solidFill>
                  <a:srgbClr val="1F4E9C"/>
                </a:solidFill>
              </a:rPr>
              <a:t>OBJECTIF</a:t>
            </a:r>
            <a:endParaRPr lang="en-US" sz="1100" dirty="0"/>
          </a:p>
          <a:p>
            <a:pPr marL="0" indent="0">
              <a:buNone/>
            </a:pPr>
            <a:r>
              <a:rPr lang="en-US" altLang="en-US" sz="1400" dirty="0"/>
              <a:t>Participer aux projets d'intégration clients et contribuer à l'effort R&amp;D d'Axelor Maroc.</a:t>
            </a:r>
            <a:endParaRPr lang="en-US" altLang="en-US" sz="1400" dirty="0"/>
          </a:p>
        </p:txBody>
      </p:sp>
      <p:sp>
        <p:nvSpPr>
          <p:cNvPr id="7" name="Text 4"/>
          <p:cNvSpPr/>
          <p:nvPr/>
        </p:nvSpPr>
        <p:spPr>
          <a:xfrm>
            <a:off x="7132320" y="1828800"/>
            <a:ext cx="4114800" cy="3749040"/>
          </a:xfrm>
          <a:prstGeom prst="rect">
            <a:avLst/>
          </a:prstGeom>
          <a:noFill/>
        </p:spPr>
        <p:txBody>
          <a:bodyPr wrap="square" rtlCol="0" anchor="ctr"/>
          <a:lstStyle/>
          <a:p>
            <a:pPr marL="0" indent="0" algn="ctr">
              <a:buNone/>
            </a:pPr>
            <a:endParaRPr lang="en-US" sz="1200" dirty="0"/>
          </a:p>
        </p:txBody>
      </p:sp>
      <p:pic>
        <p:nvPicPr>
          <p:cNvPr id="8" name="Image 1" descr="preencoded.png"/>
          <p:cNvPicPr>
            <a:picLocks noChangeAspect="1"/>
          </p:cNvPicPr>
          <p:nvPr/>
        </p:nvPicPr>
        <p:blipFill>
          <a:blip r:embed="rId2"/>
          <a:stretch>
            <a:fillRect/>
          </a:stretch>
        </p:blipFill>
        <p:spPr>
          <a:xfrm>
            <a:off x="640080" y="6327648"/>
            <a:ext cx="415260" cy="237744"/>
          </a:xfrm>
          <a:prstGeom prst="rect">
            <a:avLst/>
          </a:prstGeom>
        </p:spPr>
      </p:pic>
      <p:sp>
        <p:nvSpPr>
          <p:cNvPr id="9" name="Text 5"/>
          <p:cNvSpPr/>
          <p:nvPr/>
        </p:nvSpPr>
        <p:spPr>
          <a:xfrm>
            <a:off x="1188720" y="6309360"/>
            <a:ext cx="7315200" cy="274320"/>
          </a:xfrm>
          <a:prstGeom prst="rect">
            <a:avLst/>
          </a:prstGeom>
          <a:noFill/>
        </p:spPr>
        <p:txBody>
          <a:bodyPr wrap="square" lIns="0" tIns="0" rIns="0" bIns="0" rtlCol="0" anchor="ctr"/>
          <a:lstStyle/>
          <a:p>
            <a:pPr marL="0" indent="0">
              <a:buNone/>
            </a:pPr>
            <a:r>
              <a:rPr lang="en-US" sz="900" dirty="0">
                <a:solidFill>
                  <a:srgbClr val="7A8294"/>
                </a:solidFill>
                <a:latin typeface="Calibri" panose="020F0502020204030204" pitchFamily="34" charset="0"/>
                <a:ea typeface="Calibri" panose="020F0502020204030204" pitchFamily="34" charset="-122"/>
                <a:cs typeface="Calibri" panose="020F0502020204030204" pitchFamily="34" charset="-120"/>
              </a:rPr>
              <a:t>Projet de Fin d'Études : Génie Informatique</a:t>
            </a:r>
            <a:endParaRPr lang="en-US" sz="900" dirty="0"/>
          </a:p>
        </p:txBody>
      </p:sp>
      <p:sp>
        <p:nvSpPr>
          <p:cNvPr id="10" name="Text 6"/>
          <p:cNvSpPr/>
          <p:nvPr/>
        </p:nvSpPr>
        <p:spPr>
          <a:xfrm>
            <a:off x="10360152" y="6309360"/>
            <a:ext cx="1188720" cy="274320"/>
          </a:xfrm>
          <a:prstGeom prst="rect">
            <a:avLst/>
          </a:prstGeom>
          <a:noFill/>
        </p:spPr>
        <p:txBody>
          <a:bodyPr wrap="square" lIns="0" tIns="0" rIns="0" bIns="0" rtlCol="0" anchor="ctr"/>
          <a:lstStyle/>
          <a:p>
            <a:pPr marL="0" indent="0" algn="r">
              <a:buNone/>
            </a:pPr>
            <a:r>
              <a:rPr sz="1000" b="1">
                <a:solidFill>
                  <a:srgbClr val="1F4E9C"/>
                </a:solidFill>
                <a:latin typeface="Calibri" panose="020F0502020204030204"/>
              </a:rPr>
              <a:t>03</a:t>
            </a:r>
            <a:r>
              <a:rPr sz="1000" b="0">
                <a:solidFill>
                  <a:srgbClr val="7A8294"/>
                </a:solidFill>
                <a:latin typeface="Calibri" panose="020F0502020204030204"/>
              </a:rPr>
              <a:t> / 21</a:t>
            </a:r>
            <a:endParaRPr lang="en-US" sz="1000" dirty="0"/>
          </a:p>
        </p:txBody>
      </p:sp>
      <p:pic>
        <p:nvPicPr>
          <p:cNvPr id="11" name="Picture 10" descr="Siege-Axelor"/>
          <p:cNvPicPr>
            <a:picLocks noChangeAspect="1"/>
          </p:cNvPicPr>
          <p:nvPr/>
        </p:nvPicPr>
        <p:blipFill>
          <a:blip r:embed="rId3"/>
          <a:stretch>
            <a:fillRect/>
          </a:stretch>
        </p:blipFill>
        <p:spPr>
          <a:xfrm>
            <a:off x="7132320" y="1554480"/>
            <a:ext cx="3183890" cy="31838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566928"/>
            <a:ext cx="10058400" cy="274320"/>
          </a:xfrm>
          <a:prstGeom prst="rect">
            <a:avLst/>
          </a:prstGeom>
          <a:noFill/>
        </p:spPr>
        <p:txBody>
          <a:bodyPr wrap="square" lIns="0" tIns="0" rIns="0" bIns="0" rtlCol="0" anchor="ctr"/>
          <a:lstStyle/>
          <a:p>
            <a:pPr marL="0" indent="0">
              <a:buNone/>
            </a:pPr>
            <a:r>
              <a:rPr lang="en-US" sz="1100" b="1" kern="0" spc="300" dirty="0">
                <a:solidFill>
                  <a:srgbClr val="1F4E9C"/>
                </a:solidFill>
                <a:latin typeface="Calibri" panose="020F0502020204030204" pitchFamily="34" charset="0"/>
                <a:ea typeface="Calibri" panose="020F0502020204030204" pitchFamily="34" charset="-122"/>
                <a:cs typeface="Calibri" panose="020F0502020204030204" pitchFamily="34" charset="-120"/>
              </a:rPr>
              <a:t>02  PROBLÉMATIQUE</a:t>
            </a:r>
            <a:endParaRPr lang="en-US" sz="1100" dirty="0"/>
          </a:p>
        </p:txBody>
      </p:sp>
      <p:sp>
        <p:nvSpPr>
          <p:cNvPr id="3" name="Text 1"/>
          <p:cNvSpPr/>
          <p:nvPr/>
        </p:nvSpPr>
        <p:spPr>
          <a:xfrm>
            <a:off x="640080" y="868680"/>
            <a:ext cx="10881360" cy="685800"/>
          </a:xfrm>
          <a:prstGeom prst="rect">
            <a:avLst/>
          </a:prstGeom>
          <a:noFill/>
        </p:spPr>
        <p:txBody>
          <a:bodyPr wrap="square" lIns="0" tIns="0" rIns="0" bIns="0" rtlCol="0" anchor="ctr"/>
          <a:lstStyle/>
          <a:p>
            <a:pPr marL="0" indent="0">
              <a:buNone/>
            </a:pPr>
            <a:r>
              <a:rPr lang="en-US" sz="3000" b="1" dirty="0">
                <a:solidFill>
                  <a:srgbClr val="12203F"/>
                </a:solidFill>
                <a:latin typeface="Cambria" panose="02040503050406030204" pitchFamily="34" charset="0"/>
                <a:ea typeface="Cambria" panose="02040503050406030204" pitchFamily="34" charset="-122"/>
                <a:cs typeface="Cambria" panose="02040503050406030204" pitchFamily="34" charset="-120"/>
              </a:rPr>
              <a:t>Le problème à résoudre</a:t>
            </a:r>
            <a:endParaRPr lang="en-US" sz="3000" dirty="0"/>
          </a:p>
        </p:txBody>
      </p:sp>
      <p:pic>
        <p:nvPicPr>
          <p:cNvPr id="4" name="Image 0" descr="preencoded.png"/>
          <p:cNvPicPr>
            <a:picLocks noChangeAspect="1"/>
          </p:cNvPicPr>
          <p:nvPr/>
        </p:nvPicPr>
        <p:blipFill>
          <a:blip r:embed="rId1"/>
          <a:stretch>
            <a:fillRect/>
          </a:stretch>
        </p:blipFill>
        <p:spPr>
          <a:xfrm>
            <a:off x="9832848" y="2286000"/>
            <a:ext cx="2173224" cy="5669280"/>
          </a:xfrm>
          <a:prstGeom prst="rect">
            <a:avLst/>
          </a:prstGeom>
        </p:spPr>
      </p:pic>
      <p:sp>
        <p:nvSpPr>
          <p:cNvPr id="5" name="Text 2"/>
          <p:cNvSpPr/>
          <p:nvPr/>
        </p:nvSpPr>
        <p:spPr>
          <a:xfrm>
            <a:off x="548640" y="1326515"/>
            <a:ext cx="914400" cy="914400"/>
          </a:xfrm>
          <a:prstGeom prst="rect">
            <a:avLst/>
          </a:prstGeom>
          <a:noFill/>
        </p:spPr>
        <p:txBody>
          <a:bodyPr wrap="square" lIns="0" tIns="0" rIns="0" bIns="0" rtlCol="0" anchor="ctr"/>
          <a:lstStyle/>
          <a:p>
            <a:pPr marL="0" indent="0">
              <a:buNone/>
            </a:pPr>
            <a:r>
              <a:rPr lang="en-US" sz="6400" b="1" dirty="0">
                <a:solidFill>
                  <a:srgbClr val="1F4E9C"/>
                </a:solidFill>
                <a:latin typeface="Cambria" panose="02040503050406030204" pitchFamily="34" charset="0"/>
                <a:ea typeface="Cambria" panose="02040503050406030204" pitchFamily="34" charset="-122"/>
                <a:cs typeface="Cambria" panose="02040503050406030204" pitchFamily="34" charset="-120"/>
              </a:rPr>
              <a:t>«</a:t>
            </a:r>
            <a:endParaRPr lang="en-US" sz="6400" dirty="0"/>
          </a:p>
        </p:txBody>
      </p:sp>
      <p:sp>
        <p:nvSpPr>
          <p:cNvPr id="6" name="Text 3"/>
          <p:cNvSpPr/>
          <p:nvPr/>
        </p:nvSpPr>
        <p:spPr>
          <a:xfrm>
            <a:off x="1371600" y="1289050"/>
            <a:ext cx="9692640" cy="1554480"/>
          </a:xfrm>
          <a:prstGeom prst="rect">
            <a:avLst/>
          </a:prstGeom>
          <a:noFill/>
        </p:spPr>
        <p:txBody>
          <a:bodyPr wrap="square" lIns="0" tIns="0" rIns="0" bIns="0" rtlCol="0" anchor="ctr"/>
          <a:lstStyle/>
          <a:p>
            <a:pPr marL="0" indent="0">
              <a:buNone/>
            </a:pPr>
            <a:r>
              <a:rPr lang="en-US" sz="2400" i="1" dirty="0">
                <a:solidFill>
                  <a:srgbClr val="12203F"/>
                </a:solidFill>
                <a:latin typeface="Cambria" panose="02040503050406030204" pitchFamily="34" charset="0"/>
                <a:ea typeface="Cambria" panose="02040503050406030204" pitchFamily="34" charset="-122"/>
                <a:cs typeface="Cambria" panose="02040503050406030204" pitchFamily="34" charset="-120"/>
              </a:rPr>
              <a:t>Comment concevoir un framework ETL générique qui </a:t>
            </a:r>
            <a:r>
              <a:rPr lang="fr-FR" altLang="en-US" sz="2400" i="1" dirty="0">
                <a:solidFill>
                  <a:srgbClr val="12203F"/>
                </a:solidFill>
                <a:latin typeface="Cambria" panose="02040503050406030204" pitchFamily="34" charset="0"/>
                <a:ea typeface="Cambria" panose="02040503050406030204" pitchFamily="34" charset="-122"/>
                <a:cs typeface="Cambria" panose="02040503050406030204" pitchFamily="34" charset="-120"/>
              </a:rPr>
              <a:t>standarise la migration de donn</a:t>
            </a:r>
            <a:r>
              <a:rPr lang="en-US" altLang="en-US" sz="2400" dirty="0">
                <a:sym typeface="+mn-ea"/>
              </a:rPr>
              <a:t>é</a:t>
            </a:r>
            <a:r>
              <a:rPr lang="fr-FR" altLang="en-US" sz="2400" dirty="0">
                <a:sym typeface="+mn-ea"/>
              </a:rPr>
              <a:t>s vers Axelor</a:t>
            </a:r>
            <a:r>
              <a:rPr lang="en-US" sz="2400" i="1" dirty="0">
                <a:solidFill>
                  <a:srgbClr val="12203F"/>
                </a:solidFill>
                <a:latin typeface="Cambria" panose="02040503050406030204" pitchFamily="34" charset="0"/>
                <a:ea typeface="Cambria" panose="02040503050406030204" pitchFamily="34" charset="-122"/>
                <a:cs typeface="Cambria" panose="02040503050406030204" pitchFamily="34" charset="-120"/>
              </a:rPr>
              <a:t> </a:t>
            </a:r>
            <a:r>
              <a:rPr lang="fr-FR" altLang="en-US" sz="2400" i="1" dirty="0">
                <a:solidFill>
                  <a:srgbClr val="12203F"/>
                </a:solidFill>
                <a:latin typeface="Cambria" panose="02040503050406030204" pitchFamily="34" charset="0"/>
                <a:ea typeface="Cambria" panose="02040503050406030204" pitchFamily="34" charset="-122"/>
                <a:cs typeface="Cambria" panose="02040503050406030204" pitchFamily="34" charset="-120"/>
              </a:rPr>
              <a:t>et automatise la configuration gr</a:t>
            </a:r>
            <a:r>
              <a:rPr lang="en-US" altLang="en-US" sz="2400" dirty="0">
                <a:sym typeface="+mn-ea"/>
              </a:rPr>
              <a:t>â</a:t>
            </a:r>
            <a:r>
              <a:rPr lang="fr-FR" altLang="en-US" sz="2400" dirty="0">
                <a:sym typeface="+mn-ea"/>
              </a:rPr>
              <a:t>ce</a:t>
            </a:r>
            <a:r>
              <a:rPr lang="en-US" sz="2400" i="1" dirty="0">
                <a:solidFill>
                  <a:srgbClr val="12203F"/>
                </a:solidFill>
                <a:latin typeface="Cambria" panose="02040503050406030204" pitchFamily="34" charset="0"/>
                <a:ea typeface="Cambria" panose="02040503050406030204" pitchFamily="34" charset="-122"/>
                <a:cs typeface="Cambria" panose="02040503050406030204" pitchFamily="34" charset="-120"/>
              </a:rPr>
              <a:t> </a:t>
            </a:r>
            <a:r>
              <a:rPr lang="en-US" altLang="en-US" sz="2400" dirty="0">
                <a:sym typeface="+mn-ea"/>
              </a:rPr>
              <a:t>à </a:t>
            </a:r>
            <a:r>
              <a:rPr lang="en-US" sz="2400" i="1" dirty="0">
                <a:solidFill>
                  <a:srgbClr val="12203F"/>
                </a:solidFill>
                <a:latin typeface="Cambria" panose="02040503050406030204" pitchFamily="34" charset="0"/>
                <a:ea typeface="Cambria" panose="02040503050406030204" pitchFamily="34" charset="-122"/>
                <a:cs typeface="Cambria" panose="02040503050406030204" pitchFamily="34" charset="-120"/>
              </a:rPr>
              <a:t>des agents IA ?</a:t>
            </a:r>
            <a:endParaRPr lang="en-US" sz="2400" dirty="0"/>
          </a:p>
        </p:txBody>
      </p:sp>
      <p:sp>
        <p:nvSpPr>
          <p:cNvPr id="7" name="Text 4"/>
          <p:cNvSpPr/>
          <p:nvPr/>
        </p:nvSpPr>
        <p:spPr>
          <a:xfrm>
            <a:off x="658368" y="2845435"/>
            <a:ext cx="10058400" cy="274320"/>
          </a:xfrm>
          <a:prstGeom prst="rect">
            <a:avLst/>
          </a:prstGeom>
          <a:noFill/>
        </p:spPr>
        <p:txBody>
          <a:bodyPr wrap="square" lIns="0" tIns="0" rIns="0" bIns="0" rtlCol="0" anchor="ctr"/>
          <a:lstStyle/>
          <a:p>
            <a:pPr marL="0" indent="0">
              <a:buNone/>
            </a:pPr>
            <a:r>
              <a:rPr lang="en-US" sz="1100" b="1" kern="0" spc="200" dirty="0">
                <a:solidFill>
                  <a:srgbClr val="1F4E9C"/>
                </a:solidFill>
                <a:latin typeface="Calibri" panose="020F0502020204030204" pitchFamily="34" charset="0"/>
                <a:ea typeface="Calibri" panose="020F0502020204030204" pitchFamily="34" charset="-122"/>
                <a:cs typeface="Calibri" panose="020F0502020204030204" pitchFamily="34" charset="-120"/>
              </a:rPr>
              <a:t>LIMITES DE L'EXISTANT</a:t>
            </a:r>
            <a:endParaRPr lang="en-US" sz="1100" dirty="0"/>
          </a:p>
        </p:txBody>
      </p:sp>
      <p:sp>
        <p:nvSpPr>
          <p:cNvPr id="8" name="Text 5"/>
          <p:cNvSpPr/>
          <p:nvPr/>
        </p:nvSpPr>
        <p:spPr>
          <a:xfrm>
            <a:off x="658368" y="3042920"/>
            <a:ext cx="731520" cy="548640"/>
          </a:xfrm>
          <a:prstGeom prst="rect">
            <a:avLst/>
          </a:prstGeom>
          <a:noFill/>
        </p:spPr>
        <p:txBody>
          <a:bodyPr wrap="square" lIns="0" tIns="0" rIns="0" bIns="0" rtlCol="0" anchor="ctr"/>
          <a:lstStyle/>
          <a:p>
            <a:pPr marL="0" indent="0">
              <a:buNone/>
            </a:pPr>
            <a:r>
              <a:rPr lang="en-US" sz="2200" b="1" dirty="0">
                <a:solidFill>
                  <a:srgbClr val="D9DEE7"/>
                </a:solidFill>
                <a:latin typeface="Cambria" panose="02040503050406030204" pitchFamily="34" charset="0"/>
                <a:ea typeface="Cambria" panose="02040503050406030204" pitchFamily="34" charset="-122"/>
                <a:cs typeface="Cambria" panose="02040503050406030204" pitchFamily="34" charset="-120"/>
              </a:rPr>
              <a:t>01</a:t>
            </a:r>
            <a:endParaRPr lang="en-US" sz="2200" dirty="0"/>
          </a:p>
        </p:txBody>
      </p:sp>
      <p:sp>
        <p:nvSpPr>
          <p:cNvPr id="9" name="Text 6"/>
          <p:cNvSpPr/>
          <p:nvPr/>
        </p:nvSpPr>
        <p:spPr>
          <a:xfrm>
            <a:off x="704088" y="3490595"/>
            <a:ext cx="3291840" cy="365760"/>
          </a:xfrm>
          <a:prstGeom prst="rect">
            <a:avLst/>
          </a:prstGeom>
          <a:noFill/>
        </p:spPr>
        <p:txBody>
          <a:bodyPr wrap="square" lIns="0" tIns="0" rIns="0" bIns="0" rtlCol="0" anchor="ctr"/>
          <a:lstStyle/>
          <a:p>
            <a:pPr marL="0" indent="0">
              <a:buNone/>
            </a:pPr>
            <a:r>
              <a:rPr lang="en-US" sz="1500" b="1" dirty="0">
                <a:solidFill>
                  <a:srgbClr val="12203F"/>
                </a:solidFill>
                <a:latin typeface="Cambria" panose="02040503050406030204" pitchFamily="34" charset="0"/>
                <a:ea typeface="Cambria" panose="02040503050406030204" pitchFamily="34" charset="-122"/>
                <a:cs typeface="Cambria" panose="02040503050406030204" pitchFamily="34" charset="-120"/>
              </a:rPr>
              <a:t>Coût élevé</a:t>
            </a:r>
            <a:endParaRPr lang="en-US" sz="1500" dirty="0"/>
          </a:p>
        </p:txBody>
      </p:sp>
      <p:sp>
        <p:nvSpPr>
          <p:cNvPr id="10" name="Text 7"/>
          <p:cNvSpPr/>
          <p:nvPr/>
        </p:nvSpPr>
        <p:spPr>
          <a:xfrm>
            <a:off x="704088" y="3872230"/>
            <a:ext cx="3291840" cy="822960"/>
          </a:xfrm>
          <a:prstGeom prst="rect">
            <a:avLst/>
          </a:prstGeom>
          <a:noFill/>
        </p:spPr>
        <p:txBody>
          <a:bodyPr wrap="square" lIns="0" tIns="0" rIns="0" bIns="0" rtlCol="0" anchor="t"/>
          <a:lstStyle/>
          <a:p>
            <a:pPr marL="0" indent="0">
              <a:buNone/>
            </a:pPr>
            <a:r>
              <a:rPr 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rPr>
              <a:t>20+ scripts Java </a:t>
            </a:r>
            <a:r>
              <a:rPr lang="en-US" alt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rPr>
              <a:t>développés sur mesure par projet, mobilisant des ressources d'ingénierie significatives</a:t>
            </a:r>
            <a:endParaRPr lang="en-US" altLang="en-US" sz="1200" dirty="0">
              <a:solidFill>
                <a:srgbClr val="2A3142"/>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8"/>
          <p:cNvSpPr/>
          <p:nvPr/>
        </p:nvSpPr>
        <p:spPr>
          <a:xfrm>
            <a:off x="4315968" y="3042920"/>
            <a:ext cx="731520" cy="548640"/>
          </a:xfrm>
          <a:prstGeom prst="rect">
            <a:avLst/>
          </a:prstGeom>
          <a:noFill/>
        </p:spPr>
        <p:txBody>
          <a:bodyPr wrap="square" lIns="0" tIns="0" rIns="0" bIns="0" rtlCol="0" anchor="ctr"/>
          <a:lstStyle/>
          <a:p>
            <a:pPr marL="0" indent="0">
              <a:buNone/>
            </a:pPr>
            <a:r>
              <a:rPr lang="en-US" sz="2200" b="1" dirty="0">
                <a:solidFill>
                  <a:srgbClr val="D9DEE7"/>
                </a:solidFill>
                <a:latin typeface="Cambria" panose="02040503050406030204" pitchFamily="34" charset="0"/>
                <a:ea typeface="Cambria" panose="02040503050406030204" pitchFamily="34" charset="-122"/>
                <a:cs typeface="Cambria" panose="02040503050406030204" pitchFamily="34" charset="-120"/>
              </a:rPr>
              <a:t>02</a:t>
            </a:r>
            <a:endParaRPr lang="en-US" sz="2200" dirty="0"/>
          </a:p>
        </p:txBody>
      </p:sp>
      <p:sp>
        <p:nvSpPr>
          <p:cNvPr id="12" name="Text 9"/>
          <p:cNvSpPr/>
          <p:nvPr/>
        </p:nvSpPr>
        <p:spPr>
          <a:xfrm>
            <a:off x="4361688" y="3490595"/>
            <a:ext cx="3291840" cy="365760"/>
          </a:xfrm>
          <a:prstGeom prst="rect">
            <a:avLst/>
          </a:prstGeom>
          <a:noFill/>
        </p:spPr>
        <p:txBody>
          <a:bodyPr wrap="square" lIns="0" tIns="0" rIns="0" bIns="0" rtlCol="0" anchor="ctr"/>
          <a:lstStyle/>
          <a:p>
            <a:pPr marL="0" indent="0">
              <a:buNone/>
            </a:pPr>
            <a:r>
              <a:rPr lang="en-US" altLang="en-US" sz="1500" b="1" dirty="0">
                <a:solidFill>
                  <a:srgbClr val="12203F"/>
                </a:solidFill>
                <a:latin typeface="Cambria" panose="02040503050406030204" pitchFamily="34" charset="0"/>
                <a:ea typeface="Cambria" panose="02040503050406030204" pitchFamily="34" charset="-122"/>
                <a:cs typeface="Cambria" panose="02040503050406030204" pitchFamily="34" charset="-120"/>
              </a:rPr>
              <a:t> Non-réutilisabilité</a:t>
            </a:r>
            <a:r>
              <a:rPr lang="fr-FR" altLang="en-US" sz="1500" b="1" dirty="0">
                <a:solidFill>
                  <a:srgbClr val="12203F"/>
                </a:solidFill>
                <a:latin typeface="Cambria" panose="02040503050406030204" pitchFamily="34" charset="0"/>
                <a:ea typeface="Cambria" panose="02040503050406030204" pitchFamily="34" charset="-122"/>
                <a:cs typeface="Cambria" panose="02040503050406030204" pitchFamily="34" charset="-120"/>
              </a:rPr>
              <a:t> </a:t>
            </a:r>
            <a:endParaRPr lang="en-US" sz="1500" dirty="0"/>
          </a:p>
        </p:txBody>
      </p:sp>
      <p:sp>
        <p:nvSpPr>
          <p:cNvPr id="13" name="Text 10"/>
          <p:cNvSpPr/>
          <p:nvPr/>
        </p:nvSpPr>
        <p:spPr>
          <a:xfrm>
            <a:off x="4361688" y="3872230"/>
            <a:ext cx="3291840" cy="822960"/>
          </a:xfrm>
          <a:prstGeom prst="rect">
            <a:avLst/>
          </a:prstGeom>
          <a:noFill/>
        </p:spPr>
        <p:txBody>
          <a:bodyPr wrap="square" lIns="0" tIns="0" rIns="0" bIns="0" rtlCol="0" anchor="t"/>
          <a:lstStyle/>
          <a:p>
            <a:pPr marL="0" indent="0">
              <a:buNone/>
            </a:pPr>
            <a:r>
              <a:rPr lang="en-US" altLang="en-US" sz="1200" dirty="0"/>
              <a:t> Les scripts d'un projet ne sont pas réutilisables sur le suivant, même lorsque les structures de données sont similaires</a:t>
            </a:r>
            <a:endParaRPr lang="en-US" altLang="en-US" sz="1200" dirty="0"/>
          </a:p>
        </p:txBody>
      </p:sp>
      <p:sp>
        <p:nvSpPr>
          <p:cNvPr id="14" name="Text 11"/>
          <p:cNvSpPr/>
          <p:nvPr/>
        </p:nvSpPr>
        <p:spPr>
          <a:xfrm>
            <a:off x="7973568" y="3061335"/>
            <a:ext cx="731520" cy="548640"/>
          </a:xfrm>
          <a:prstGeom prst="rect">
            <a:avLst/>
          </a:prstGeom>
          <a:noFill/>
        </p:spPr>
        <p:txBody>
          <a:bodyPr wrap="square" lIns="0" tIns="0" rIns="0" bIns="0" rtlCol="0" anchor="ctr"/>
          <a:lstStyle/>
          <a:p>
            <a:pPr marL="0" indent="0">
              <a:buNone/>
            </a:pPr>
            <a:r>
              <a:rPr lang="en-US" sz="2200" b="1" dirty="0">
                <a:solidFill>
                  <a:srgbClr val="D9DEE7"/>
                </a:solidFill>
                <a:latin typeface="Cambria" panose="02040503050406030204" pitchFamily="34" charset="0"/>
                <a:ea typeface="Cambria" panose="02040503050406030204" pitchFamily="34" charset="-122"/>
                <a:cs typeface="Cambria" panose="02040503050406030204" pitchFamily="34" charset="-120"/>
              </a:rPr>
              <a:t>03</a:t>
            </a:r>
            <a:endParaRPr lang="en-US" sz="2200" dirty="0"/>
          </a:p>
        </p:txBody>
      </p:sp>
      <p:sp>
        <p:nvSpPr>
          <p:cNvPr id="15" name="Text 12"/>
          <p:cNvSpPr/>
          <p:nvPr/>
        </p:nvSpPr>
        <p:spPr>
          <a:xfrm>
            <a:off x="8019288" y="3490595"/>
            <a:ext cx="3291840" cy="365760"/>
          </a:xfrm>
          <a:prstGeom prst="rect">
            <a:avLst/>
          </a:prstGeom>
          <a:noFill/>
        </p:spPr>
        <p:txBody>
          <a:bodyPr wrap="square" lIns="0" tIns="0" rIns="0" bIns="0" rtlCol="0" anchor="ctr"/>
          <a:lstStyle/>
          <a:p>
            <a:pPr marL="0" indent="0">
              <a:buNone/>
            </a:pPr>
            <a:r>
              <a:rPr lang="en-US" sz="1500" b="1" dirty="0">
                <a:solidFill>
                  <a:srgbClr val="12203F"/>
                </a:solidFill>
                <a:latin typeface="Cambria" panose="02040503050406030204" pitchFamily="34" charset="0"/>
                <a:ea typeface="Cambria" panose="02040503050406030204" pitchFamily="34" charset="-122"/>
                <a:cs typeface="Cambria" panose="02040503050406030204" pitchFamily="34" charset="-120"/>
              </a:rPr>
              <a:t>Performance limitée</a:t>
            </a:r>
            <a:endParaRPr lang="en-US" sz="1500" dirty="0"/>
          </a:p>
        </p:txBody>
      </p:sp>
      <p:sp>
        <p:nvSpPr>
          <p:cNvPr id="16" name="Text 13"/>
          <p:cNvSpPr/>
          <p:nvPr/>
        </p:nvSpPr>
        <p:spPr>
          <a:xfrm>
            <a:off x="8019288" y="3872230"/>
            <a:ext cx="3291840" cy="822960"/>
          </a:xfrm>
          <a:prstGeom prst="rect">
            <a:avLst/>
          </a:prstGeom>
          <a:noFill/>
        </p:spPr>
        <p:txBody>
          <a:bodyPr wrap="square" lIns="0" tIns="0" rIns="0" bIns="0" rtlCol="0" anchor="t"/>
          <a:lstStyle/>
          <a:p>
            <a:pPr marL="0" indent="0">
              <a:buNone/>
            </a:pPr>
            <a:r>
              <a:rPr lang="en-US" altLang="en-US" sz="1200" dirty="0"/>
              <a:t>L'import natif Axelor, passant par la couche ORM, devient lent sur les grandes volumétries</a:t>
            </a:r>
            <a:endParaRPr lang="en-US" altLang="en-US" sz="1200" dirty="0"/>
          </a:p>
        </p:txBody>
      </p:sp>
      <p:pic>
        <p:nvPicPr>
          <p:cNvPr id="17" name="Image 1" descr="preencoded.png"/>
          <p:cNvPicPr>
            <a:picLocks noChangeAspect="1"/>
          </p:cNvPicPr>
          <p:nvPr/>
        </p:nvPicPr>
        <p:blipFill>
          <a:blip r:embed="rId2"/>
          <a:stretch>
            <a:fillRect/>
          </a:stretch>
        </p:blipFill>
        <p:spPr>
          <a:xfrm>
            <a:off x="640080" y="6327648"/>
            <a:ext cx="415260" cy="237744"/>
          </a:xfrm>
          <a:prstGeom prst="rect">
            <a:avLst/>
          </a:prstGeom>
        </p:spPr>
      </p:pic>
      <p:sp>
        <p:nvSpPr>
          <p:cNvPr id="18" name="Text 14"/>
          <p:cNvSpPr/>
          <p:nvPr/>
        </p:nvSpPr>
        <p:spPr>
          <a:xfrm>
            <a:off x="1188720" y="6309360"/>
            <a:ext cx="7315200" cy="274320"/>
          </a:xfrm>
          <a:prstGeom prst="rect">
            <a:avLst/>
          </a:prstGeom>
          <a:noFill/>
        </p:spPr>
        <p:txBody>
          <a:bodyPr wrap="square" lIns="0" tIns="0" rIns="0" bIns="0" rtlCol="0" anchor="ctr"/>
          <a:lstStyle/>
          <a:p>
            <a:pPr marL="0" indent="0">
              <a:buNone/>
            </a:pPr>
            <a:r>
              <a:rPr lang="en-US" sz="900" dirty="0">
                <a:solidFill>
                  <a:srgbClr val="7A8294"/>
                </a:solidFill>
                <a:latin typeface="Calibri" panose="020F0502020204030204" pitchFamily="34" charset="0"/>
                <a:ea typeface="Calibri" panose="020F0502020204030204" pitchFamily="34" charset="-122"/>
                <a:cs typeface="Calibri" panose="020F0502020204030204" pitchFamily="34" charset="-120"/>
              </a:rPr>
              <a:t>Projet de Fin d'Études : Génie Informatique</a:t>
            </a:r>
            <a:endParaRPr lang="en-US" sz="900" dirty="0"/>
          </a:p>
        </p:txBody>
      </p:sp>
      <p:sp>
        <p:nvSpPr>
          <p:cNvPr id="19" name="Text 15"/>
          <p:cNvSpPr/>
          <p:nvPr/>
        </p:nvSpPr>
        <p:spPr>
          <a:xfrm>
            <a:off x="10360152" y="6309360"/>
            <a:ext cx="1188720" cy="274320"/>
          </a:xfrm>
          <a:prstGeom prst="rect">
            <a:avLst/>
          </a:prstGeom>
          <a:noFill/>
        </p:spPr>
        <p:txBody>
          <a:bodyPr wrap="square" lIns="0" tIns="0" rIns="0" bIns="0" rtlCol="0" anchor="ctr"/>
          <a:lstStyle/>
          <a:p>
            <a:pPr marL="0" indent="0" algn="r">
              <a:buNone/>
            </a:pPr>
            <a:r>
              <a:rPr sz="1000" b="1">
                <a:solidFill>
                  <a:srgbClr val="1F4E9C"/>
                </a:solidFill>
                <a:latin typeface="Calibri" panose="020F0502020204030204"/>
              </a:rPr>
              <a:t>04</a:t>
            </a:r>
            <a:r>
              <a:rPr sz="1000" b="0">
                <a:solidFill>
                  <a:srgbClr val="7A8294"/>
                </a:solidFill>
                <a:latin typeface="Calibri" panose="020F0502020204030204"/>
              </a:rPr>
              <a:t> / 21</a:t>
            </a:r>
            <a:endParaRPr lang="en-US" sz="1000" dirty="0"/>
          </a:p>
        </p:txBody>
      </p:sp>
      <p:pic>
        <p:nvPicPr>
          <p:cNvPr id="20" name="Picture 19"/>
          <p:cNvPicPr>
            <a:picLocks noChangeAspect="1"/>
          </p:cNvPicPr>
          <p:nvPr/>
        </p:nvPicPr>
        <p:blipFill>
          <a:blip r:embed="rId3"/>
          <a:stretch>
            <a:fillRect/>
          </a:stretch>
        </p:blipFill>
        <p:spPr>
          <a:xfrm>
            <a:off x="3385185" y="4522470"/>
            <a:ext cx="4968240" cy="16383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566928"/>
            <a:ext cx="10058400" cy="274320"/>
          </a:xfrm>
          <a:prstGeom prst="rect">
            <a:avLst/>
          </a:prstGeom>
          <a:noFill/>
        </p:spPr>
        <p:txBody>
          <a:bodyPr wrap="square" lIns="0" tIns="0" rIns="0" bIns="0" rtlCol="0" anchor="ctr"/>
          <a:lstStyle/>
          <a:p>
            <a:pPr marL="0" indent="0">
              <a:buNone/>
            </a:pPr>
            <a:r>
              <a:rPr lang="en-US" sz="1100" b="1" kern="0" spc="300" dirty="0">
                <a:solidFill>
                  <a:srgbClr val="1F4E9C"/>
                </a:solidFill>
                <a:latin typeface="Calibri" panose="020F0502020204030204" pitchFamily="34" charset="0"/>
                <a:ea typeface="Calibri" panose="020F0502020204030204" pitchFamily="34" charset="-122"/>
                <a:cs typeface="Calibri" panose="020F0502020204030204" pitchFamily="34" charset="-120"/>
              </a:rPr>
              <a:t>03  MÉTHODOLOGIE</a:t>
            </a:r>
            <a:endParaRPr lang="en-US" sz="1100" dirty="0"/>
          </a:p>
        </p:txBody>
      </p:sp>
      <p:sp>
        <p:nvSpPr>
          <p:cNvPr id="3" name="Text 1"/>
          <p:cNvSpPr/>
          <p:nvPr/>
        </p:nvSpPr>
        <p:spPr>
          <a:xfrm>
            <a:off x="640080" y="868680"/>
            <a:ext cx="10881360" cy="685800"/>
          </a:xfrm>
          <a:prstGeom prst="rect">
            <a:avLst/>
          </a:prstGeom>
          <a:noFill/>
        </p:spPr>
        <p:txBody>
          <a:bodyPr wrap="square" lIns="0" tIns="0" rIns="0" bIns="0" rtlCol="0" anchor="ctr"/>
          <a:lstStyle/>
          <a:p>
            <a:pPr marL="0" indent="0">
              <a:buNone/>
            </a:pPr>
            <a:r>
              <a:rPr lang="en-US" sz="3000" b="1" dirty="0">
                <a:solidFill>
                  <a:srgbClr val="12203F"/>
                </a:solidFill>
                <a:latin typeface="Cambria" panose="02040503050406030204" pitchFamily="34" charset="0"/>
                <a:ea typeface="Cambria" panose="02040503050406030204" pitchFamily="34" charset="-122"/>
                <a:cs typeface="Cambria" panose="02040503050406030204" pitchFamily="34" charset="-120"/>
              </a:rPr>
              <a:t>Approche méthodologique</a:t>
            </a:r>
            <a:endParaRPr lang="en-US" sz="3000" dirty="0"/>
          </a:p>
        </p:txBody>
      </p:sp>
      <p:pic>
        <p:nvPicPr>
          <p:cNvPr id="4" name="Image 0" descr="preencoded.png"/>
          <p:cNvPicPr>
            <a:picLocks noChangeAspect="1"/>
          </p:cNvPicPr>
          <p:nvPr/>
        </p:nvPicPr>
        <p:blipFill>
          <a:blip r:embed="rId1"/>
          <a:stretch>
            <a:fillRect/>
          </a:stretch>
        </p:blipFill>
        <p:spPr>
          <a:xfrm>
            <a:off x="9832848" y="2286000"/>
            <a:ext cx="2173224" cy="5669280"/>
          </a:xfrm>
          <a:prstGeom prst="rect">
            <a:avLst/>
          </a:prstGeom>
        </p:spPr>
      </p:pic>
      <p:sp>
        <p:nvSpPr>
          <p:cNvPr id="5" name="Shape 2"/>
          <p:cNvSpPr/>
          <p:nvPr/>
        </p:nvSpPr>
        <p:spPr>
          <a:xfrm>
            <a:off x="868680" y="3200400"/>
            <a:ext cx="10451592" cy="0"/>
          </a:xfrm>
          <a:prstGeom prst="line">
            <a:avLst/>
          </a:prstGeom>
          <a:noFill/>
          <a:ln w="15875">
            <a:solidFill>
              <a:srgbClr val="D9DEE7"/>
            </a:solidFill>
            <a:prstDash val="solid"/>
          </a:ln>
        </p:spPr>
      </p:sp>
      <p:sp>
        <p:nvSpPr>
          <p:cNvPr id="6" name="Shape 3"/>
          <p:cNvSpPr/>
          <p:nvPr/>
        </p:nvSpPr>
        <p:spPr>
          <a:xfrm>
            <a:off x="786384" y="3118104"/>
            <a:ext cx="164592" cy="164592"/>
          </a:xfrm>
          <a:prstGeom prst="ellipse">
            <a:avLst/>
          </a:prstGeom>
          <a:solidFill>
            <a:srgbClr val="1F4E9C"/>
          </a:solidFill>
        </p:spPr>
      </p:sp>
      <p:sp>
        <p:nvSpPr>
          <p:cNvPr id="7" name="Text 4"/>
          <p:cNvSpPr/>
          <p:nvPr/>
        </p:nvSpPr>
        <p:spPr>
          <a:xfrm>
            <a:off x="411480" y="2331720"/>
            <a:ext cx="914400" cy="365760"/>
          </a:xfrm>
          <a:prstGeom prst="rect">
            <a:avLst/>
          </a:prstGeom>
          <a:noFill/>
        </p:spPr>
        <p:txBody>
          <a:bodyPr wrap="square" lIns="0" tIns="0" rIns="0" bIns="0" rtlCol="0" anchor="ctr"/>
          <a:lstStyle/>
          <a:p>
            <a:pPr marL="0" indent="0" algn="ctr">
              <a:buNone/>
            </a:pPr>
            <a:r>
              <a:rPr lang="en-US" sz="1800" b="1" dirty="0">
                <a:solidFill>
                  <a:srgbClr val="1F4E9C"/>
                </a:solidFill>
                <a:latin typeface="Cambria" panose="02040503050406030204" pitchFamily="34" charset="0"/>
                <a:ea typeface="Cambria" panose="02040503050406030204" pitchFamily="34" charset="-122"/>
                <a:cs typeface="Cambria" panose="02040503050406030204" pitchFamily="34" charset="-120"/>
              </a:rPr>
              <a:t>1</a:t>
            </a:r>
            <a:endParaRPr lang="en-US" sz="1800" dirty="0"/>
          </a:p>
        </p:txBody>
      </p:sp>
      <p:sp>
        <p:nvSpPr>
          <p:cNvPr id="8" name="Text 5"/>
          <p:cNvSpPr/>
          <p:nvPr/>
        </p:nvSpPr>
        <p:spPr>
          <a:xfrm>
            <a:off x="-45720" y="3429000"/>
            <a:ext cx="1828800" cy="320040"/>
          </a:xfrm>
          <a:prstGeom prst="rect">
            <a:avLst/>
          </a:prstGeom>
          <a:noFill/>
        </p:spPr>
        <p:txBody>
          <a:bodyPr wrap="square" lIns="0" tIns="0" rIns="0" bIns="0" rtlCol="0" anchor="ctr"/>
          <a:lstStyle/>
          <a:p>
            <a:pPr marL="0" indent="0" algn="ctr">
              <a:buNone/>
            </a:pPr>
            <a:r>
              <a:rPr lang="en-US" sz="1400" b="1" dirty="0">
                <a:solidFill>
                  <a:srgbClr val="12203F"/>
                </a:solidFill>
                <a:latin typeface="Cambria" panose="02040503050406030204" pitchFamily="34" charset="0"/>
                <a:ea typeface="Cambria" panose="02040503050406030204" pitchFamily="34" charset="-122"/>
                <a:cs typeface="Cambria" panose="02040503050406030204" pitchFamily="34" charset="-120"/>
              </a:rPr>
              <a:t>Formation</a:t>
            </a:r>
            <a:endParaRPr lang="en-US" sz="1400" dirty="0"/>
          </a:p>
        </p:txBody>
      </p:sp>
      <p:sp>
        <p:nvSpPr>
          <p:cNvPr id="9" name="Text 6"/>
          <p:cNvSpPr/>
          <p:nvPr/>
        </p:nvSpPr>
        <p:spPr>
          <a:xfrm>
            <a:off x="-45720" y="3749040"/>
            <a:ext cx="1828800" cy="548640"/>
          </a:xfrm>
          <a:prstGeom prst="rect">
            <a:avLst/>
          </a:prstGeom>
          <a:noFill/>
        </p:spPr>
        <p:txBody>
          <a:bodyPr wrap="square" lIns="0" tIns="0" rIns="0" bIns="0" rtlCol="0" anchor="ctr"/>
          <a:lstStyle/>
          <a:p>
            <a:pPr marL="0" indent="0" algn="ctr">
              <a:buNone/>
            </a:pPr>
            <a:r>
              <a:rPr lang="en-US" sz="1050" dirty="0">
                <a:solidFill>
                  <a:srgbClr val="7A8294"/>
                </a:solidFill>
                <a:latin typeface="Calibri" panose="020F0502020204030204" pitchFamily="34" charset="0"/>
                <a:ea typeface="Calibri" panose="020F0502020204030204" pitchFamily="34" charset="-122"/>
                <a:cs typeface="Calibri" panose="020F0502020204030204" pitchFamily="34" charset="-120"/>
              </a:rPr>
              <a:t>AOP &amp; Apache Hop (sem. 1-6)</a:t>
            </a:r>
            <a:endParaRPr lang="en-US" sz="1050" dirty="0"/>
          </a:p>
        </p:txBody>
      </p:sp>
      <p:sp>
        <p:nvSpPr>
          <p:cNvPr id="10" name="Shape 7"/>
          <p:cNvSpPr/>
          <p:nvPr/>
        </p:nvSpPr>
        <p:spPr>
          <a:xfrm>
            <a:off x="3399282" y="3118104"/>
            <a:ext cx="164592" cy="164592"/>
          </a:xfrm>
          <a:prstGeom prst="ellipse">
            <a:avLst/>
          </a:prstGeom>
          <a:solidFill>
            <a:srgbClr val="1F4E9C"/>
          </a:solidFill>
        </p:spPr>
      </p:sp>
      <p:sp>
        <p:nvSpPr>
          <p:cNvPr id="11" name="Text 8"/>
          <p:cNvSpPr/>
          <p:nvPr/>
        </p:nvSpPr>
        <p:spPr>
          <a:xfrm>
            <a:off x="3024378" y="2331720"/>
            <a:ext cx="914400" cy="365760"/>
          </a:xfrm>
          <a:prstGeom prst="rect">
            <a:avLst/>
          </a:prstGeom>
          <a:noFill/>
        </p:spPr>
        <p:txBody>
          <a:bodyPr wrap="square" lIns="0" tIns="0" rIns="0" bIns="0" rtlCol="0" anchor="ctr"/>
          <a:lstStyle/>
          <a:p>
            <a:pPr marL="0" indent="0" algn="ctr">
              <a:buNone/>
            </a:pPr>
            <a:r>
              <a:rPr lang="en-US" sz="1800" b="1" dirty="0">
                <a:solidFill>
                  <a:srgbClr val="1F4E9C"/>
                </a:solidFill>
                <a:latin typeface="Cambria" panose="02040503050406030204" pitchFamily="34" charset="0"/>
                <a:ea typeface="Cambria" panose="02040503050406030204" pitchFamily="34" charset="-122"/>
                <a:cs typeface="Cambria" panose="02040503050406030204" pitchFamily="34" charset="-120"/>
              </a:rPr>
              <a:t>2</a:t>
            </a:r>
            <a:endParaRPr lang="en-US" sz="1800" dirty="0"/>
          </a:p>
        </p:txBody>
      </p:sp>
      <p:sp>
        <p:nvSpPr>
          <p:cNvPr id="12" name="Text 9"/>
          <p:cNvSpPr/>
          <p:nvPr/>
        </p:nvSpPr>
        <p:spPr>
          <a:xfrm>
            <a:off x="2567178" y="3429000"/>
            <a:ext cx="1828800" cy="320040"/>
          </a:xfrm>
          <a:prstGeom prst="rect">
            <a:avLst/>
          </a:prstGeom>
          <a:noFill/>
        </p:spPr>
        <p:txBody>
          <a:bodyPr wrap="square" lIns="0" tIns="0" rIns="0" bIns="0" rtlCol="0" anchor="ctr"/>
          <a:lstStyle/>
          <a:p>
            <a:pPr marL="0" indent="0" algn="ctr">
              <a:buNone/>
            </a:pPr>
            <a:r>
              <a:rPr lang="en-US" sz="1400" b="1" dirty="0">
                <a:solidFill>
                  <a:srgbClr val="12203F"/>
                </a:solidFill>
                <a:latin typeface="Cambria" panose="02040503050406030204" pitchFamily="34" charset="0"/>
                <a:ea typeface="Cambria" panose="02040503050406030204" pitchFamily="34" charset="-122"/>
                <a:cs typeface="Cambria" panose="02040503050406030204" pitchFamily="34" charset="-120"/>
              </a:rPr>
              <a:t>Pipelines ETL</a:t>
            </a:r>
            <a:endParaRPr lang="en-US" sz="1400" dirty="0"/>
          </a:p>
        </p:txBody>
      </p:sp>
      <p:sp>
        <p:nvSpPr>
          <p:cNvPr id="13" name="Text 10"/>
          <p:cNvSpPr/>
          <p:nvPr/>
        </p:nvSpPr>
        <p:spPr>
          <a:xfrm>
            <a:off x="2567178" y="3749040"/>
            <a:ext cx="1828800" cy="548640"/>
          </a:xfrm>
          <a:prstGeom prst="rect">
            <a:avLst/>
          </a:prstGeom>
          <a:noFill/>
        </p:spPr>
        <p:txBody>
          <a:bodyPr wrap="square" lIns="0" tIns="0" rIns="0" bIns="0" rtlCol="0" anchor="ctr"/>
          <a:lstStyle/>
          <a:p>
            <a:pPr marL="0" indent="0" algn="ctr">
              <a:buNone/>
            </a:pPr>
            <a:r>
              <a:rPr lang="en-US" sz="1050" dirty="0">
                <a:solidFill>
                  <a:srgbClr val="7A8294"/>
                </a:solidFill>
                <a:latin typeface="Calibri" panose="020F0502020204030204" pitchFamily="34" charset="0"/>
                <a:ea typeface="Calibri" panose="020F0502020204030204" pitchFamily="34" charset="-122"/>
                <a:cs typeface="Calibri" panose="020F0502020204030204" pitchFamily="34" charset="-120"/>
              </a:rPr>
              <a:t>4 entités (sem. 7-10)</a:t>
            </a:r>
            <a:endParaRPr lang="en-US" sz="1050" dirty="0"/>
          </a:p>
        </p:txBody>
      </p:sp>
      <p:sp>
        <p:nvSpPr>
          <p:cNvPr id="14" name="Shape 11"/>
          <p:cNvSpPr/>
          <p:nvPr/>
        </p:nvSpPr>
        <p:spPr>
          <a:xfrm>
            <a:off x="6012180" y="3118104"/>
            <a:ext cx="164592" cy="164592"/>
          </a:xfrm>
          <a:prstGeom prst="ellipse">
            <a:avLst/>
          </a:prstGeom>
          <a:solidFill>
            <a:srgbClr val="1F4E9C"/>
          </a:solidFill>
        </p:spPr>
      </p:sp>
      <p:sp>
        <p:nvSpPr>
          <p:cNvPr id="15" name="Text 12"/>
          <p:cNvSpPr/>
          <p:nvPr/>
        </p:nvSpPr>
        <p:spPr>
          <a:xfrm>
            <a:off x="5637276" y="2331720"/>
            <a:ext cx="914400" cy="365760"/>
          </a:xfrm>
          <a:prstGeom prst="rect">
            <a:avLst/>
          </a:prstGeom>
          <a:noFill/>
        </p:spPr>
        <p:txBody>
          <a:bodyPr wrap="square" lIns="0" tIns="0" rIns="0" bIns="0" rtlCol="0" anchor="ctr"/>
          <a:lstStyle/>
          <a:p>
            <a:pPr marL="0" indent="0" algn="ctr">
              <a:buNone/>
            </a:pPr>
            <a:r>
              <a:rPr lang="en-US" sz="1800" b="1" dirty="0">
                <a:solidFill>
                  <a:srgbClr val="1F4E9C"/>
                </a:solidFill>
                <a:latin typeface="Cambria" panose="02040503050406030204" pitchFamily="34" charset="0"/>
                <a:ea typeface="Cambria" panose="02040503050406030204" pitchFamily="34" charset="-122"/>
                <a:cs typeface="Cambria" panose="02040503050406030204" pitchFamily="34" charset="-120"/>
              </a:rPr>
              <a:t>3</a:t>
            </a:r>
            <a:endParaRPr lang="en-US" sz="1800" dirty="0"/>
          </a:p>
        </p:txBody>
      </p:sp>
      <p:sp>
        <p:nvSpPr>
          <p:cNvPr id="16" name="Text 13"/>
          <p:cNvSpPr/>
          <p:nvPr/>
        </p:nvSpPr>
        <p:spPr>
          <a:xfrm>
            <a:off x="5180076" y="3429000"/>
            <a:ext cx="1828800" cy="320040"/>
          </a:xfrm>
          <a:prstGeom prst="rect">
            <a:avLst/>
          </a:prstGeom>
          <a:noFill/>
        </p:spPr>
        <p:txBody>
          <a:bodyPr wrap="square" lIns="0" tIns="0" rIns="0" bIns="0" rtlCol="0" anchor="ctr"/>
          <a:lstStyle/>
          <a:p>
            <a:pPr marL="0" indent="0" algn="ctr">
              <a:buNone/>
            </a:pPr>
            <a:r>
              <a:rPr lang="en-US" sz="1400" b="1" dirty="0">
                <a:solidFill>
                  <a:srgbClr val="12203F"/>
                </a:solidFill>
                <a:latin typeface="Cambria" panose="02040503050406030204" pitchFamily="34" charset="0"/>
                <a:ea typeface="Cambria" panose="02040503050406030204" pitchFamily="34" charset="-122"/>
                <a:cs typeface="Cambria" panose="02040503050406030204" pitchFamily="34" charset="-120"/>
              </a:rPr>
              <a:t>Application</a:t>
            </a:r>
            <a:endParaRPr lang="en-US" sz="1400" dirty="0"/>
          </a:p>
        </p:txBody>
      </p:sp>
      <p:sp>
        <p:nvSpPr>
          <p:cNvPr id="17" name="Text 14"/>
          <p:cNvSpPr/>
          <p:nvPr/>
        </p:nvSpPr>
        <p:spPr>
          <a:xfrm>
            <a:off x="5180076" y="3749040"/>
            <a:ext cx="1828800" cy="548640"/>
          </a:xfrm>
          <a:prstGeom prst="rect">
            <a:avLst/>
          </a:prstGeom>
          <a:noFill/>
        </p:spPr>
        <p:txBody>
          <a:bodyPr wrap="square" lIns="0" tIns="0" rIns="0" bIns="0" rtlCol="0" anchor="ctr"/>
          <a:lstStyle/>
          <a:p>
            <a:pPr marL="0" indent="0" algn="ctr">
              <a:buNone/>
            </a:pPr>
            <a:r>
              <a:rPr lang="en-US" sz="1050" dirty="0">
                <a:solidFill>
                  <a:srgbClr val="7A8294"/>
                </a:solidFill>
                <a:latin typeface="Calibri" panose="020F0502020204030204" pitchFamily="34" charset="0"/>
                <a:ea typeface="Calibri" panose="020F0502020204030204" pitchFamily="34" charset="-122"/>
                <a:cs typeface="Calibri" panose="020F0502020204030204" pitchFamily="34" charset="-120"/>
              </a:rPr>
              <a:t>Axelor Import Studio (sem. 11-14)</a:t>
            </a:r>
            <a:endParaRPr lang="en-US" sz="1050" dirty="0"/>
          </a:p>
        </p:txBody>
      </p:sp>
      <p:sp>
        <p:nvSpPr>
          <p:cNvPr id="18" name="Shape 15"/>
          <p:cNvSpPr/>
          <p:nvPr/>
        </p:nvSpPr>
        <p:spPr>
          <a:xfrm>
            <a:off x="8625078" y="3118104"/>
            <a:ext cx="164592" cy="164592"/>
          </a:xfrm>
          <a:prstGeom prst="ellipse">
            <a:avLst/>
          </a:prstGeom>
          <a:solidFill>
            <a:srgbClr val="1F4E9C"/>
          </a:solidFill>
        </p:spPr>
      </p:sp>
      <p:sp>
        <p:nvSpPr>
          <p:cNvPr id="19" name="Text 16"/>
          <p:cNvSpPr/>
          <p:nvPr/>
        </p:nvSpPr>
        <p:spPr>
          <a:xfrm>
            <a:off x="8250174" y="2331720"/>
            <a:ext cx="914400" cy="365760"/>
          </a:xfrm>
          <a:prstGeom prst="rect">
            <a:avLst/>
          </a:prstGeom>
          <a:noFill/>
        </p:spPr>
        <p:txBody>
          <a:bodyPr wrap="square" lIns="0" tIns="0" rIns="0" bIns="0" rtlCol="0" anchor="ctr"/>
          <a:lstStyle/>
          <a:p>
            <a:pPr marL="0" indent="0" algn="ctr">
              <a:buNone/>
            </a:pPr>
            <a:r>
              <a:rPr lang="en-US" sz="1800" b="1" dirty="0">
                <a:solidFill>
                  <a:srgbClr val="1F4E9C"/>
                </a:solidFill>
                <a:latin typeface="Cambria" panose="02040503050406030204" pitchFamily="34" charset="0"/>
                <a:ea typeface="Cambria" panose="02040503050406030204" pitchFamily="34" charset="-122"/>
                <a:cs typeface="Cambria" panose="02040503050406030204" pitchFamily="34" charset="-120"/>
              </a:rPr>
              <a:t>4</a:t>
            </a:r>
            <a:endParaRPr lang="en-US" sz="1800" dirty="0"/>
          </a:p>
        </p:txBody>
      </p:sp>
      <p:sp>
        <p:nvSpPr>
          <p:cNvPr id="20" name="Text 17"/>
          <p:cNvSpPr/>
          <p:nvPr/>
        </p:nvSpPr>
        <p:spPr>
          <a:xfrm>
            <a:off x="7792974" y="3429000"/>
            <a:ext cx="1828800" cy="320040"/>
          </a:xfrm>
          <a:prstGeom prst="rect">
            <a:avLst/>
          </a:prstGeom>
          <a:noFill/>
        </p:spPr>
        <p:txBody>
          <a:bodyPr wrap="square" lIns="0" tIns="0" rIns="0" bIns="0" rtlCol="0" anchor="ctr"/>
          <a:lstStyle/>
          <a:p>
            <a:pPr marL="0" indent="0" algn="ctr">
              <a:buNone/>
            </a:pPr>
            <a:r>
              <a:rPr lang="en-US" sz="1400" b="1" dirty="0">
                <a:solidFill>
                  <a:srgbClr val="12203F"/>
                </a:solidFill>
                <a:latin typeface="Cambria" panose="02040503050406030204" pitchFamily="34" charset="0"/>
                <a:ea typeface="Cambria" panose="02040503050406030204" pitchFamily="34" charset="-122"/>
                <a:cs typeface="Cambria" panose="02040503050406030204" pitchFamily="34" charset="-120"/>
              </a:rPr>
              <a:t>Skills IA</a:t>
            </a:r>
            <a:endParaRPr lang="en-US" sz="1400" dirty="0"/>
          </a:p>
        </p:txBody>
      </p:sp>
      <p:sp>
        <p:nvSpPr>
          <p:cNvPr id="21" name="Text 18"/>
          <p:cNvSpPr/>
          <p:nvPr/>
        </p:nvSpPr>
        <p:spPr>
          <a:xfrm>
            <a:off x="7792974" y="3749040"/>
            <a:ext cx="1828800" cy="548640"/>
          </a:xfrm>
          <a:prstGeom prst="rect">
            <a:avLst/>
          </a:prstGeom>
          <a:noFill/>
        </p:spPr>
        <p:txBody>
          <a:bodyPr wrap="square" lIns="0" tIns="0" rIns="0" bIns="0" rtlCol="0" anchor="ctr"/>
          <a:lstStyle/>
          <a:p>
            <a:pPr marL="0" indent="0" algn="ctr">
              <a:buNone/>
            </a:pPr>
            <a:r>
              <a:rPr lang="en-US" sz="1050" dirty="0">
                <a:solidFill>
                  <a:srgbClr val="7A8294"/>
                </a:solidFill>
                <a:latin typeface="Calibri" panose="020F0502020204030204" pitchFamily="34" charset="0"/>
                <a:ea typeface="Calibri" panose="020F0502020204030204" pitchFamily="34" charset="-122"/>
                <a:cs typeface="Calibri" panose="020F0502020204030204" pitchFamily="34" charset="-120"/>
              </a:rPr>
              <a:t>Claude Code (sem. 15-18)</a:t>
            </a:r>
            <a:endParaRPr lang="en-US" sz="1050" dirty="0"/>
          </a:p>
        </p:txBody>
      </p:sp>
      <p:sp>
        <p:nvSpPr>
          <p:cNvPr id="22" name="Shape 19"/>
          <p:cNvSpPr/>
          <p:nvPr/>
        </p:nvSpPr>
        <p:spPr>
          <a:xfrm>
            <a:off x="11237976" y="3118104"/>
            <a:ext cx="164592" cy="164592"/>
          </a:xfrm>
          <a:prstGeom prst="ellipse">
            <a:avLst/>
          </a:prstGeom>
          <a:solidFill>
            <a:srgbClr val="1F4E9C"/>
          </a:solidFill>
        </p:spPr>
      </p:sp>
      <p:sp>
        <p:nvSpPr>
          <p:cNvPr id="23" name="Text 20"/>
          <p:cNvSpPr/>
          <p:nvPr/>
        </p:nvSpPr>
        <p:spPr>
          <a:xfrm>
            <a:off x="10863072" y="2331720"/>
            <a:ext cx="914400" cy="365760"/>
          </a:xfrm>
          <a:prstGeom prst="rect">
            <a:avLst/>
          </a:prstGeom>
          <a:noFill/>
        </p:spPr>
        <p:txBody>
          <a:bodyPr wrap="square" lIns="0" tIns="0" rIns="0" bIns="0" rtlCol="0" anchor="ctr"/>
          <a:lstStyle/>
          <a:p>
            <a:pPr marL="0" indent="0" algn="ctr">
              <a:buNone/>
            </a:pPr>
            <a:r>
              <a:rPr lang="en-US" sz="1800" b="1" dirty="0">
                <a:solidFill>
                  <a:srgbClr val="1F4E9C"/>
                </a:solidFill>
                <a:latin typeface="Cambria" panose="02040503050406030204" pitchFamily="34" charset="0"/>
                <a:ea typeface="Cambria" panose="02040503050406030204" pitchFamily="34" charset="-122"/>
                <a:cs typeface="Cambria" panose="02040503050406030204" pitchFamily="34" charset="-120"/>
              </a:rPr>
              <a:t>5</a:t>
            </a:r>
            <a:endParaRPr lang="en-US" sz="1800" dirty="0"/>
          </a:p>
        </p:txBody>
      </p:sp>
      <p:sp>
        <p:nvSpPr>
          <p:cNvPr id="24" name="Text 21"/>
          <p:cNvSpPr/>
          <p:nvPr/>
        </p:nvSpPr>
        <p:spPr>
          <a:xfrm>
            <a:off x="10405872" y="3429000"/>
            <a:ext cx="1828800" cy="320040"/>
          </a:xfrm>
          <a:prstGeom prst="rect">
            <a:avLst/>
          </a:prstGeom>
          <a:noFill/>
        </p:spPr>
        <p:txBody>
          <a:bodyPr wrap="square" lIns="0" tIns="0" rIns="0" bIns="0" rtlCol="0" anchor="ctr"/>
          <a:lstStyle/>
          <a:p>
            <a:pPr marL="0" indent="0" algn="ctr">
              <a:buNone/>
            </a:pPr>
            <a:r>
              <a:rPr lang="en-US" sz="1400" b="1" dirty="0">
                <a:solidFill>
                  <a:srgbClr val="12203F"/>
                </a:solidFill>
                <a:latin typeface="Cambria" panose="02040503050406030204" pitchFamily="34" charset="0"/>
                <a:ea typeface="Cambria" panose="02040503050406030204" pitchFamily="34" charset="-122"/>
                <a:cs typeface="Cambria" panose="02040503050406030204" pitchFamily="34" charset="-120"/>
              </a:rPr>
              <a:t>Tests &amp; Validation</a:t>
            </a:r>
            <a:endParaRPr lang="en-US" sz="1400" dirty="0"/>
          </a:p>
        </p:txBody>
      </p:sp>
      <p:sp>
        <p:nvSpPr>
          <p:cNvPr id="25" name="Text 22"/>
          <p:cNvSpPr/>
          <p:nvPr/>
        </p:nvSpPr>
        <p:spPr>
          <a:xfrm>
            <a:off x="10405872" y="3749040"/>
            <a:ext cx="1828800" cy="548640"/>
          </a:xfrm>
          <a:prstGeom prst="rect">
            <a:avLst/>
          </a:prstGeom>
          <a:noFill/>
        </p:spPr>
        <p:txBody>
          <a:bodyPr wrap="square" lIns="0" tIns="0" rIns="0" bIns="0" rtlCol="0" anchor="ctr"/>
          <a:lstStyle/>
          <a:p>
            <a:pPr marL="0" indent="0" algn="ctr">
              <a:buNone/>
            </a:pPr>
            <a:r>
              <a:rPr lang="en-US" sz="1050" dirty="0">
                <a:solidFill>
                  <a:srgbClr val="7A8294"/>
                </a:solidFill>
                <a:latin typeface="Calibri" panose="020F0502020204030204" pitchFamily="34" charset="0"/>
                <a:ea typeface="Calibri" panose="020F0502020204030204" pitchFamily="34" charset="-122"/>
                <a:cs typeface="Calibri" panose="020F0502020204030204" pitchFamily="34" charset="-120"/>
              </a:rPr>
              <a:t>Golden dataset (sem. 19-20)</a:t>
            </a:r>
            <a:endParaRPr lang="en-US" sz="1050" dirty="0"/>
          </a:p>
        </p:txBody>
      </p:sp>
      <p:sp>
        <p:nvSpPr>
          <p:cNvPr id="26" name="Text 23"/>
          <p:cNvSpPr/>
          <p:nvPr/>
        </p:nvSpPr>
        <p:spPr>
          <a:xfrm>
            <a:off x="1371600" y="5074920"/>
            <a:ext cx="9418320" cy="640080"/>
          </a:xfrm>
          <a:prstGeom prst="rect">
            <a:avLst/>
          </a:prstGeom>
          <a:noFill/>
        </p:spPr>
        <p:txBody>
          <a:bodyPr wrap="square" rtlCol="0" anchor="ctr"/>
          <a:lstStyle/>
          <a:p>
            <a:pPr marL="0" indent="0" algn="ctr">
              <a:buNone/>
            </a:pPr>
            <a:r>
              <a:rPr lang="en-US" altLang="en-US" sz="1200" i="1" dirty="0">
                <a:solidFill>
                  <a:srgbClr val="7A8294"/>
                </a:solidFill>
                <a:latin typeface="Calibri" panose="020F0502020204030204" pitchFamily="34" charset="0"/>
                <a:ea typeface="Calibri" panose="020F0502020204030204" pitchFamily="34" charset="-122"/>
                <a:cs typeface="Calibri" panose="020F0502020204030204" pitchFamily="34" charset="-120"/>
              </a:rPr>
              <a:t>Méthode incrémentale : chaque composant du framework livré et validé séparément. Suivi Redmine.</a:t>
            </a:r>
            <a:endParaRPr lang="en-US" sz="1200" dirty="0"/>
          </a:p>
        </p:txBody>
      </p:sp>
      <p:pic>
        <p:nvPicPr>
          <p:cNvPr id="27" name="Image 1" descr="preencoded.png"/>
          <p:cNvPicPr>
            <a:picLocks noChangeAspect="1"/>
          </p:cNvPicPr>
          <p:nvPr/>
        </p:nvPicPr>
        <p:blipFill>
          <a:blip r:embed="rId2"/>
          <a:stretch>
            <a:fillRect/>
          </a:stretch>
        </p:blipFill>
        <p:spPr>
          <a:xfrm>
            <a:off x="640080" y="6327648"/>
            <a:ext cx="415260" cy="237744"/>
          </a:xfrm>
          <a:prstGeom prst="rect">
            <a:avLst/>
          </a:prstGeom>
        </p:spPr>
      </p:pic>
      <p:sp>
        <p:nvSpPr>
          <p:cNvPr id="28" name="Text 24"/>
          <p:cNvSpPr/>
          <p:nvPr/>
        </p:nvSpPr>
        <p:spPr>
          <a:xfrm>
            <a:off x="1188720" y="6309360"/>
            <a:ext cx="7315200" cy="274320"/>
          </a:xfrm>
          <a:prstGeom prst="rect">
            <a:avLst/>
          </a:prstGeom>
          <a:noFill/>
        </p:spPr>
        <p:txBody>
          <a:bodyPr wrap="square" lIns="0" tIns="0" rIns="0" bIns="0" rtlCol="0" anchor="ctr"/>
          <a:lstStyle/>
          <a:p>
            <a:pPr marL="0" indent="0">
              <a:buNone/>
            </a:pPr>
            <a:r>
              <a:rPr lang="en-US" sz="900" dirty="0">
                <a:solidFill>
                  <a:srgbClr val="7A8294"/>
                </a:solidFill>
                <a:latin typeface="Calibri" panose="020F0502020204030204" pitchFamily="34" charset="0"/>
                <a:ea typeface="Calibri" panose="020F0502020204030204" pitchFamily="34" charset="-122"/>
                <a:cs typeface="Calibri" panose="020F0502020204030204" pitchFamily="34" charset="-120"/>
              </a:rPr>
              <a:t>Projet de Fin d'Études : Génie Informatique</a:t>
            </a:r>
            <a:endParaRPr lang="en-US" sz="900" dirty="0"/>
          </a:p>
        </p:txBody>
      </p:sp>
      <p:sp>
        <p:nvSpPr>
          <p:cNvPr id="29" name="Text 25"/>
          <p:cNvSpPr/>
          <p:nvPr/>
        </p:nvSpPr>
        <p:spPr>
          <a:xfrm>
            <a:off x="10360152" y="6309360"/>
            <a:ext cx="1188720" cy="274320"/>
          </a:xfrm>
          <a:prstGeom prst="rect">
            <a:avLst/>
          </a:prstGeom>
          <a:noFill/>
        </p:spPr>
        <p:txBody>
          <a:bodyPr wrap="square" lIns="0" tIns="0" rIns="0" bIns="0" rtlCol="0" anchor="ctr"/>
          <a:lstStyle/>
          <a:p>
            <a:pPr marL="0" indent="0" algn="r">
              <a:buNone/>
            </a:pPr>
            <a:r>
              <a:rPr lang="en-US" sz="1000" b="1" dirty="0">
                <a:solidFill>
                  <a:srgbClr val="1F4E9C"/>
                </a:solidFill>
                <a:latin typeface="Calibri" panose="020F0502020204030204" pitchFamily="34" charset="0"/>
                <a:ea typeface="Calibri" panose="020F0502020204030204" pitchFamily="34" charset="-122"/>
                <a:cs typeface="Calibri" panose="020F0502020204030204" pitchFamily="34" charset="-120"/>
              </a:rPr>
              <a:t>05</a:t>
            </a:r>
            <a:r>
              <a:rPr lang="en-US" sz="1000" dirty="0">
                <a:solidFill>
                  <a:srgbClr val="7A8294"/>
                </a:solidFill>
                <a:latin typeface="Calibri" panose="020F0502020204030204" pitchFamily="34" charset="0"/>
                <a:ea typeface="Calibri" panose="020F0502020204030204" pitchFamily="34" charset="-122"/>
                <a:cs typeface="Calibri" panose="020F0502020204030204" pitchFamily="34" charset="-120"/>
              </a:rPr>
              <a:t> / </a:t>
            </a:r>
            <a:r>
              <a:rPr lang="fr-FR" altLang="en-US" sz="1000" dirty="0">
                <a:solidFill>
                  <a:srgbClr val="7A8294"/>
                </a:solidFill>
                <a:latin typeface="Calibri" panose="020F0502020204030204" pitchFamily="34" charset="0"/>
                <a:ea typeface="Calibri" panose="020F0502020204030204" pitchFamily="34" charset="-122"/>
                <a:cs typeface="Calibri" panose="020F0502020204030204" pitchFamily="34" charset="-120"/>
              </a:rPr>
              <a:t>22</a:t>
            </a:r>
            <a:endParaRPr lang="fr-FR" altLang="en-US" sz="1000" dirty="0">
              <a:solidFill>
                <a:srgbClr val="7A8294"/>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Text 26"/>
          <p:cNvSpPr/>
          <p:nvPr/>
        </p:nvSpPr>
        <p:spPr>
          <a:xfrm>
            <a:off x="868680" y="4430000"/>
            <a:ext cx="2200000" cy="200000"/>
          </a:xfrm>
          <a:prstGeom prst="rect">
            <a:avLst/>
          </a:prstGeom>
          <a:noFill/>
        </p:spPr>
        <p:txBody>
          <a:bodyPr wrap="square" lIns="0" tIns="0" rIns="0" bIns="0" rtlCol="0" anchor="ctr"/>
          <a:lstStyle/>
          <a:p>
            <a:pPr marL="0" indent="0">
              <a:buNone/>
            </a:pPr>
            <a:r>
              <a:rPr lang="en-US" sz="900" i="1" dirty="0">
                <a:solidFill>
                  <a:srgbClr val="7A8294"/>
                </a:solidFill>
                <a:latin typeface="Calibri" panose="020F0502020204030204" pitchFamily="34" charset="0"/>
                <a:ea typeface="Calibri" panose="020F0502020204030204" pitchFamily="34" charset="-122"/>
                <a:cs typeface="Calibri" panose="020F0502020204030204" pitchFamily="34" charset="-120"/>
              </a:rPr>
              <a:t>En parallèle (sem. 7-20) :</a:t>
            </a:r>
            <a:endParaRPr lang="en-US" sz="900" dirty="0"/>
          </a:p>
        </p:txBody>
      </p:sp>
      <p:sp>
        <p:nvSpPr>
          <p:cNvPr id="31" name="Shape 27"/>
          <p:cNvSpPr/>
          <p:nvPr/>
        </p:nvSpPr>
        <p:spPr>
          <a:xfrm>
            <a:off x="3399282" y="4430000"/>
            <a:ext cx="8003286" cy="200000"/>
          </a:xfrm>
          <a:prstGeom prst="rect">
            <a:avLst/>
          </a:prstGeom>
          <a:solidFill>
            <a:srgbClr val="EEF2FB"/>
          </a:solidFill>
          <a:ln w="6350">
            <a:solidFill>
              <a:srgbClr val="1F4E9C"/>
            </a:solidFill>
            <a:prstDash val="solid"/>
          </a:ln>
        </p:spPr>
        <p:txBody>
          <a:bodyPr wrap="square" lIns="91440" tIns="0" rIns="91440" bIns="0" rtlCol="0" anchor="ctr"/>
          <a:lstStyle/>
          <a:p>
            <a:pPr marL="0" indent="0" algn="ctr">
              <a:buNone/>
            </a:pPr>
            <a:r>
              <a:rPr lang="en-US" sz="900" b="1" dirty="0">
                <a:solidFill>
                  <a:srgbClr val="1F4E9C"/>
                </a:solidFill>
                <a:latin typeface="Calibri" panose="020F0502020204030204" pitchFamily="34" charset="0"/>
                <a:ea typeface="Calibri" panose="020F0502020204030204" pitchFamily="34" charset="-122"/>
                <a:cs typeface="Calibri" panose="020F0502020204030204" pitchFamily="34" charset="-120"/>
              </a:rPr>
              <a:t>Projets clients Axelor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10058400" cy="274320"/>
          </a:xfrm>
          <a:prstGeom prst="rect">
            <a:avLst/>
          </a:prstGeom>
          <a:noFill/>
        </p:spPr>
        <p:txBody>
          <a:bodyPr wrap="square">
            <a:spAutoFit/>
          </a:bodyPr>
          <a:lstStyle/>
          <a:p>
            <a:pPr algn="l"/>
            <a:r>
              <a:rPr sz="1100" b="1" i="0">
                <a:solidFill>
                  <a:srgbClr val="1F4E9C"/>
                </a:solidFill>
                <a:latin typeface="Calibri" panose="020F0502020204030204"/>
              </a:rPr>
              <a:t>04  CONCEPTION</a:t>
            </a:r>
            <a:endParaRPr sz="1100" b="1" i="0">
              <a:solidFill>
                <a:srgbClr val="1F4E9C"/>
              </a:solidFill>
              <a:latin typeface="Calibri" panose="020F0502020204030204"/>
            </a:endParaRPr>
          </a:p>
        </p:txBody>
      </p:sp>
      <p:sp>
        <p:nvSpPr>
          <p:cNvPr id="3" name="TextBox 2"/>
          <p:cNvSpPr txBox="1"/>
          <p:nvPr/>
        </p:nvSpPr>
        <p:spPr>
          <a:xfrm>
            <a:off x="640080" y="868680"/>
            <a:ext cx="10881360" cy="553085"/>
          </a:xfrm>
          <a:prstGeom prst="rect">
            <a:avLst/>
          </a:prstGeom>
          <a:noFill/>
        </p:spPr>
        <p:txBody>
          <a:bodyPr wrap="square">
            <a:spAutoFit/>
          </a:bodyPr>
          <a:lstStyle/>
          <a:p>
            <a:pPr algn="l"/>
            <a:r>
              <a:rPr sz="3000" b="1" i="0">
                <a:solidFill>
                  <a:srgbClr val="12203F"/>
                </a:solidFill>
                <a:latin typeface="Calibri" panose="020F0502020204030204"/>
              </a:rPr>
              <a:t>Benchmark</a:t>
            </a:r>
            <a:r>
              <a:rPr lang="fr-FR" sz="3000" b="1" i="0">
                <a:solidFill>
                  <a:srgbClr val="12203F"/>
                </a:solidFill>
                <a:latin typeface="Calibri" panose="020F0502020204030204"/>
              </a:rPr>
              <a:t>:</a:t>
            </a:r>
            <a:r>
              <a:rPr sz="3000" b="1" i="0">
                <a:solidFill>
                  <a:srgbClr val="12203F"/>
                </a:solidFill>
                <a:latin typeface="Calibri" panose="020F0502020204030204"/>
              </a:rPr>
              <a:t> Outil ETL</a:t>
            </a:r>
            <a:endParaRPr sz="3000" b="1" i="0">
              <a:solidFill>
                <a:srgbClr val="12203F"/>
              </a:solidFill>
              <a:latin typeface="Calibri" panose="020F0502020204030204"/>
            </a:endParaRPr>
          </a:p>
        </p:txBody>
      </p:sp>
      <p:pic>
        <p:nvPicPr>
          <p:cNvPr id="4" name="Picture 3" descr="image.png"/>
          <p:cNvPicPr>
            <a:picLocks noChangeAspect="1"/>
          </p:cNvPicPr>
          <p:nvPr/>
        </p:nvPicPr>
        <p:blipFill>
          <a:blip r:embed="rId1"/>
          <a:stretch>
            <a:fillRect/>
          </a:stretch>
        </p:blipFill>
        <p:spPr>
          <a:xfrm>
            <a:off x="9832848" y="2286000"/>
            <a:ext cx="2173224" cy="5669280"/>
          </a:xfrm>
          <a:prstGeom prst="rect">
            <a:avLst/>
          </a:prstGeom>
        </p:spPr>
      </p:pic>
      <p:pic>
        <p:nvPicPr>
          <p:cNvPr id="5" name="Picture 4" descr="image.png"/>
          <p:cNvPicPr>
            <a:picLocks noChangeAspect="1"/>
          </p:cNvPicPr>
          <p:nvPr/>
        </p:nvPicPr>
        <p:blipFill>
          <a:blip r:embed="rId2"/>
          <a:stretch>
            <a:fillRect/>
          </a:stretch>
        </p:blipFill>
        <p:spPr>
          <a:xfrm>
            <a:off x="640080" y="6327648"/>
            <a:ext cx="415260" cy="237744"/>
          </a:xfrm>
          <a:prstGeom prst="rect">
            <a:avLst/>
          </a:prstGeom>
        </p:spPr>
      </p:pic>
      <p:sp>
        <p:nvSpPr>
          <p:cNvPr id="6" name="TextBox 5"/>
          <p:cNvSpPr txBox="1"/>
          <p:nvPr/>
        </p:nvSpPr>
        <p:spPr>
          <a:xfrm>
            <a:off x="1188720" y="6309360"/>
            <a:ext cx="7315200" cy="274320"/>
          </a:xfrm>
          <a:prstGeom prst="rect">
            <a:avLst/>
          </a:prstGeom>
          <a:noFill/>
        </p:spPr>
        <p:txBody>
          <a:bodyPr wrap="square">
            <a:spAutoFit/>
          </a:bodyPr>
          <a:lstStyle/>
          <a:p>
            <a:pPr algn="l"/>
            <a:r>
              <a:rPr sz="900" b="0" i="0">
                <a:solidFill>
                  <a:srgbClr val="7A8294"/>
                </a:solidFill>
                <a:latin typeface="Calibri" panose="020F0502020204030204"/>
              </a:rPr>
              <a:t>Projet de Fin d'Études : Génie Informatique</a:t>
            </a:r>
            <a:endParaRPr sz="900" b="0" i="0">
              <a:solidFill>
                <a:srgbClr val="7A8294"/>
              </a:solidFill>
              <a:latin typeface="Calibri" panose="020F0502020204030204"/>
            </a:endParaRPr>
          </a:p>
        </p:txBody>
      </p:sp>
      <p:sp>
        <p:nvSpPr>
          <p:cNvPr id="7" name="TextBox 6"/>
          <p:cNvSpPr txBox="1"/>
          <p:nvPr/>
        </p:nvSpPr>
        <p:spPr>
          <a:xfrm>
            <a:off x="10360152" y="6309360"/>
            <a:ext cx="1188720" cy="274320"/>
          </a:xfrm>
          <a:prstGeom prst="rect">
            <a:avLst/>
          </a:prstGeom>
          <a:noFill/>
        </p:spPr>
        <p:txBody>
          <a:bodyPr wrap="none">
            <a:spAutoFit/>
          </a:bodyPr>
          <a:lstStyle/>
          <a:p>
            <a:pPr algn="r"/>
            <a:r>
              <a:rPr sz="1000" b="1">
                <a:solidFill>
                  <a:srgbClr val="1F4E9C"/>
                </a:solidFill>
                <a:latin typeface="Calibri" panose="020F0502020204030204"/>
              </a:rPr>
              <a:t>06</a:t>
            </a:r>
            <a:r>
              <a:rPr sz="1000" b="0">
                <a:solidFill>
                  <a:srgbClr val="7A8294"/>
                </a:solidFill>
                <a:latin typeface="Calibri" panose="020F0502020204030204"/>
              </a:rPr>
              <a:t> / 21</a:t>
            </a:r>
            <a:endParaRPr sz="1000" b="0">
              <a:solidFill>
                <a:srgbClr val="7A8294"/>
              </a:solidFill>
              <a:latin typeface="Calibri" panose="020F0502020204030204"/>
            </a:endParaRPr>
          </a:p>
        </p:txBody>
      </p:sp>
      <p:graphicFrame>
        <p:nvGraphicFramePr>
          <p:cNvPr id="8" name="Table 7"/>
          <p:cNvGraphicFramePr>
            <a:graphicFrameLocks noGrp="1"/>
          </p:cNvGraphicFramePr>
          <p:nvPr/>
        </p:nvGraphicFramePr>
        <p:xfrm>
          <a:off x="548640" y="1706400"/>
          <a:ext cx="9200000" cy="3900000"/>
        </p:xfrm>
        <a:graphic>
          <a:graphicData uri="http://schemas.openxmlformats.org/drawingml/2006/table">
            <a:tbl>
              <a:tblPr firstRow="1" bandRow="1">
                <a:tableStyleId>{5C22544A-7EE6-4342-B048-85BDC9FD1C3A}</a:tableStyleId>
              </a:tblPr>
              <a:tblGrid>
                <a:gridCol w="3200000"/>
                <a:gridCol w="2000000"/>
                <a:gridCol w="2000000"/>
                <a:gridCol w="2000000"/>
              </a:tblGrid>
              <a:tr h="650000">
                <a:tc>
                  <a:txBody>
                    <a:bodyPr wrap="square"/>
                    <a:lstStyle/>
                    <a:p>
                      <a:pPr algn="ctr"/>
                      <a:r>
                        <a:rPr sz="1000" b="1">
                          <a:solidFill>
                            <a:srgbClr val="12203F"/>
                          </a:solidFill>
                          <a:latin typeface="Calibri" panose="020F0502020204030204"/>
                        </a:rPr>
                        <a:t>Critère</a:t>
                      </a:r>
                      <a:endParaRPr sz="1000" b="1">
                        <a:solidFill>
                          <a:srgbClr val="12203F"/>
                        </a:solidFill>
                        <a:latin typeface="Calibri" panose="020F0502020204030204"/>
                      </a:endParaRPr>
                    </a:p>
                  </a:txBody>
                  <a:tcPr>
                    <a:solidFill>
                      <a:srgbClr val="D6E4F0"/>
                    </a:solidFill>
                  </a:tcPr>
                </a:tc>
                <a:tc>
                  <a:txBody>
                    <a:bodyPr wrap="square"/>
                    <a:lstStyle/>
                    <a:p>
                      <a:pPr algn="ctr"/>
                      <a:r>
                        <a:rPr sz="1000" b="1">
                          <a:solidFill>
                            <a:srgbClr val="12203F"/>
                          </a:solidFill>
                          <a:latin typeface="Calibri" panose="020F0502020204030204"/>
                        </a:rPr>
                        <a:t>Apache Hop</a:t>
                      </a:r>
                      <a:endParaRPr sz="1000" b="1">
                        <a:solidFill>
                          <a:srgbClr val="12203F"/>
                        </a:solidFill>
                        <a:latin typeface="Calibri" panose="020F0502020204030204"/>
                      </a:endParaRPr>
                    </a:p>
                  </a:txBody>
                  <a:tcPr>
                    <a:solidFill>
                      <a:srgbClr val="D6E4F0"/>
                    </a:solidFill>
                  </a:tcPr>
                </a:tc>
                <a:tc>
                  <a:txBody>
                    <a:bodyPr wrap="square"/>
                    <a:lstStyle/>
                    <a:p>
                      <a:pPr algn="ctr"/>
                      <a:r>
                        <a:rPr sz="1000" b="1">
                          <a:solidFill>
                            <a:srgbClr val="12203F"/>
                          </a:solidFill>
                          <a:latin typeface="Calibri" panose="020F0502020204030204"/>
                        </a:rPr>
                        <a:t>Talend</a:t>
                      </a:r>
                      <a:endParaRPr sz="1000" b="1">
                        <a:solidFill>
                          <a:srgbClr val="12203F"/>
                        </a:solidFill>
                        <a:latin typeface="Calibri" panose="020F0502020204030204"/>
                      </a:endParaRPr>
                    </a:p>
                  </a:txBody>
                  <a:tcPr>
                    <a:solidFill>
                      <a:srgbClr val="D6E4F0"/>
                    </a:solidFill>
                  </a:tcPr>
                </a:tc>
                <a:tc>
                  <a:txBody>
                    <a:bodyPr wrap="square"/>
                    <a:lstStyle/>
                    <a:p>
                      <a:pPr algn="ctr"/>
                      <a:r>
                        <a:rPr sz="1000" b="1">
                          <a:solidFill>
                            <a:srgbClr val="12203F"/>
                          </a:solidFill>
                          <a:latin typeface="Calibri" panose="020F0502020204030204"/>
                        </a:rPr>
                        <a:t>Apache NiFi</a:t>
                      </a:r>
                      <a:endParaRPr sz="1000" b="1">
                        <a:solidFill>
                          <a:srgbClr val="12203F"/>
                        </a:solidFill>
                        <a:latin typeface="Calibri" panose="020F0502020204030204"/>
                      </a:endParaRPr>
                    </a:p>
                  </a:txBody>
                  <a:tcPr>
                    <a:solidFill>
                      <a:srgbClr val="D6E4F0"/>
                    </a:solidFill>
                  </a:tcPr>
                </a:tc>
              </a:tr>
              <a:tr h="650000">
                <a:tc>
                  <a:txBody>
                    <a:bodyPr wrap="square"/>
                    <a:lstStyle/>
                    <a:p>
                      <a:pPr algn="l"/>
                      <a:r>
                        <a:rPr sz="900" b="1">
                          <a:solidFill>
                            <a:srgbClr val="12203F"/>
                          </a:solidFill>
                          <a:latin typeface="Calibri" panose="020F0502020204030204"/>
                        </a:rPr>
                        <a:t>Format pipelines</a:t>
                      </a:r>
                      <a:endParaRPr sz="900" b="1">
                        <a:solidFill>
                          <a:srgbClr val="12203F"/>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XML lisible (.hpl)</a:t>
                      </a:r>
                      <a:endParaRPr sz="900" b="0">
                        <a:solidFill>
                          <a:srgbClr val="2A3142"/>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Java compilé (.jar)</a:t>
                      </a:r>
                      <a:endParaRPr sz="900" b="0">
                        <a:solidFill>
                          <a:srgbClr val="2A3142"/>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JSON interne</a:t>
                      </a:r>
                      <a:endParaRPr sz="900" b="0">
                        <a:solidFill>
                          <a:srgbClr val="2A3142"/>
                        </a:solidFill>
                        <a:latin typeface="Calibri" panose="020F0502020204030204"/>
                      </a:endParaRPr>
                    </a:p>
                  </a:txBody>
                  <a:tcPr>
                    <a:solidFill>
                      <a:srgbClr val="F5F5F5"/>
                    </a:solidFill>
                  </a:tcPr>
                </a:tc>
              </a:tr>
              <a:tr h="650000">
                <a:tc>
                  <a:txBody>
                    <a:bodyPr wrap="square"/>
                    <a:lstStyle/>
                    <a:p>
                      <a:pPr algn="l"/>
                      <a:r>
                        <a:rPr sz="900" b="1">
                          <a:solidFill>
                            <a:srgbClr val="12203F"/>
                          </a:solidFill>
                          <a:latin typeface="Calibri" panose="020F0502020204030204"/>
                        </a:rPr>
                        <a:t>Générable par LLM</a:t>
                      </a:r>
                      <a:endParaRPr sz="900" b="1">
                        <a:solidFill>
                          <a:srgbClr val="12203F"/>
                        </a:solidFill>
                        <a:latin typeface="Calibri" panose="020F0502020204030204"/>
                      </a:endParaRPr>
                    </a:p>
                  </a:txBody>
                  <a:tcPr>
                    <a:solidFill>
                      <a:srgbClr val="FFFFFF"/>
                    </a:solidFill>
                  </a:tcPr>
                </a:tc>
                <a:tc>
                  <a:txBody>
                    <a:bodyPr wrap="square"/>
                    <a:lstStyle/>
                    <a:p>
                      <a:pPr algn="ctr"/>
                      <a:r>
                        <a:rPr sz="900" b="0">
                          <a:solidFill>
                            <a:srgbClr val="2A3142"/>
                          </a:solidFill>
                          <a:latin typeface="Calibri" panose="020F0502020204030204"/>
                        </a:rPr>
                        <a:t>✔ Oui</a:t>
                      </a:r>
                      <a:endParaRPr sz="900" b="0">
                        <a:solidFill>
                          <a:srgbClr val="2A3142"/>
                        </a:solidFill>
                        <a:latin typeface="Calibri" panose="020F0502020204030204"/>
                      </a:endParaRPr>
                    </a:p>
                  </a:txBody>
                  <a:tcPr>
                    <a:solidFill>
                      <a:srgbClr val="FFFFFF"/>
                    </a:solidFill>
                  </a:tcPr>
                </a:tc>
                <a:tc>
                  <a:txBody>
                    <a:bodyPr wrap="square"/>
                    <a:lstStyle/>
                    <a:p>
                      <a:pPr algn="ctr"/>
                      <a:r>
                        <a:rPr sz="900" b="0">
                          <a:solidFill>
                            <a:srgbClr val="2A3142"/>
                          </a:solidFill>
                          <a:latin typeface="Calibri" panose="020F0502020204030204"/>
                        </a:rPr>
                        <a:t>✘ Non</a:t>
                      </a:r>
                      <a:endParaRPr sz="900" b="0">
                        <a:solidFill>
                          <a:srgbClr val="2A3142"/>
                        </a:solidFill>
                        <a:latin typeface="Calibri" panose="020F0502020204030204"/>
                      </a:endParaRPr>
                    </a:p>
                  </a:txBody>
                  <a:tcPr>
                    <a:solidFill>
                      <a:srgbClr val="FFFFFF"/>
                    </a:solidFill>
                  </a:tcPr>
                </a:tc>
                <a:tc>
                  <a:txBody>
                    <a:bodyPr wrap="square"/>
                    <a:lstStyle/>
                    <a:p>
                      <a:pPr algn="ctr"/>
                      <a:r>
                        <a:rPr sz="900" b="0">
                          <a:solidFill>
                            <a:srgbClr val="2A3142"/>
                          </a:solidFill>
                          <a:latin typeface="Calibri" panose="020F0502020204030204"/>
                        </a:rPr>
                        <a:t>✘ Non</a:t>
                      </a:r>
                      <a:endParaRPr sz="900" b="0">
                        <a:solidFill>
                          <a:srgbClr val="2A3142"/>
                        </a:solidFill>
                        <a:latin typeface="Calibri" panose="020F0502020204030204"/>
                      </a:endParaRPr>
                    </a:p>
                  </a:txBody>
                  <a:tcPr>
                    <a:solidFill>
                      <a:srgbClr val="FFFFFF"/>
                    </a:solidFill>
                  </a:tcPr>
                </a:tc>
              </a:tr>
              <a:tr h="650000">
                <a:tc>
                  <a:txBody>
                    <a:bodyPr wrap="square"/>
                    <a:lstStyle/>
                    <a:p>
                      <a:pPr algn="l"/>
                      <a:r>
                        <a:rPr sz="900" b="1">
                          <a:solidFill>
                            <a:srgbClr val="12203F"/>
                          </a:solidFill>
                          <a:latin typeface="Calibri" panose="020F0502020204030204"/>
                        </a:rPr>
                        <a:t>Upsert natif</a:t>
                      </a:r>
                      <a:endParaRPr sz="900" b="1">
                        <a:solidFill>
                          <a:srgbClr val="12203F"/>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 Oui</a:t>
                      </a:r>
                      <a:endParaRPr sz="900" b="0">
                        <a:solidFill>
                          <a:srgbClr val="2A3142"/>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 Oui (tMap)</a:t>
                      </a:r>
                      <a:endParaRPr sz="900" b="0">
                        <a:solidFill>
                          <a:srgbClr val="2A3142"/>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 Non</a:t>
                      </a:r>
                      <a:endParaRPr sz="900" b="0">
                        <a:solidFill>
                          <a:srgbClr val="2A3142"/>
                        </a:solidFill>
                        <a:latin typeface="Calibri" panose="020F0502020204030204"/>
                      </a:endParaRPr>
                    </a:p>
                  </a:txBody>
                  <a:tcPr>
                    <a:solidFill>
                      <a:srgbClr val="F5F5F5"/>
                    </a:solidFill>
                  </a:tcPr>
                </a:tc>
              </a:tr>
              <a:tr h="650000">
                <a:tc>
                  <a:txBody>
                    <a:bodyPr wrap="square"/>
                    <a:lstStyle/>
                    <a:p>
                      <a:pPr algn="l"/>
                      <a:r>
                        <a:rPr sz="900" b="1">
                          <a:solidFill>
                            <a:srgbClr val="12203F"/>
                          </a:solidFill>
                          <a:latin typeface="Calibri" panose="020F0502020204030204"/>
                        </a:rPr>
                        <a:t>Exécution CLI</a:t>
                      </a:r>
                      <a:endParaRPr sz="900" b="1">
                        <a:solidFill>
                          <a:srgbClr val="12203F"/>
                        </a:solidFill>
                        <a:latin typeface="Calibri" panose="020F0502020204030204"/>
                      </a:endParaRPr>
                    </a:p>
                  </a:txBody>
                  <a:tcPr>
                    <a:solidFill>
                      <a:srgbClr val="FFFFFF"/>
                    </a:solidFill>
                  </a:tcPr>
                </a:tc>
                <a:tc>
                  <a:txBody>
                    <a:bodyPr wrap="square"/>
                    <a:lstStyle/>
                    <a:p>
                      <a:pPr algn="ctr"/>
                      <a:r>
                        <a:rPr sz="900" b="0">
                          <a:solidFill>
                            <a:srgbClr val="2A3142"/>
                          </a:solidFill>
                          <a:latin typeface="Calibri" panose="020F0502020204030204"/>
                        </a:rPr>
                        <a:t>✔ hop-run.sh</a:t>
                      </a:r>
                      <a:endParaRPr sz="900" b="0">
                        <a:solidFill>
                          <a:srgbClr val="2A3142"/>
                        </a:solidFill>
                        <a:latin typeface="Calibri" panose="020F0502020204030204"/>
                      </a:endParaRPr>
                    </a:p>
                  </a:txBody>
                  <a:tcPr>
                    <a:solidFill>
                      <a:srgbClr val="FFFFFF"/>
                    </a:solidFill>
                  </a:tcPr>
                </a:tc>
                <a:tc>
                  <a:txBody>
                    <a:bodyPr wrap="square"/>
                    <a:lstStyle/>
                    <a:p>
                      <a:pPr algn="ctr"/>
                      <a:r>
                        <a:rPr sz="900" b="0">
                          <a:solidFill>
                            <a:srgbClr val="2A3142"/>
                          </a:solidFill>
                          <a:latin typeface="Calibri" panose="020F0502020204030204"/>
                        </a:rPr>
                        <a:t>✔ (.jar)</a:t>
                      </a:r>
                      <a:endParaRPr sz="900" b="0">
                        <a:solidFill>
                          <a:srgbClr val="2A3142"/>
                        </a:solidFill>
                        <a:latin typeface="Calibri" panose="020F0502020204030204"/>
                      </a:endParaRPr>
                    </a:p>
                  </a:txBody>
                  <a:tcPr>
                    <a:solidFill>
                      <a:srgbClr val="FFFFFF"/>
                    </a:solidFill>
                  </a:tcPr>
                </a:tc>
                <a:tc>
                  <a:txBody>
                    <a:bodyPr wrap="square"/>
                    <a:lstStyle/>
                    <a:p>
                      <a:pPr algn="ctr"/>
                      <a:r>
                        <a:rPr sz="900" b="0">
                          <a:solidFill>
                            <a:srgbClr val="2A3142"/>
                          </a:solidFill>
                          <a:latin typeface="Calibri" panose="020F0502020204030204"/>
                        </a:rPr>
                        <a:t>✘ (serveur web)</a:t>
                      </a:r>
                      <a:endParaRPr sz="900" b="0">
                        <a:solidFill>
                          <a:srgbClr val="2A3142"/>
                        </a:solidFill>
                        <a:latin typeface="Calibri" panose="020F0502020204030204"/>
                      </a:endParaRPr>
                    </a:p>
                  </a:txBody>
                  <a:tcPr>
                    <a:solidFill>
                      <a:srgbClr val="FFFFFF"/>
                    </a:solidFill>
                  </a:tcPr>
                </a:tc>
              </a:tr>
              <a:tr h="650000">
                <a:tc>
                  <a:txBody>
                    <a:bodyPr wrap="square"/>
                    <a:lstStyle/>
                    <a:p>
                      <a:pPr algn="l"/>
                      <a:r>
                        <a:rPr sz="900" b="1">
                          <a:solidFill>
                            <a:srgbClr val="12203F"/>
                          </a:solidFill>
                          <a:latin typeface="Calibri" panose="020F0502020204030204"/>
                        </a:rPr>
                        <a:t>Licence</a:t>
                      </a:r>
                      <a:endParaRPr sz="900" b="1">
                        <a:solidFill>
                          <a:srgbClr val="12203F"/>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Apache 2.0</a:t>
                      </a:r>
                      <a:endParaRPr sz="900" b="0">
                        <a:solidFill>
                          <a:srgbClr val="2A3142"/>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Freemium</a:t>
                      </a:r>
                      <a:endParaRPr sz="900" b="0">
                        <a:solidFill>
                          <a:srgbClr val="2A3142"/>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Apache 2.0</a:t>
                      </a:r>
                      <a:endParaRPr sz="900" b="0">
                        <a:solidFill>
                          <a:srgbClr val="2A3142"/>
                        </a:solidFill>
                        <a:latin typeface="Calibri" panose="020F0502020204030204"/>
                      </a:endParaRPr>
                    </a:p>
                  </a:txBody>
                  <a:tcPr>
                    <a:solidFill>
                      <a:srgbClr val="F5F5F5"/>
                    </a:solidFill>
                  </a:tcPr>
                </a:tc>
              </a:tr>
            </a:tbl>
          </a:graphicData>
        </a:graphic>
      </p:graphicFrame>
      <p:sp>
        <p:nvSpPr>
          <p:cNvPr id="9" name="TextBox 8"/>
          <p:cNvSpPr txBox="1"/>
          <p:nvPr/>
        </p:nvSpPr>
        <p:spPr>
          <a:xfrm>
            <a:off x="548640" y="6012640"/>
            <a:ext cx="9144000" cy="320000"/>
          </a:xfrm>
          <a:prstGeom prst="rect">
            <a:avLst/>
          </a:prstGeom>
          <a:noFill/>
        </p:spPr>
        <p:txBody>
          <a:bodyPr wrap="square">
            <a:spAutoFit/>
          </a:bodyPr>
          <a:lstStyle/>
          <a:p>
            <a:pPr algn="l"/>
            <a:r>
              <a:rPr sz="900" b="0" i="1">
                <a:solidFill>
                  <a:srgbClr val="1F9C4E"/>
                </a:solidFill>
                <a:latin typeface="Calibri" panose="020F0502020204030204"/>
              </a:rPr>
              <a:t>✔  Choix : Apache Hop  —  Critère décisif : seul outil dont les pipelines XML sont générables par LLM</a:t>
            </a:r>
            <a:endParaRPr sz="900" b="0" i="1">
              <a:solidFill>
                <a:srgbClr val="1F9C4E"/>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58368" y="566928"/>
            <a:ext cx="10058400" cy="274320"/>
          </a:xfrm>
          <a:prstGeom prst="rect">
            <a:avLst/>
          </a:prstGeom>
          <a:noFill/>
        </p:spPr>
        <p:txBody>
          <a:bodyPr wrap="square">
            <a:spAutoFit/>
          </a:bodyPr>
          <a:lstStyle/>
          <a:p>
            <a:pPr algn="l"/>
            <a:r>
              <a:rPr sz="1100" b="1" i="0">
                <a:solidFill>
                  <a:srgbClr val="1F4E9C"/>
                </a:solidFill>
                <a:latin typeface="Calibri" panose="020F0502020204030204"/>
              </a:rPr>
              <a:t>04  CONCEPTION</a:t>
            </a:r>
            <a:endParaRPr sz="1100" b="1" i="0">
              <a:solidFill>
                <a:srgbClr val="1F4E9C"/>
              </a:solidFill>
              <a:latin typeface="Calibri" panose="020F0502020204030204"/>
            </a:endParaRPr>
          </a:p>
        </p:txBody>
      </p:sp>
      <p:sp>
        <p:nvSpPr>
          <p:cNvPr id="3" name="TextBox 2"/>
          <p:cNvSpPr txBox="1"/>
          <p:nvPr/>
        </p:nvSpPr>
        <p:spPr>
          <a:xfrm>
            <a:off x="640080" y="868680"/>
            <a:ext cx="10881360" cy="553085"/>
          </a:xfrm>
          <a:prstGeom prst="rect">
            <a:avLst/>
          </a:prstGeom>
          <a:noFill/>
        </p:spPr>
        <p:txBody>
          <a:bodyPr wrap="square">
            <a:spAutoFit/>
          </a:bodyPr>
          <a:lstStyle/>
          <a:p>
            <a:pPr algn="l"/>
            <a:r>
              <a:rPr sz="3000" b="1" i="0">
                <a:solidFill>
                  <a:srgbClr val="12203F"/>
                </a:solidFill>
                <a:latin typeface="Calibri" panose="020F0502020204030204"/>
              </a:rPr>
              <a:t>Benchmark</a:t>
            </a:r>
            <a:r>
              <a:rPr lang="fr-FR" sz="3000" b="1" i="0">
                <a:solidFill>
                  <a:srgbClr val="12203F"/>
                </a:solidFill>
                <a:latin typeface="Calibri" panose="020F0502020204030204"/>
              </a:rPr>
              <a:t>:</a:t>
            </a:r>
            <a:r>
              <a:rPr sz="3000" b="1" i="0">
                <a:solidFill>
                  <a:srgbClr val="12203F"/>
                </a:solidFill>
                <a:latin typeface="Calibri" panose="020F0502020204030204"/>
              </a:rPr>
              <a:t> Agent IA de code</a:t>
            </a:r>
            <a:endParaRPr sz="3000" b="1" i="0">
              <a:solidFill>
                <a:srgbClr val="12203F"/>
              </a:solidFill>
              <a:latin typeface="Calibri" panose="020F0502020204030204"/>
            </a:endParaRPr>
          </a:p>
        </p:txBody>
      </p:sp>
      <p:pic>
        <p:nvPicPr>
          <p:cNvPr id="4" name="Picture 3" descr="image.png"/>
          <p:cNvPicPr>
            <a:picLocks noChangeAspect="1"/>
          </p:cNvPicPr>
          <p:nvPr/>
        </p:nvPicPr>
        <p:blipFill>
          <a:blip r:embed="rId1"/>
          <a:stretch>
            <a:fillRect/>
          </a:stretch>
        </p:blipFill>
        <p:spPr>
          <a:xfrm>
            <a:off x="9832848" y="2286000"/>
            <a:ext cx="2173224" cy="5669280"/>
          </a:xfrm>
          <a:prstGeom prst="rect">
            <a:avLst/>
          </a:prstGeom>
        </p:spPr>
      </p:pic>
      <p:pic>
        <p:nvPicPr>
          <p:cNvPr id="5" name="Picture 4" descr="image.png"/>
          <p:cNvPicPr>
            <a:picLocks noChangeAspect="1"/>
          </p:cNvPicPr>
          <p:nvPr/>
        </p:nvPicPr>
        <p:blipFill>
          <a:blip r:embed="rId2"/>
          <a:stretch>
            <a:fillRect/>
          </a:stretch>
        </p:blipFill>
        <p:spPr>
          <a:xfrm>
            <a:off x="640080" y="6327648"/>
            <a:ext cx="415260" cy="237744"/>
          </a:xfrm>
          <a:prstGeom prst="rect">
            <a:avLst/>
          </a:prstGeom>
        </p:spPr>
      </p:pic>
      <p:sp>
        <p:nvSpPr>
          <p:cNvPr id="6" name="TextBox 5"/>
          <p:cNvSpPr txBox="1"/>
          <p:nvPr/>
        </p:nvSpPr>
        <p:spPr>
          <a:xfrm>
            <a:off x="1188720" y="6309360"/>
            <a:ext cx="7315200" cy="274320"/>
          </a:xfrm>
          <a:prstGeom prst="rect">
            <a:avLst/>
          </a:prstGeom>
          <a:noFill/>
        </p:spPr>
        <p:txBody>
          <a:bodyPr wrap="square">
            <a:spAutoFit/>
          </a:bodyPr>
          <a:lstStyle/>
          <a:p>
            <a:pPr algn="l"/>
            <a:r>
              <a:rPr sz="900" b="0" i="0">
                <a:solidFill>
                  <a:srgbClr val="7A8294"/>
                </a:solidFill>
                <a:latin typeface="Calibri" panose="020F0502020204030204"/>
              </a:rPr>
              <a:t>Projet de Fin d'Études : Génie Informatique</a:t>
            </a:r>
            <a:endParaRPr sz="900" b="0" i="0">
              <a:solidFill>
                <a:srgbClr val="7A8294"/>
              </a:solidFill>
              <a:latin typeface="Calibri" panose="020F0502020204030204"/>
            </a:endParaRPr>
          </a:p>
        </p:txBody>
      </p:sp>
      <p:sp>
        <p:nvSpPr>
          <p:cNvPr id="7" name="TextBox 6"/>
          <p:cNvSpPr txBox="1"/>
          <p:nvPr/>
        </p:nvSpPr>
        <p:spPr>
          <a:xfrm>
            <a:off x="10360152" y="6309360"/>
            <a:ext cx="1188720" cy="274320"/>
          </a:xfrm>
          <a:prstGeom prst="rect">
            <a:avLst/>
          </a:prstGeom>
          <a:noFill/>
        </p:spPr>
        <p:txBody>
          <a:bodyPr wrap="none">
            <a:spAutoFit/>
          </a:bodyPr>
          <a:lstStyle/>
          <a:p>
            <a:pPr algn="r"/>
            <a:r>
              <a:rPr sz="1000" b="1">
                <a:solidFill>
                  <a:srgbClr val="1F4E9C"/>
                </a:solidFill>
                <a:latin typeface="Calibri" panose="020F0502020204030204"/>
              </a:rPr>
              <a:t>07</a:t>
            </a:r>
            <a:r>
              <a:rPr sz="1000" b="0">
                <a:solidFill>
                  <a:srgbClr val="7A8294"/>
                </a:solidFill>
                <a:latin typeface="Calibri" panose="020F0502020204030204"/>
              </a:rPr>
              <a:t> / 21</a:t>
            </a:r>
            <a:endParaRPr sz="1000" b="0">
              <a:solidFill>
                <a:srgbClr val="7A8294"/>
              </a:solidFill>
              <a:latin typeface="Calibri" panose="020F0502020204030204"/>
            </a:endParaRPr>
          </a:p>
        </p:txBody>
      </p:sp>
      <p:graphicFrame>
        <p:nvGraphicFramePr>
          <p:cNvPr id="8" name="Table 7"/>
          <p:cNvGraphicFramePr>
            <a:graphicFrameLocks noGrp="1"/>
          </p:cNvGraphicFramePr>
          <p:nvPr/>
        </p:nvGraphicFramePr>
        <p:xfrm>
          <a:off x="548640" y="1706400"/>
          <a:ext cx="9200000" cy="3900000"/>
        </p:xfrm>
        <a:graphic>
          <a:graphicData uri="http://schemas.openxmlformats.org/drawingml/2006/table">
            <a:tbl>
              <a:tblPr firstRow="1" bandRow="1">
                <a:tableStyleId>{5C22544A-7EE6-4342-B048-85BDC9FD1C3A}</a:tableStyleId>
              </a:tblPr>
              <a:tblGrid>
                <a:gridCol w="3200000"/>
                <a:gridCol w="2000000"/>
                <a:gridCol w="2000000"/>
                <a:gridCol w="2000000"/>
              </a:tblGrid>
              <a:tr h="650000">
                <a:tc>
                  <a:txBody>
                    <a:bodyPr wrap="square"/>
                    <a:lstStyle/>
                    <a:p>
                      <a:pPr algn="ctr"/>
                      <a:r>
                        <a:rPr sz="1000" b="1">
                          <a:solidFill>
                            <a:srgbClr val="12203F"/>
                          </a:solidFill>
                          <a:latin typeface="Calibri" panose="020F0502020204030204"/>
                        </a:rPr>
                        <a:t>Critère</a:t>
                      </a:r>
                      <a:endParaRPr sz="1000" b="1">
                        <a:solidFill>
                          <a:srgbClr val="12203F"/>
                        </a:solidFill>
                        <a:latin typeface="Calibri" panose="020F0502020204030204"/>
                      </a:endParaRPr>
                    </a:p>
                  </a:txBody>
                  <a:tcPr>
                    <a:solidFill>
                      <a:srgbClr val="D6E4F0"/>
                    </a:solidFill>
                  </a:tcPr>
                </a:tc>
                <a:tc>
                  <a:txBody>
                    <a:bodyPr wrap="square"/>
                    <a:lstStyle/>
                    <a:p>
                      <a:pPr algn="ctr"/>
                      <a:r>
                        <a:rPr sz="1000" b="1">
                          <a:solidFill>
                            <a:srgbClr val="12203F"/>
                          </a:solidFill>
                          <a:latin typeface="Calibri" panose="020F0502020204030204"/>
                        </a:rPr>
                        <a:t>Claude Code</a:t>
                      </a:r>
                      <a:endParaRPr sz="1000" b="1">
                        <a:solidFill>
                          <a:srgbClr val="12203F"/>
                        </a:solidFill>
                        <a:latin typeface="Calibri" panose="020F0502020204030204"/>
                      </a:endParaRPr>
                    </a:p>
                  </a:txBody>
                  <a:tcPr>
                    <a:solidFill>
                      <a:srgbClr val="D6E4F0"/>
                    </a:solidFill>
                  </a:tcPr>
                </a:tc>
                <a:tc>
                  <a:txBody>
                    <a:bodyPr wrap="square"/>
                    <a:lstStyle/>
                    <a:p>
                      <a:pPr algn="ctr"/>
                      <a:r>
                        <a:rPr sz="1000" b="1">
                          <a:solidFill>
                            <a:srgbClr val="12203F"/>
                          </a:solidFill>
                          <a:latin typeface="Calibri" panose="020F0502020204030204"/>
                        </a:rPr>
                        <a:t>Codex CLI (OpenAI)</a:t>
                      </a:r>
                      <a:endParaRPr sz="1000" b="1">
                        <a:solidFill>
                          <a:srgbClr val="12203F"/>
                        </a:solidFill>
                        <a:latin typeface="Calibri" panose="020F0502020204030204"/>
                      </a:endParaRPr>
                    </a:p>
                  </a:txBody>
                  <a:tcPr>
                    <a:solidFill>
                      <a:srgbClr val="D6E4F0"/>
                    </a:solidFill>
                  </a:tcPr>
                </a:tc>
                <a:tc>
                  <a:txBody>
                    <a:bodyPr wrap="square"/>
                    <a:lstStyle/>
                    <a:p>
                      <a:pPr algn="ctr"/>
                      <a:r>
                        <a:rPr sz="1000" b="1">
                          <a:solidFill>
                            <a:srgbClr val="12203F"/>
                          </a:solidFill>
                          <a:latin typeface="Calibri" panose="020F0502020204030204"/>
                        </a:rPr>
                        <a:t>Gemini CLI (Google)</a:t>
                      </a:r>
                      <a:endParaRPr sz="1000" b="1">
                        <a:solidFill>
                          <a:srgbClr val="12203F"/>
                        </a:solidFill>
                        <a:latin typeface="Calibri" panose="020F0502020204030204"/>
                      </a:endParaRPr>
                    </a:p>
                  </a:txBody>
                  <a:tcPr>
                    <a:solidFill>
                      <a:srgbClr val="D6E4F0"/>
                    </a:solidFill>
                  </a:tcPr>
                </a:tc>
              </a:tr>
              <a:tr h="650000">
                <a:tc>
                  <a:txBody>
                    <a:bodyPr wrap="square"/>
                    <a:lstStyle/>
                    <a:p>
                      <a:pPr algn="l"/>
                      <a:r>
                        <a:rPr sz="900" b="1">
                          <a:solidFill>
                            <a:srgbClr val="12203F"/>
                          </a:solidFill>
                          <a:latin typeface="Calibri" panose="020F0502020204030204"/>
                        </a:rPr>
                        <a:t>Coding Agent Index</a:t>
                      </a:r>
                      <a:endParaRPr sz="900" b="1">
                        <a:solidFill>
                          <a:srgbClr val="12203F"/>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77</a:t>
                      </a:r>
                      <a:endParaRPr sz="900" b="0">
                        <a:solidFill>
                          <a:srgbClr val="2A3142"/>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76</a:t>
                      </a:r>
                      <a:endParaRPr sz="900" b="0">
                        <a:solidFill>
                          <a:srgbClr val="2A3142"/>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a:t>
                      </a:r>
                      <a:endParaRPr sz="900" b="0">
                        <a:solidFill>
                          <a:srgbClr val="2A3142"/>
                        </a:solidFill>
                        <a:latin typeface="Calibri" panose="020F0502020204030204"/>
                      </a:endParaRPr>
                    </a:p>
                  </a:txBody>
                  <a:tcPr>
                    <a:solidFill>
                      <a:srgbClr val="F5F5F5"/>
                    </a:solidFill>
                  </a:tcPr>
                </a:tc>
              </a:tr>
              <a:tr h="650000">
                <a:tc>
                  <a:txBody>
                    <a:bodyPr wrap="square"/>
                    <a:lstStyle/>
                    <a:p>
                      <a:pPr algn="l"/>
                      <a:r>
                        <a:rPr sz="900" b="1">
                          <a:solidFill>
                            <a:srgbClr val="12203F"/>
                          </a:solidFill>
                          <a:latin typeface="Calibri" panose="020F0502020204030204"/>
                        </a:rPr>
                        <a:t>Terminal-Bench Hard</a:t>
                      </a:r>
                      <a:endParaRPr sz="900" b="1">
                        <a:solidFill>
                          <a:srgbClr val="12203F"/>
                        </a:solidFill>
                        <a:latin typeface="Calibri" panose="020F0502020204030204"/>
                      </a:endParaRPr>
                    </a:p>
                  </a:txBody>
                  <a:tcPr>
                    <a:solidFill>
                      <a:srgbClr val="FFFFFF"/>
                    </a:solidFill>
                  </a:tcPr>
                </a:tc>
                <a:tc>
                  <a:txBody>
                    <a:bodyPr wrap="square"/>
                    <a:lstStyle/>
                    <a:p>
                      <a:pPr algn="ctr"/>
                      <a:r>
                        <a:rPr sz="900" b="0">
                          <a:solidFill>
                            <a:srgbClr val="2A3142"/>
                          </a:solidFill>
                          <a:latin typeface="Calibri" panose="020F0502020204030204"/>
                        </a:rPr>
                        <a:t>63 %</a:t>
                      </a:r>
                      <a:endParaRPr sz="900" b="0">
                        <a:solidFill>
                          <a:srgbClr val="2A3142"/>
                        </a:solidFill>
                        <a:latin typeface="Calibri" panose="020F0502020204030204"/>
                      </a:endParaRPr>
                    </a:p>
                  </a:txBody>
                  <a:tcPr>
                    <a:solidFill>
                      <a:srgbClr val="FFFFFF"/>
                    </a:solidFill>
                  </a:tcPr>
                </a:tc>
                <a:tc>
                  <a:txBody>
                    <a:bodyPr wrap="square"/>
                    <a:lstStyle/>
                    <a:p>
                      <a:pPr algn="ctr"/>
                      <a:r>
                        <a:rPr sz="900" b="0">
                          <a:solidFill>
                            <a:srgbClr val="2A3142"/>
                          </a:solidFill>
                          <a:latin typeface="Calibri" panose="020F0502020204030204"/>
                        </a:rPr>
                        <a:t>61 %</a:t>
                      </a:r>
                      <a:endParaRPr sz="900" b="0">
                        <a:solidFill>
                          <a:srgbClr val="2A3142"/>
                        </a:solidFill>
                        <a:latin typeface="Calibri" panose="020F0502020204030204"/>
                      </a:endParaRPr>
                    </a:p>
                  </a:txBody>
                  <a:tcPr>
                    <a:solidFill>
                      <a:srgbClr val="FFFFFF"/>
                    </a:solidFill>
                  </a:tcPr>
                </a:tc>
                <a:tc>
                  <a:txBody>
                    <a:bodyPr wrap="square"/>
                    <a:lstStyle/>
                    <a:p>
                      <a:pPr algn="ctr"/>
                      <a:r>
                        <a:rPr sz="900" b="0">
                          <a:solidFill>
                            <a:srgbClr val="2A3142"/>
                          </a:solidFill>
                          <a:latin typeface="Calibri" panose="020F0502020204030204"/>
                        </a:rPr>
                        <a:t>54 %</a:t>
                      </a:r>
                      <a:endParaRPr sz="900" b="0">
                        <a:solidFill>
                          <a:srgbClr val="2A3142"/>
                        </a:solidFill>
                        <a:latin typeface="Calibri" panose="020F0502020204030204"/>
                      </a:endParaRPr>
                    </a:p>
                  </a:txBody>
                  <a:tcPr>
                    <a:solidFill>
                      <a:srgbClr val="FFFFFF"/>
                    </a:solidFill>
                  </a:tcPr>
                </a:tc>
              </a:tr>
              <a:tr h="650000">
                <a:tc>
                  <a:txBody>
                    <a:bodyPr wrap="square"/>
                    <a:lstStyle/>
                    <a:p>
                      <a:pPr algn="l"/>
                      <a:r>
                        <a:rPr sz="900" b="1">
                          <a:solidFill>
                            <a:srgbClr val="12203F"/>
                          </a:solidFill>
                          <a:latin typeface="Calibri" panose="020F0502020204030204"/>
                        </a:rPr>
                        <a:t>Intelligence Index</a:t>
                      </a:r>
                      <a:endParaRPr sz="900" b="1">
                        <a:solidFill>
                          <a:srgbClr val="12203F"/>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65</a:t>
                      </a:r>
                      <a:endParaRPr sz="900" b="0">
                        <a:solidFill>
                          <a:srgbClr val="2A3142"/>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60</a:t>
                      </a:r>
                      <a:endParaRPr sz="900" b="0">
                        <a:solidFill>
                          <a:srgbClr val="2A3142"/>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57</a:t>
                      </a:r>
                      <a:endParaRPr sz="900" b="0">
                        <a:solidFill>
                          <a:srgbClr val="2A3142"/>
                        </a:solidFill>
                        <a:latin typeface="Calibri" panose="020F0502020204030204"/>
                      </a:endParaRPr>
                    </a:p>
                  </a:txBody>
                  <a:tcPr>
                    <a:solidFill>
                      <a:srgbClr val="F5F5F5"/>
                    </a:solidFill>
                  </a:tcPr>
                </a:tc>
              </a:tr>
              <a:tr h="650000">
                <a:tc>
                  <a:txBody>
                    <a:bodyPr wrap="square"/>
                    <a:lstStyle/>
                    <a:p>
                      <a:pPr algn="l"/>
                      <a:r>
                        <a:rPr sz="900" b="1">
                          <a:solidFill>
                            <a:srgbClr val="12203F"/>
                          </a:solidFill>
                          <a:latin typeface="Calibri" panose="020F0502020204030204"/>
                        </a:rPr>
                        <a:t>Prix / 1M tokens</a:t>
                      </a:r>
                      <a:endParaRPr sz="900" b="1">
                        <a:solidFill>
                          <a:srgbClr val="12203F"/>
                        </a:solidFill>
                        <a:latin typeface="Calibri" panose="020F0502020204030204"/>
                      </a:endParaRPr>
                    </a:p>
                  </a:txBody>
                  <a:tcPr>
                    <a:solidFill>
                      <a:srgbClr val="FFFFFF"/>
                    </a:solidFill>
                  </a:tcPr>
                </a:tc>
                <a:tc>
                  <a:txBody>
                    <a:bodyPr wrap="square"/>
                    <a:lstStyle/>
                    <a:p>
                      <a:pPr algn="ctr"/>
                      <a:r>
                        <a:rPr sz="900" b="0">
                          <a:solidFill>
                            <a:srgbClr val="2A3142"/>
                          </a:solidFill>
                          <a:latin typeface="Calibri" panose="020F0502020204030204"/>
                        </a:rPr>
                        <a:t>$7.7</a:t>
                      </a:r>
                      <a:endParaRPr sz="900" b="0">
                        <a:solidFill>
                          <a:srgbClr val="2A3142"/>
                        </a:solidFill>
                        <a:latin typeface="Calibri" panose="020F0502020204030204"/>
                      </a:endParaRPr>
                    </a:p>
                  </a:txBody>
                  <a:tcPr>
                    <a:solidFill>
                      <a:srgbClr val="FFFFFF"/>
                    </a:solidFill>
                  </a:tcPr>
                </a:tc>
                <a:tc>
                  <a:txBody>
                    <a:bodyPr wrap="square"/>
                    <a:lstStyle/>
                    <a:p>
                      <a:pPr algn="ctr"/>
                      <a:r>
                        <a:rPr sz="900" b="0">
                          <a:solidFill>
                            <a:srgbClr val="2A3142"/>
                          </a:solidFill>
                          <a:latin typeface="Calibri" panose="020F0502020204030204"/>
                        </a:rPr>
                        <a:t>$4.3</a:t>
                      </a:r>
                      <a:endParaRPr sz="900" b="0">
                        <a:solidFill>
                          <a:srgbClr val="2A3142"/>
                        </a:solidFill>
                        <a:latin typeface="Calibri" panose="020F0502020204030204"/>
                      </a:endParaRPr>
                    </a:p>
                  </a:txBody>
                  <a:tcPr>
                    <a:solidFill>
                      <a:srgbClr val="FFFFFF"/>
                    </a:solidFill>
                  </a:tcPr>
                </a:tc>
                <a:tc>
                  <a:txBody>
                    <a:bodyPr wrap="square"/>
                    <a:lstStyle/>
                    <a:p>
                      <a:pPr algn="ctr"/>
                      <a:r>
                        <a:rPr sz="900" b="0">
                          <a:solidFill>
                            <a:srgbClr val="2A3142"/>
                          </a:solidFill>
                          <a:latin typeface="Calibri" panose="020F0502020204030204"/>
                        </a:rPr>
                        <a:t>$1.7</a:t>
                      </a:r>
                      <a:endParaRPr sz="900" b="0">
                        <a:solidFill>
                          <a:srgbClr val="2A3142"/>
                        </a:solidFill>
                        <a:latin typeface="Calibri" panose="020F0502020204030204"/>
                      </a:endParaRPr>
                    </a:p>
                  </a:txBody>
                  <a:tcPr>
                    <a:solidFill>
                      <a:srgbClr val="FFFFFF"/>
                    </a:solidFill>
                  </a:tcPr>
                </a:tc>
              </a:tr>
              <a:tr h="650000">
                <a:tc>
                  <a:txBody>
                    <a:bodyPr wrap="square"/>
                    <a:lstStyle/>
                    <a:p>
                      <a:pPr algn="l"/>
                      <a:r>
                        <a:rPr sz="900" b="1">
                          <a:solidFill>
                            <a:srgbClr val="12203F"/>
                          </a:solidFill>
                          <a:latin typeface="Calibri" panose="020F0502020204030204"/>
                        </a:rPr>
                        <a:t>Contexte max</a:t>
                      </a:r>
                      <a:endParaRPr sz="900" b="1">
                        <a:solidFill>
                          <a:srgbClr val="12203F"/>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200K–1M</a:t>
                      </a:r>
                      <a:endParaRPr sz="900" b="0">
                        <a:solidFill>
                          <a:srgbClr val="2A3142"/>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128K–1M</a:t>
                      </a:r>
                      <a:endParaRPr sz="900" b="0">
                        <a:solidFill>
                          <a:srgbClr val="2A3142"/>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1M</a:t>
                      </a:r>
                      <a:endParaRPr sz="900" b="0">
                        <a:solidFill>
                          <a:srgbClr val="2A3142"/>
                        </a:solidFill>
                        <a:latin typeface="Calibri" panose="020F0502020204030204"/>
                      </a:endParaRPr>
                    </a:p>
                  </a:txBody>
                  <a:tcPr>
                    <a:solidFill>
                      <a:srgbClr val="F5F5F5"/>
                    </a:solidFill>
                  </a:tcPr>
                </a:tc>
              </a:tr>
            </a:tbl>
          </a:graphicData>
        </a:graphic>
      </p:graphicFrame>
      <p:sp>
        <p:nvSpPr>
          <p:cNvPr id="9" name="TextBox 8"/>
          <p:cNvSpPr txBox="1"/>
          <p:nvPr/>
        </p:nvSpPr>
        <p:spPr>
          <a:xfrm>
            <a:off x="548640" y="6012640"/>
            <a:ext cx="9144000" cy="320000"/>
          </a:xfrm>
          <a:prstGeom prst="rect">
            <a:avLst/>
          </a:prstGeom>
          <a:noFill/>
        </p:spPr>
        <p:txBody>
          <a:bodyPr wrap="square">
            <a:spAutoFit/>
          </a:bodyPr>
          <a:lstStyle/>
          <a:p>
            <a:pPr algn="l"/>
            <a:r>
              <a:rPr sz="900" b="0" i="1">
                <a:solidFill>
                  <a:srgbClr val="1F9C4E"/>
                </a:solidFill>
                <a:latin typeface="Calibri" panose="020F0502020204030204"/>
              </a:rPr>
              <a:t>✔  Choix : Claude Code  —  Critère pragmatique : abonnement Anthropic existant chez Axelor</a:t>
            </a:r>
            <a:endParaRPr sz="900" b="0" i="1">
              <a:solidFill>
                <a:srgbClr val="1F9C4E"/>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58368" y="566928"/>
            <a:ext cx="10058400" cy="274320"/>
          </a:xfrm>
          <a:prstGeom prst="rect">
            <a:avLst/>
          </a:prstGeom>
          <a:noFill/>
        </p:spPr>
        <p:txBody>
          <a:bodyPr wrap="square">
            <a:spAutoFit/>
          </a:bodyPr>
          <a:lstStyle/>
          <a:p>
            <a:pPr algn="l"/>
            <a:r>
              <a:rPr sz="1100" b="1" i="0">
                <a:solidFill>
                  <a:srgbClr val="1F4E9C"/>
                </a:solidFill>
                <a:latin typeface="Calibri" panose="020F0502020204030204"/>
              </a:rPr>
              <a:t>04  CONCEPTION</a:t>
            </a:r>
            <a:endParaRPr sz="1100" b="1" i="0">
              <a:solidFill>
                <a:srgbClr val="1F4E9C"/>
              </a:solidFill>
              <a:latin typeface="Calibri" panose="020F0502020204030204"/>
            </a:endParaRPr>
          </a:p>
        </p:txBody>
      </p:sp>
      <p:sp>
        <p:nvSpPr>
          <p:cNvPr id="3" name="TextBox 2"/>
          <p:cNvSpPr txBox="1"/>
          <p:nvPr/>
        </p:nvSpPr>
        <p:spPr>
          <a:xfrm>
            <a:off x="640080" y="868680"/>
            <a:ext cx="10881360" cy="685800"/>
          </a:xfrm>
          <a:prstGeom prst="rect">
            <a:avLst/>
          </a:prstGeom>
          <a:noFill/>
        </p:spPr>
        <p:txBody>
          <a:bodyPr wrap="square">
            <a:spAutoFit/>
          </a:bodyPr>
          <a:lstStyle/>
          <a:p>
            <a:pPr algn="l"/>
            <a:r>
              <a:rPr sz="3000" b="1" i="0">
                <a:solidFill>
                  <a:srgbClr val="12203F"/>
                </a:solidFill>
                <a:latin typeface="Calibri" panose="020F0502020204030204"/>
              </a:rPr>
              <a:t>Vue d'ensemble de la solution</a:t>
            </a:r>
            <a:endParaRPr sz="3000" b="1" i="0">
              <a:solidFill>
                <a:srgbClr val="12203F"/>
              </a:solidFill>
              <a:latin typeface="Calibri" panose="020F0502020204030204"/>
            </a:endParaRPr>
          </a:p>
        </p:txBody>
      </p:sp>
      <p:pic>
        <p:nvPicPr>
          <p:cNvPr id="4" name="Picture 3" descr="image.png"/>
          <p:cNvPicPr>
            <a:picLocks noChangeAspect="1"/>
          </p:cNvPicPr>
          <p:nvPr/>
        </p:nvPicPr>
        <p:blipFill>
          <a:blip r:embed="rId1"/>
          <a:stretch>
            <a:fillRect/>
          </a:stretch>
        </p:blipFill>
        <p:spPr>
          <a:xfrm>
            <a:off x="9832848" y="2286000"/>
            <a:ext cx="2173224" cy="5669280"/>
          </a:xfrm>
          <a:prstGeom prst="rect">
            <a:avLst/>
          </a:prstGeom>
        </p:spPr>
      </p:pic>
      <p:pic>
        <p:nvPicPr>
          <p:cNvPr id="5" name="Picture 4" descr="image.png"/>
          <p:cNvPicPr>
            <a:picLocks noChangeAspect="1"/>
          </p:cNvPicPr>
          <p:nvPr/>
        </p:nvPicPr>
        <p:blipFill>
          <a:blip r:embed="rId2"/>
          <a:stretch>
            <a:fillRect/>
          </a:stretch>
        </p:blipFill>
        <p:spPr>
          <a:xfrm>
            <a:off x="640080" y="6327648"/>
            <a:ext cx="415260" cy="237744"/>
          </a:xfrm>
          <a:prstGeom prst="rect">
            <a:avLst/>
          </a:prstGeom>
        </p:spPr>
      </p:pic>
      <p:sp>
        <p:nvSpPr>
          <p:cNvPr id="6" name="TextBox 5"/>
          <p:cNvSpPr txBox="1"/>
          <p:nvPr/>
        </p:nvSpPr>
        <p:spPr>
          <a:xfrm>
            <a:off x="1188720" y="6309360"/>
            <a:ext cx="7315200" cy="274320"/>
          </a:xfrm>
          <a:prstGeom prst="rect">
            <a:avLst/>
          </a:prstGeom>
          <a:noFill/>
        </p:spPr>
        <p:txBody>
          <a:bodyPr wrap="square">
            <a:spAutoFit/>
          </a:bodyPr>
          <a:lstStyle/>
          <a:p>
            <a:pPr algn="l"/>
            <a:r>
              <a:rPr sz="900" b="0" i="0">
                <a:solidFill>
                  <a:srgbClr val="7A8294"/>
                </a:solidFill>
                <a:latin typeface="Calibri" panose="020F0502020204030204"/>
              </a:rPr>
              <a:t>Projet de Fin d'Études : Génie Informatique</a:t>
            </a:r>
            <a:endParaRPr sz="900" b="0" i="0">
              <a:solidFill>
                <a:srgbClr val="7A8294"/>
              </a:solidFill>
              <a:latin typeface="Calibri" panose="020F0502020204030204"/>
            </a:endParaRPr>
          </a:p>
        </p:txBody>
      </p:sp>
      <p:sp>
        <p:nvSpPr>
          <p:cNvPr id="7" name="TextBox 6"/>
          <p:cNvSpPr txBox="1"/>
          <p:nvPr/>
        </p:nvSpPr>
        <p:spPr>
          <a:xfrm>
            <a:off x="10360152" y="6309360"/>
            <a:ext cx="1188720" cy="274320"/>
          </a:xfrm>
          <a:prstGeom prst="rect">
            <a:avLst/>
          </a:prstGeom>
          <a:noFill/>
        </p:spPr>
        <p:txBody>
          <a:bodyPr wrap="none">
            <a:spAutoFit/>
          </a:bodyPr>
          <a:lstStyle/>
          <a:p>
            <a:pPr algn="r"/>
            <a:r>
              <a:rPr sz="1000" b="1">
                <a:solidFill>
                  <a:srgbClr val="1F4E9C"/>
                </a:solidFill>
                <a:latin typeface="Calibri" panose="020F0502020204030204"/>
              </a:rPr>
              <a:t>08</a:t>
            </a:r>
            <a:r>
              <a:rPr sz="1000" b="0">
                <a:solidFill>
                  <a:srgbClr val="7A8294"/>
                </a:solidFill>
                <a:latin typeface="Calibri" panose="020F0502020204030204"/>
              </a:rPr>
              <a:t> / 21</a:t>
            </a:r>
            <a:endParaRPr sz="1000" b="0">
              <a:solidFill>
                <a:srgbClr val="7A8294"/>
              </a:solidFill>
              <a:latin typeface="Calibri" panose="020F0502020204030204"/>
            </a:endParaRPr>
          </a:p>
        </p:txBody>
      </p:sp>
      <p:sp>
        <p:nvSpPr>
          <p:cNvPr id="8" name="Rounded Rectangle 7"/>
          <p:cNvSpPr/>
          <p:nvPr/>
        </p:nvSpPr>
        <p:spPr>
          <a:xfrm>
            <a:off x="600000" y="2200000"/>
            <a:ext cx="780000" cy="620000"/>
          </a:xfrm>
          <a:prstGeom prst="roundRect">
            <a:avLst/>
          </a:prstGeom>
          <a:solidFill>
            <a:srgbClr val="D6E4F0"/>
          </a:solidFill>
          <a:ln w="19050">
            <a:solidFill>
              <a:srgbClr val="1F4E9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a:solidFill>
                  <a:srgbClr val="12203F"/>
                </a:solidFill>
                <a:latin typeface="Calibri" panose="020F0502020204030204"/>
              </a:rPr>
              <a:t>CSV</a:t>
            </a:r>
            <a:endParaRPr sz="900" b="0">
              <a:solidFill>
                <a:srgbClr val="12203F"/>
              </a:solidFill>
              <a:latin typeface="Calibri" panose="020F0502020204030204"/>
            </a:endParaRPr>
          </a:p>
        </p:txBody>
      </p:sp>
      <p:sp>
        <p:nvSpPr>
          <p:cNvPr id="9" name="TextBox 8"/>
          <p:cNvSpPr txBox="1"/>
          <p:nvPr/>
        </p:nvSpPr>
        <p:spPr>
          <a:xfrm>
            <a:off x="1400000" y="2350000"/>
            <a:ext cx="150000" cy="300000"/>
          </a:xfrm>
          <a:prstGeom prst="rect">
            <a:avLst/>
          </a:prstGeom>
          <a:noFill/>
        </p:spPr>
        <p:txBody>
          <a:bodyPr wrap="square">
            <a:spAutoFit/>
          </a:bodyPr>
          <a:lstStyle/>
          <a:p>
            <a:pPr algn="ctr"/>
            <a:r>
              <a:rPr sz="1600" b="1" i="0">
                <a:solidFill>
                  <a:srgbClr val="1F4E9C"/>
                </a:solidFill>
                <a:latin typeface="Calibri" panose="020F0502020204030204"/>
              </a:rPr>
              <a:t>&gt;</a:t>
            </a:r>
            <a:endParaRPr sz="1600" b="1" i="0">
              <a:solidFill>
                <a:srgbClr val="1F4E9C"/>
              </a:solidFill>
              <a:latin typeface="Calibri" panose="020F0502020204030204"/>
            </a:endParaRPr>
          </a:p>
        </p:txBody>
      </p:sp>
      <p:sp>
        <p:nvSpPr>
          <p:cNvPr id="10" name="Rounded Rectangle 9"/>
          <p:cNvSpPr/>
          <p:nvPr/>
        </p:nvSpPr>
        <p:spPr>
          <a:xfrm>
            <a:off x="1570000" y="2200000"/>
            <a:ext cx="1500000" cy="620000"/>
          </a:xfrm>
          <a:prstGeom prst="roundRect">
            <a:avLst/>
          </a:prstGeom>
          <a:solidFill>
            <a:srgbClr val="D6E4F0"/>
          </a:solidFill>
          <a:ln w="19050">
            <a:solidFill>
              <a:srgbClr val="1F4E9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a:solidFill>
                  <a:srgbClr val="12203F"/>
                </a:solidFill>
                <a:latin typeface="Calibri" panose="020F0502020204030204"/>
              </a:rPr>
              <a:t>Agent IA</a:t>
            </a:r>
            <a:endParaRPr sz="900" b="0">
              <a:solidFill>
                <a:srgbClr val="12203F"/>
              </a:solidFill>
              <a:latin typeface="Calibri" panose="020F0502020204030204"/>
            </a:endParaRPr>
          </a:p>
          <a:p>
            <a:pPr algn="ctr"/>
            <a:r>
              <a:rPr sz="900" b="0">
                <a:solidFill>
                  <a:srgbClr val="12203F"/>
                </a:solidFill>
                <a:latin typeface="Calibri" panose="020F0502020204030204"/>
              </a:rPr>
              <a:t>(analyse)</a:t>
            </a:r>
            <a:endParaRPr sz="900" b="0">
              <a:solidFill>
                <a:srgbClr val="12203F"/>
              </a:solidFill>
              <a:latin typeface="Calibri" panose="020F0502020204030204"/>
            </a:endParaRPr>
          </a:p>
        </p:txBody>
      </p:sp>
      <p:sp>
        <p:nvSpPr>
          <p:cNvPr id="11" name="TextBox 10"/>
          <p:cNvSpPr txBox="1"/>
          <p:nvPr/>
        </p:nvSpPr>
        <p:spPr>
          <a:xfrm>
            <a:off x="3090000" y="2350000"/>
            <a:ext cx="150000" cy="300000"/>
          </a:xfrm>
          <a:prstGeom prst="rect">
            <a:avLst/>
          </a:prstGeom>
          <a:noFill/>
        </p:spPr>
        <p:txBody>
          <a:bodyPr wrap="square">
            <a:spAutoFit/>
          </a:bodyPr>
          <a:lstStyle/>
          <a:p>
            <a:pPr algn="ctr"/>
            <a:r>
              <a:rPr sz="1600" b="1" i="0">
                <a:solidFill>
                  <a:srgbClr val="1F4E9C"/>
                </a:solidFill>
                <a:latin typeface="Calibri" panose="020F0502020204030204"/>
              </a:rPr>
              <a:t>&gt;</a:t>
            </a:r>
            <a:endParaRPr sz="1600" b="1" i="0">
              <a:solidFill>
                <a:srgbClr val="1F4E9C"/>
              </a:solidFill>
              <a:latin typeface="Calibri" panose="020F0502020204030204"/>
            </a:endParaRPr>
          </a:p>
        </p:txBody>
      </p:sp>
      <p:sp>
        <p:nvSpPr>
          <p:cNvPr id="12" name="Rounded Rectangle 11"/>
          <p:cNvSpPr/>
          <p:nvPr/>
        </p:nvSpPr>
        <p:spPr>
          <a:xfrm>
            <a:off x="3260000" y="2200000"/>
            <a:ext cx="1450000" cy="620000"/>
          </a:xfrm>
          <a:prstGeom prst="roundRect">
            <a:avLst/>
          </a:prstGeom>
          <a:solidFill>
            <a:srgbClr val="FFF3CD"/>
          </a:solidFill>
          <a:ln w="25400">
            <a:solidFill>
              <a:srgbClr val="F0A5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2203F"/>
                </a:solidFill>
                <a:latin typeface="Calibri" panose="020F0502020204030204"/>
              </a:rPr>
              <a:t>Manifeste</a:t>
            </a:r>
            <a:endParaRPr sz="900" b="1">
              <a:solidFill>
                <a:srgbClr val="12203F"/>
              </a:solidFill>
              <a:latin typeface="Calibri" panose="020F0502020204030204"/>
            </a:endParaRPr>
          </a:p>
          <a:p>
            <a:pPr algn="ctr"/>
            <a:r>
              <a:rPr sz="900" b="1">
                <a:solidFill>
                  <a:srgbClr val="12203F"/>
                </a:solidFill>
                <a:latin typeface="Calibri" panose="020F0502020204030204"/>
              </a:rPr>
              <a:t>JSON</a:t>
            </a:r>
            <a:endParaRPr sz="900" b="1">
              <a:solidFill>
                <a:srgbClr val="12203F"/>
              </a:solidFill>
              <a:latin typeface="Calibri" panose="020F0502020204030204"/>
            </a:endParaRPr>
          </a:p>
        </p:txBody>
      </p:sp>
      <p:sp>
        <p:nvSpPr>
          <p:cNvPr id="13" name="TextBox 12"/>
          <p:cNvSpPr txBox="1"/>
          <p:nvPr/>
        </p:nvSpPr>
        <p:spPr>
          <a:xfrm>
            <a:off x="4730000" y="2350000"/>
            <a:ext cx="150000" cy="300000"/>
          </a:xfrm>
          <a:prstGeom prst="rect">
            <a:avLst/>
          </a:prstGeom>
          <a:noFill/>
        </p:spPr>
        <p:txBody>
          <a:bodyPr wrap="square">
            <a:spAutoFit/>
          </a:bodyPr>
          <a:lstStyle/>
          <a:p>
            <a:pPr algn="ctr"/>
            <a:r>
              <a:rPr sz="1600" b="1" i="0">
                <a:solidFill>
                  <a:srgbClr val="1F4E9C"/>
                </a:solidFill>
                <a:latin typeface="Calibri" panose="020F0502020204030204"/>
              </a:rPr>
              <a:t>&gt;</a:t>
            </a:r>
            <a:endParaRPr sz="1600" b="1" i="0">
              <a:solidFill>
                <a:srgbClr val="1F4E9C"/>
              </a:solidFill>
              <a:latin typeface="Calibri" panose="020F0502020204030204"/>
            </a:endParaRPr>
          </a:p>
        </p:txBody>
      </p:sp>
      <p:sp>
        <p:nvSpPr>
          <p:cNvPr id="14" name="Rounded Rectangle 13"/>
          <p:cNvSpPr/>
          <p:nvPr/>
        </p:nvSpPr>
        <p:spPr>
          <a:xfrm>
            <a:off x="4900000" y="2200000"/>
            <a:ext cx="1650000" cy="620000"/>
          </a:xfrm>
          <a:prstGeom prst="roundRect">
            <a:avLst/>
          </a:prstGeom>
          <a:solidFill>
            <a:srgbClr val="D6E4F0"/>
          </a:solidFill>
          <a:ln w="19050">
            <a:solidFill>
              <a:srgbClr val="1F4E9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a:solidFill>
                  <a:srgbClr val="12203F"/>
                </a:solidFill>
                <a:latin typeface="Calibri" panose="020F0502020204030204"/>
              </a:rPr>
              <a:t>Agent IA</a:t>
            </a:r>
            <a:endParaRPr sz="900" b="0">
              <a:solidFill>
                <a:srgbClr val="12203F"/>
              </a:solidFill>
              <a:latin typeface="Calibri" panose="020F0502020204030204"/>
            </a:endParaRPr>
          </a:p>
          <a:p>
            <a:pPr algn="ctr"/>
            <a:r>
              <a:rPr sz="900" b="0">
                <a:solidFill>
                  <a:srgbClr val="12203F"/>
                </a:solidFill>
                <a:latin typeface="Calibri" panose="020F0502020204030204"/>
              </a:rPr>
              <a:t>(génération)</a:t>
            </a:r>
            <a:endParaRPr sz="900" b="0">
              <a:solidFill>
                <a:srgbClr val="12203F"/>
              </a:solidFill>
              <a:latin typeface="Calibri" panose="020F0502020204030204"/>
            </a:endParaRPr>
          </a:p>
        </p:txBody>
      </p:sp>
      <p:sp>
        <p:nvSpPr>
          <p:cNvPr id="15" name="TextBox 14"/>
          <p:cNvSpPr txBox="1"/>
          <p:nvPr/>
        </p:nvSpPr>
        <p:spPr>
          <a:xfrm>
            <a:off x="6570000" y="2350000"/>
            <a:ext cx="150000" cy="300000"/>
          </a:xfrm>
          <a:prstGeom prst="rect">
            <a:avLst/>
          </a:prstGeom>
          <a:noFill/>
        </p:spPr>
        <p:txBody>
          <a:bodyPr wrap="square">
            <a:spAutoFit/>
          </a:bodyPr>
          <a:lstStyle/>
          <a:p>
            <a:pPr algn="ctr"/>
            <a:r>
              <a:rPr sz="1600" b="1" i="0">
                <a:solidFill>
                  <a:srgbClr val="1F4E9C"/>
                </a:solidFill>
                <a:latin typeface="Calibri" panose="020F0502020204030204"/>
              </a:rPr>
              <a:t>&gt;</a:t>
            </a:r>
            <a:endParaRPr sz="1600" b="1" i="0">
              <a:solidFill>
                <a:srgbClr val="1F4E9C"/>
              </a:solidFill>
              <a:latin typeface="Calibri" panose="020F0502020204030204"/>
            </a:endParaRPr>
          </a:p>
        </p:txBody>
      </p:sp>
      <p:sp>
        <p:nvSpPr>
          <p:cNvPr id="16" name="Rounded Rectangle 15"/>
          <p:cNvSpPr/>
          <p:nvPr/>
        </p:nvSpPr>
        <p:spPr>
          <a:xfrm>
            <a:off x="6740000" y="2200000"/>
            <a:ext cx="1300000" cy="620000"/>
          </a:xfrm>
          <a:prstGeom prst="roundRect">
            <a:avLst/>
          </a:prstGeom>
          <a:solidFill>
            <a:srgbClr val="D6E4F0"/>
          </a:solidFill>
          <a:ln w="19050">
            <a:solidFill>
              <a:srgbClr val="1F4E9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a:solidFill>
                  <a:srgbClr val="12203F"/>
                </a:solidFill>
                <a:latin typeface="Calibri" panose="020F0502020204030204"/>
              </a:rPr>
              <a:t>Apache Hop</a:t>
            </a:r>
            <a:endParaRPr sz="900" b="0">
              <a:solidFill>
                <a:srgbClr val="12203F"/>
              </a:solidFill>
              <a:latin typeface="Calibri" panose="020F0502020204030204"/>
            </a:endParaRPr>
          </a:p>
        </p:txBody>
      </p:sp>
      <p:sp>
        <p:nvSpPr>
          <p:cNvPr id="17" name="TextBox 16"/>
          <p:cNvSpPr txBox="1"/>
          <p:nvPr/>
        </p:nvSpPr>
        <p:spPr>
          <a:xfrm>
            <a:off x="8060000" y="2350000"/>
            <a:ext cx="150000" cy="300000"/>
          </a:xfrm>
          <a:prstGeom prst="rect">
            <a:avLst/>
          </a:prstGeom>
          <a:noFill/>
        </p:spPr>
        <p:txBody>
          <a:bodyPr wrap="square">
            <a:spAutoFit/>
          </a:bodyPr>
          <a:lstStyle/>
          <a:p>
            <a:pPr algn="ctr"/>
            <a:r>
              <a:rPr sz="1600" b="1" i="0">
                <a:solidFill>
                  <a:srgbClr val="1F4E9C"/>
                </a:solidFill>
                <a:latin typeface="Calibri" panose="020F0502020204030204"/>
              </a:rPr>
              <a:t>&gt;</a:t>
            </a:r>
            <a:endParaRPr sz="1600" b="1" i="0">
              <a:solidFill>
                <a:srgbClr val="1F4E9C"/>
              </a:solidFill>
              <a:latin typeface="Calibri" panose="020F0502020204030204"/>
            </a:endParaRPr>
          </a:p>
        </p:txBody>
      </p:sp>
      <p:sp>
        <p:nvSpPr>
          <p:cNvPr id="18" name="Rounded Rectangle 17"/>
          <p:cNvSpPr/>
          <p:nvPr/>
        </p:nvSpPr>
        <p:spPr>
          <a:xfrm>
            <a:off x="8230000" y="2200000"/>
            <a:ext cx="1300000" cy="620000"/>
          </a:xfrm>
          <a:prstGeom prst="roundRect">
            <a:avLst/>
          </a:prstGeom>
          <a:solidFill>
            <a:srgbClr val="D6E4F0"/>
          </a:solidFill>
          <a:ln w="19050">
            <a:solidFill>
              <a:srgbClr val="1F4E9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a:solidFill>
                  <a:srgbClr val="12203F"/>
                </a:solidFill>
                <a:latin typeface="Calibri" panose="020F0502020204030204"/>
              </a:rPr>
              <a:t>PostgreSQL</a:t>
            </a:r>
            <a:endParaRPr sz="900" b="0">
              <a:solidFill>
                <a:srgbClr val="12203F"/>
              </a:solidFill>
              <a:latin typeface="Calibri" panose="020F0502020204030204"/>
            </a:endParaRPr>
          </a:p>
        </p:txBody>
      </p:sp>
      <p:sp>
        <p:nvSpPr>
          <p:cNvPr id="19" name="Rectangle 18"/>
          <p:cNvSpPr/>
          <p:nvPr/>
        </p:nvSpPr>
        <p:spPr>
          <a:xfrm>
            <a:off x="600000" y="3260000"/>
            <a:ext cx="80000" cy="1900000"/>
          </a:xfrm>
          <a:prstGeom prst="rect">
            <a:avLst/>
          </a:prstGeom>
          <a:solidFill>
            <a:srgbClr val="1F4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000" y="3260000"/>
            <a:ext cx="2760000" cy="320000"/>
          </a:xfrm>
          <a:prstGeom prst="rect">
            <a:avLst/>
          </a:prstGeom>
          <a:noFill/>
        </p:spPr>
        <p:txBody>
          <a:bodyPr wrap="square">
            <a:spAutoFit/>
          </a:bodyPr>
          <a:lstStyle/>
          <a:p>
            <a:pPr algn="l"/>
            <a:r>
              <a:rPr sz="1100" b="1" i="0">
                <a:solidFill>
                  <a:srgbClr val="1F4E9C"/>
                </a:solidFill>
                <a:latin typeface="Calibri" panose="020F0502020204030204"/>
              </a:rPr>
              <a:t>Manifeste JSON</a:t>
            </a:r>
            <a:endParaRPr sz="1100" b="1" i="0">
              <a:solidFill>
                <a:srgbClr val="1F4E9C"/>
              </a:solidFill>
              <a:latin typeface="Calibri" panose="020F0502020204030204"/>
            </a:endParaRPr>
          </a:p>
        </p:txBody>
      </p:sp>
      <p:sp>
        <p:nvSpPr>
          <p:cNvPr id="21" name="TextBox 20"/>
          <p:cNvSpPr txBox="1"/>
          <p:nvPr/>
        </p:nvSpPr>
        <p:spPr>
          <a:xfrm>
            <a:off x="740000" y="3600000"/>
            <a:ext cx="2760000" cy="1540000"/>
          </a:xfrm>
          <a:prstGeom prst="rect">
            <a:avLst/>
          </a:prstGeom>
          <a:noFill/>
        </p:spPr>
        <p:txBody>
          <a:bodyPr wrap="square">
            <a:spAutoFit/>
          </a:bodyPr>
          <a:lstStyle/>
          <a:p>
            <a:pPr algn="l"/>
            <a:r>
              <a:rPr sz="950">
                <a:solidFill>
                  <a:srgbClr val="2A3142"/>
                </a:solidFill>
                <a:latin typeface="Calibri" panose="020F0502020204030204"/>
              </a:rPr>
              <a:t>Artefact intermédiaire entre analyse et génération.</a:t>
            </a:r>
            <a:endParaRPr sz="950">
              <a:solidFill>
                <a:srgbClr val="2A3142"/>
              </a:solidFill>
              <a:latin typeface="Calibri" panose="020F0502020204030204"/>
            </a:endParaRPr>
          </a:p>
          <a:p>
            <a:pPr algn="l"/>
            <a:r>
              <a:rPr sz="950">
                <a:solidFill>
                  <a:srgbClr val="2A3142"/>
                </a:solidFill>
                <a:latin typeface="Calibri" panose="020F0502020204030204"/>
              </a:rPr>
              <a:t>Versionnable sous Git, modifiable sans relancer l'analyse.</a:t>
            </a:r>
            <a:endParaRPr sz="950">
              <a:solidFill>
                <a:srgbClr val="2A3142"/>
              </a:solidFill>
              <a:latin typeface="Calibri" panose="020F0502020204030204"/>
            </a:endParaRPr>
          </a:p>
        </p:txBody>
      </p:sp>
      <p:sp>
        <p:nvSpPr>
          <p:cNvPr id="22" name="Rectangle 21"/>
          <p:cNvSpPr/>
          <p:nvPr/>
        </p:nvSpPr>
        <p:spPr>
          <a:xfrm>
            <a:off x="3860000" y="3260000"/>
            <a:ext cx="80000" cy="1900000"/>
          </a:xfrm>
          <a:prstGeom prst="rect">
            <a:avLst/>
          </a:prstGeom>
          <a:solidFill>
            <a:srgbClr val="1F4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00000" y="3260000"/>
            <a:ext cx="2760000" cy="320000"/>
          </a:xfrm>
          <a:prstGeom prst="rect">
            <a:avLst/>
          </a:prstGeom>
          <a:noFill/>
        </p:spPr>
        <p:txBody>
          <a:bodyPr wrap="square">
            <a:spAutoFit/>
          </a:bodyPr>
          <a:lstStyle/>
          <a:p>
            <a:pPr algn="l"/>
            <a:r>
              <a:rPr sz="1100" b="1" i="0">
                <a:solidFill>
                  <a:srgbClr val="1F4E9C"/>
                </a:solidFill>
                <a:latin typeface="Calibri" panose="020F0502020204030204"/>
              </a:rPr>
              <a:t>3 patterns ETL</a:t>
            </a:r>
            <a:endParaRPr sz="1100" b="1" i="0">
              <a:solidFill>
                <a:srgbClr val="1F4E9C"/>
              </a:solidFill>
              <a:latin typeface="Calibri" panose="020F0502020204030204"/>
            </a:endParaRPr>
          </a:p>
        </p:txBody>
      </p:sp>
      <p:sp>
        <p:nvSpPr>
          <p:cNvPr id="24" name="TextBox 23"/>
          <p:cNvSpPr txBox="1"/>
          <p:nvPr/>
        </p:nvSpPr>
        <p:spPr>
          <a:xfrm>
            <a:off x="4000000" y="3600000"/>
            <a:ext cx="2760000" cy="1540000"/>
          </a:xfrm>
          <a:prstGeom prst="rect">
            <a:avLst/>
          </a:prstGeom>
          <a:noFill/>
        </p:spPr>
        <p:txBody>
          <a:bodyPr wrap="square">
            <a:spAutoFit/>
          </a:bodyPr>
          <a:lstStyle/>
          <a:p>
            <a:pPr algn="l"/>
            <a:r>
              <a:rPr sz="950">
                <a:solidFill>
                  <a:srgbClr val="2A3142"/>
                </a:solidFill>
                <a:latin typeface="Calibri" panose="020F0502020204030204"/>
              </a:rPr>
              <a:t>Upsert (idempotence via import_id)</a:t>
            </a:r>
            <a:endParaRPr sz="950">
              <a:solidFill>
                <a:srgbClr val="2A3142"/>
              </a:solidFill>
              <a:latin typeface="Calibri" panose="020F0502020204030204"/>
            </a:endParaRPr>
          </a:p>
          <a:p>
            <a:pPr algn="l"/>
            <a:r>
              <a:rPr sz="950">
                <a:solidFill>
                  <a:srgbClr val="2A3142"/>
                </a:solidFill>
                <a:latin typeface="Calibri" panose="020F0502020204030204"/>
              </a:rPr>
              <a:t>Junction Many-to-Many</a:t>
            </a:r>
            <a:endParaRPr sz="950">
              <a:solidFill>
                <a:srgbClr val="2A3142"/>
              </a:solidFill>
              <a:latin typeface="Calibri" panose="020F0502020204030204"/>
            </a:endParaRPr>
          </a:p>
          <a:p>
            <a:pPr algn="l"/>
            <a:r>
              <a:rPr sz="950">
                <a:solidFill>
                  <a:srgbClr val="2A3142"/>
                </a:solidFill>
                <a:latin typeface="Calibri" panose="020F0502020204030204"/>
              </a:rPr>
              <a:t>Post-SQL (champs dérivés, séquences)</a:t>
            </a:r>
            <a:endParaRPr sz="950">
              <a:solidFill>
                <a:srgbClr val="2A3142"/>
              </a:solidFill>
              <a:latin typeface="Calibri" panose="020F0502020204030204"/>
            </a:endParaRPr>
          </a:p>
        </p:txBody>
      </p:sp>
      <p:sp>
        <p:nvSpPr>
          <p:cNvPr id="25" name="Rectangle 24"/>
          <p:cNvSpPr/>
          <p:nvPr/>
        </p:nvSpPr>
        <p:spPr>
          <a:xfrm>
            <a:off x="7120000" y="3260000"/>
            <a:ext cx="80000" cy="1900000"/>
          </a:xfrm>
          <a:prstGeom prst="rect">
            <a:avLst/>
          </a:prstGeom>
          <a:solidFill>
            <a:srgbClr val="1F4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000" y="3260000"/>
            <a:ext cx="2760000" cy="320000"/>
          </a:xfrm>
          <a:prstGeom prst="rect">
            <a:avLst/>
          </a:prstGeom>
          <a:noFill/>
        </p:spPr>
        <p:txBody>
          <a:bodyPr wrap="square">
            <a:spAutoFit/>
          </a:bodyPr>
          <a:lstStyle/>
          <a:p>
            <a:pPr algn="l"/>
            <a:r>
              <a:rPr sz="1100" b="1" i="0">
                <a:solidFill>
                  <a:srgbClr val="1F4E9C"/>
                </a:solidFill>
                <a:latin typeface="Calibri" panose="020F0502020204030204"/>
              </a:rPr>
              <a:t>3 piliers</a:t>
            </a:r>
            <a:endParaRPr sz="1100" b="1" i="0">
              <a:solidFill>
                <a:srgbClr val="1F4E9C"/>
              </a:solidFill>
              <a:latin typeface="Calibri" panose="020F0502020204030204"/>
            </a:endParaRPr>
          </a:p>
        </p:txBody>
      </p:sp>
      <p:sp>
        <p:nvSpPr>
          <p:cNvPr id="27" name="TextBox 26"/>
          <p:cNvSpPr txBox="1"/>
          <p:nvPr/>
        </p:nvSpPr>
        <p:spPr>
          <a:xfrm>
            <a:off x="7260000" y="3600000"/>
            <a:ext cx="2760000" cy="1540000"/>
          </a:xfrm>
          <a:prstGeom prst="rect">
            <a:avLst/>
          </a:prstGeom>
          <a:noFill/>
        </p:spPr>
        <p:txBody>
          <a:bodyPr wrap="square">
            <a:spAutoFit/>
          </a:bodyPr>
          <a:lstStyle/>
          <a:p>
            <a:pPr algn="l"/>
            <a:r>
              <a:rPr sz="950">
                <a:solidFill>
                  <a:srgbClr val="2A3142"/>
                </a:solidFill>
                <a:latin typeface="Calibri" panose="020F0502020204030204"/>
              </a:rPr>
              <a:t>Apache Hop — pipelines XML déclaratifs</a:t>
            </a:r>
            <a:endParaRPr sz="950">
              <a:solidFill>
                <a:srgbClr val="2A3142"/>
              </a:solidFill>
              <a:latin typeface="Calibri" panose="020F0502020204030204"/>
            </a:endParaRPr>
          </a:p>
          <a:p>
            <a:pPr algn="l"/>
            <a:r>
              <a:rPr sz="950">
                <a:solidFill>
                  <a:srgbClr val="2A3142"/>
                </a:solidFill>
                <a:latin typeface="Calibri" panose="020F0502020204030204"/>
              </a:rPr>
              <a:t>3 skills Claude — analyse, génération</a:t>
            </a:r>
            <a:endParaRPr sz="950">
              <a:solidFill>
                <a:srgbClr val="2A3142"/>
              </a:solidFill>
              <a:latin typeface="Calibri" panose="020F0502020204030204"/>
            </a:endParaRPr>
          </a:p>
          <a:p>
            <a:pPr algn="l"/>
            <a:r>
              <a:rPr sz="950">
                <a:solidFill>
                  <a:srgbClr val="2A3142"/>
                </a:solidFill>
                <a:latin typeface="Calibri" panose="020F0502020204030204"/>
              </a:rPr>
              <a:t>Axelor Import Studio — interface web</a:t>
            </a:r>
            <a:endParaRPr sz="950">
              <a:solidFill>
                <a:srgbClr val="2A3142"/>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58368" y="566928"/>
            <a:ext cx="10058400" cy="274320"/>
          </a:xfrm>
          <a:prstGeom prst="rect">
            <a:avLst/>
          </a:prstGeom>
          <a:noFill/>
        </p:spPr>
        <p:txBody>
          <a:bodyPr wrap="square">
            <a:spAutoFit/>
          </a:bodyPr>
          <a:lstStyle/>
          <a:p>
            <a:pPr algn="l"/>
            <a:r>
              <a:rPr sz="1100" b="1" i="0">
                <a:solidFill>
                  <a:srgbClr val="1F4E9C"/>
                </a:solidFill>
                <a:latin typeface="Calibri" panose="020F0502020204030204"/>
              </a:rPr>
              <a:t>04  CONCEPTION</a:t>
            </a:r>
            <a:endParaRPr sz="1100" b="1" i="0">
              <a:solidFill>
                <a:srgbClr val="1F4E9C"/>
              </a:solidFill>
              <a:latin typeface="Calibri" panose="020F0502020204030204"/>
            </a:endParaRPr>
          </a:p>
        </p:txBody>
      </p:sp>
      <p:sp>
        <p:nvSpPr>
          <p:cNvPr id="3" name="TextBox 2"/>
          <p:cNvSpPr txBox="1"/>
          <p:nvPr/>
        </p:nvSpPr>
        <p:spPr>
          <a:xfrm>
            <a:off x="640080" y="868680"/>
            <a:ext cx="10881360" cy="685800"/>
          </a:xfrm>
          <a:prstGeom prst="rect">
            <a:avLst/>
          </a:prstGeom>
          <a:noFill/>
        </p:spPr>
        <p:txBody>
          <a:bodyPr wrap="square">
            <a:spAutoFit/>
          </a:bodyPr>
          <a:lstStyle/>
          <a:p>
            <a:pPr algn="l"/>
            <a:r>
              <a:rPr sz="3000" b="1" i="0">
                <a:solidFill>
                  <a:srgbClr val="12203F"/>
                </a:solidFill>
                <a:latin typeface="Calibri" panose="020F0502020204030204"/>
              </a:rPr>
              <a:t>Cas d'utilisation — Phase Mapping</a:t>
            </a:r>
            <a:endParaRPr sz="3000" b="1" i="0">
              <a:solidFill>
                <a:srgbClr val="12203F"/>
              </a:solidFill>
              <a:latin typeface="Calibri" panose="020F0502020204030204"/>
            </a:endParaRPr>
          </a:p>
        </p:txBody>
      </p:sp>
      <p:pic>
        <p:nvPicPr>
          <p:cNvPr id="4" name="Picture 3" descr="image.png"/>
          <p:cNvPicPr>
            <a:picLocks noChangeAspect="1"/>
          </p:cNvPicPr>
          <p:nvPr/>
        </p:nvPicPr>
        <p:blipFill>
          <a:blip r:embed="rId1"/>
          <a:stretch>
            <a:fillRect/>
          </a:stretch>
        </p:blipFill>
        <p:spPr>
          <a:xfrm>
            <a:off x="640080" y="6327648"/>
            <a:ext cx="415260" cy="237744"/>
          </a:xfrm>
          <a:prstGeom prst="rect">
            <a:avLst/>
          </a:prstGeom>
        </p:spPr>
      </p:pic>
      <p:sp>
        <p:nvSpPr>
          <p:cNvPr id="5" name="TextBox 4"/>
          <p:cNvSpPr txBox="1"/>
          <p:nvPr/>
        </p:nvSpPr>
        <p:spPr>
          <a:xfrm>
            <a:off x="1188720" y="6309360"/>
            <a:ext cx="7315200" cy="274320"/>
          </a:xfrm>
          <a:prstGeom prst="rect">
            <a:avLst/>
          </a:prstGeom>
          <a:noFill/>
        </p:spPr>
        <p:txBody>
          <a:bodyPr wrap="square">
            <a:spAutoFit/>
          </a:bodyPr>
          <a:lstStyle/>
          <a:p>
            <a:pPr algn="l"/>
            <a:r>
              <a:rPr sz="900" b="0" i="0">
                <a:solidFill>
                  <a:srgbClr val="7A8294"/>
                </a:solidFill>
                <a:latin typeface="Calibri" panose="020F0502020204030204"/>
              </a:rPr>
              <a:t>Projet de Fin d'Études : Génie Informatique</a:t>
            </a:r>
            <a:endParaRPr sz="900" b="0" i="0">
              <a:solidFill>
                <a:srgbClr val="7A8294"/>
              </a:solidFill>
              <a:latin typeface="Calibri" panose="020F0502020204030204"/>
            </a:endParaRPr>
          </a:p>
        </p:txBody>
      </p:sp>
      <p:sp>
        <p:nvSpPr>
          <p:cNvPr id="6" name="TextBox 5"/>
          <p:cNvSpPr txBox="1"/>
          <p:nvPr/>
        </p:nvSpPr>
        <p:spPr>
          <a:xfrm>
            <a:off x="10360152" y="6309360"/>
            <a:ext cx="1188720" cy="274320"/>
          </a:xfrm>
          <a:prstGeom prst="rect">
            <a:avLst/>
          </a:prstGeom>
          <a:noFill/>
        </p:spPr>
        <p:txBody>
          <a:bodyPr wrap="none">
            <a:spAutoFit/>
          </a:bodyPr>
          <a:lstStyle/>
          <a:p>
            <a:pPr algn="r"/>
            <a:r>
              <a:rPr sz="1000" b="1">
                <a:solidFill>
                  <a:srgbClr val="1F4E9C"/>
                </a:solidFill>
                <a:latin typeface="Calibri" panose="020F0502020204030204"/>
              </a:rPr>
              <a:t>09</a:t>
            </a:r>
            <a:r>
              <a:rPr sz="1000" b="0">
                <a:solidFill>
                  <a:srgbClr val="7A8294"/>
                </a:solidFill>
                <a:latin typeface="Calibri" panose="020F0502020204030204"/>
              </a:rPr>
              <a:t> / 21</a:t>
            </a:r>
            <a:endParaRPr sz="1000" b="0">
              <a:solidFill>
                <a:srgbClr val="7A8294"/>
              </a:solidFill>
              <a:latin typeface="Calibri" panose="020F0502020204030204"/>
            </a:endParaRPr>
          </a:p>
        </p:txBody>
      </p:sp>
      <p:pic>
        <p:nvPicPr>
          <p:cNvPr id="8" name="Picture 7"/>
          <p:cNvPicPr>
            <a:picLocks noChangeAspect="1"/>
          </p:cNvPicPr>
          <p:nvPr/>
        </p:nvPicPr>
        <p:blipFill>
          <a:blip r:embed="rId2"/>
          <a:stretch>
            <a:fillRect/>
          </a:stretch>
        </p:blipFill>
        <p:spPr>
          <a:xfrm>
            <a:off x="3357245" y="1383665"/>
            <a:ext cx="5726430" cy="5200015"/>
          </a:xfrm>
          <a:prstGeom prst="rect">
            <a:avLst/>
          </a:prstGeom>
        </p:spPr>
      </p:pic>
      <p:pic>
        <p:nvPicPr>
          <p:cNvPr id="9" name="Picture 8" descr="image.png"/>
          <p:cNvPicPr>
            <a:picLocks noChangeAspect="1"/>
          </p:cNvPicPr>
          <p:nvPr/>
        </p:nvPicPr>
        <p:blipFill>
          <a:blip r:embed="rId3"/>
          <a:stretch>
            <a:fillRect/>
          </a:stretch>
        </p:blipFill>
        <p:spPr>
          <a:xfrm>
            <a:off x="9832848" y="2286000"/>
            <a:ext cx="2173224" cy="56692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58368" y="566928"/>
            <a:ext cx="10058400" cy="274320"/>
          </a:xfrm>
          <a:prstGeom prst="rect">
            <a:avLst/>
          </a:prstGeom>
          <a:noFill/>
        </p:spPr>
        <p:txBody>
          <a:bodyPr wrap="square">
            <a:spAutoFit/>
          </a:bodyPr>
          <a:lstStyle/>
          <a:p>
            <a:pPr algn="l"/>
            <a:r>
              <a:rPr sz="1100" b="1" i="0">
                <a:solidFill>
                  <a:srgbClr val="1F4E9C"/>
                </a:solidFill>
                <a:latin typeface="Calibri" panose="020F0502020204030204"/>
              </a:rPr>
              <a:t>04  CONCEPTION</a:t>
            </a:r>
            <a:endParaRPr sz="1100" b="1" i="0">
              <a:solidFill>
                <a:srgbClr val="1F4E9C"/>
              </a:solidFill>
              <a:latin typeface="Calibri" panose="020F0502020204030204"/>
            </a:endParaRPr>
          </a:p>
        </p:txBody>
      </p:sp>
      <p:sp>
        <p:nvSpPr>
          <p:cNvPr id="3" name="TextBox 2"/>
          <p:cNvSpPr txBox="1"/>
          <p:nvPr/>
        </p:nvSpPr>
        <p:spPr>
          <a:xfrm>
            <a:off x="640080" y="868680"/>
            <a:ext cx="10881360" cy="685800"/>
          </a:xfrm>
          <a:prstGeom prst="rect">
            <a:avLst/>
          </a:prstGeom>
          <a:noFill/>
        </p:spPr>
        <p:txBody>
          <a:bodyPr wrap="square">
            <a:spAutoFit/>
          </a:bodyPr>
          <a:lstStyle/>
          <a:p>
            <a:pPr algn="l"/>
            <a:r>
              <a:rPr sz="3000" b="1" i="0">
                <a:solidFill>
                  <a:srgbClr val="12203F"/>
                </a:solidFill>
                <a:latin typeface="Calibri" panose="020F0502020204030204"/>
              </a:rPr>
              <a:t>Cas d'utilisation — Phase Post-mapping</a:t>
            </a:r>
            <a:endParaRPr sz="3000" b="1" i="0">
              <a:solidFill>
                <a:srgbClr val="12203F"/>
              </a:solidFill>
              <a:latin typeface="Calibri" panose="020F0502020204030204"/>
            </a:endParaRPr>
          </a:p>
        </p:txBody>
      </p:sp>
      <p:pic>
        <p:nvPicPr>
          <p:cNvPr id="4" name="Picture 3" descr="image.png"/>
          <p:cNvPicPr>
            <a:picLocks noChangeAspect="1"/>
          </p:cNvPicPr>
          <p:nvPr/>
        </p:nvPicPr>
        <p:blipFill>
          <a:blip r:embed="rId1"/>
          <a:stretch>
            <a:fillRect/>
          </a:stretch>
        </p:blipFill>
        <p:spPr>
          <a:xfrm>
            <a:off x="640080" y="6327648"/>
            <a:ext cx="415260" cy="237744"/>
          </a:xfrm>
          <a:prstGeom prst="rect">
            <a:avLst/>
          </a:prstGeom>
        </p:spPr>
      </p:pic>
      <p:sp>
        <p:nvSpPr>
          <p:cNvPr id="5" name="TextBox 4"/>
          <p:cNvSpPr txBox="1"/>
          <p:nvPr/>
        </p:nvSpPr>
        <p:spPr>
          <a:xfrm>
            <a:off x="1188720" y="6309360"/>
            <a:ext cx="7315200" cy="274320"/>
          </a:xfrm>
          <a:prstGeom prst="rect">
            <a:avLst/>
          </a:prstGeom>
          <a:noFill/>
        </p:spPr>
        <p:txBody>
          <a:bodyPr wrap="square">
            <a:spAutoFit/>
          </a:bodyPr>
          <a:lstStyle/>
          <a:p>
            <a:pPr algn="l"/>
            <a:r>
              <a:rPr sz="900" b="0" i="0">
                <a:solidFill>
                  <a:srgbClr val="7A8294"/>
                </a:solidFill>
                <a:latin typeface="Calibri" panose="020F0502020204030204"/>
              </a:rPr>
              <a:t>Projet de Fin d'Études : Génie Informatique</a:t>
            </a:r>
            <a:endParaRPr sz="900" b="0" i="0">
              <a:solidFill>
                <a:srgbClr val="7A8294"/>
              </a:solidFill>
              <a:latin typeface="Calibri" panose="020F0502020204030204"/>
            </a:endParaRPr>
          </a:p>
        </p:txBody>
      </p:sp>
      <p:sp>
        <p:nvSpPr>
          <p:cNvPr id="6" name="TextBox 5"/>
          <p:cNvSpPr txBox="1"/>
          <p:nvPr/>
        </p:nvSpPr>
        <p:spPr>
          <a:xfrm>
            <a:off x="10360152" y="6309360"/>
            <a:ext cx="1188720" cy="274320"/>
          </a:xfrm>
          <a:prstGeom prst="rect">
            <a:avLst/>
          </a:prstGeom>
          <a:noFill/>
        </p:spPr>
        <p:txBody>
          <a:bodyPr wrap="none">
            <a:spAutoFit/>
          </a:bodyPr>
          <a:lstStyle/>
          <a:p>
            <a:pPr algn="r"/>
            <a:r>
              <a:rPr sz="1000" b="1">
                <a:solidFill>
                  <a:srgbClr val="1F4E9C"/>
                </a:solidFill>
                <a:latin typeface="Calibri" panose="020F0502020204030204"/>
              </a:rPr>
              <a:t>10</a:t>
            </a:r>
            <a:r>
              <a:rPr sz="1000" b="0">
                <a:solidFill>
                  <a:srgbClr val="7A8294"/>
                </a:solidFill>
                <a:latin typeface="Calibri" panose="020F0502020204030204"/>
              </a:rPr>
              <a:t> / 21</a:t>
            </a:r>
            <a:endParaRPr sz="1000" b="0">
              <a:solidFill>
                <a:srgbClr val="7A8294"/>
              </a:solidFill>
              <a:latin typeface="Calibri" panose="020F0502020204030204"/>
            </a:endParaRPr>
          </a:p>
        </p:txBody>
      </p:sp>
      <p:pic>
        <p:nvPicPr>
          <p:cNvPr id="8" name="Picture 7" descr="image.png"/>
          <p:cNvPicPr>
            <a:picLocks noChangeAspect="1"/>
          </p:cNvPicPr>
          <p:nvPr/>
        </p:nvPicPr>
        <p:blipFill>
          <a:blip r:embed="rId2"/>
          <a:stretch>
            <a:fillRect/>
          </a:stretch>
        </p:blipFill>
        <p:spPr>
          <a:xfrm>
            <a:off x="9832848" y="2286000"/>
            <a:ext cx="2173224" cy="5669280"/>
          </a:xfrm>
          <a:prstGeom prst="rect">
            <a:avLst/>
          </a:prstGeom>
        </p:spPr>
      </p:pic>
      <p:pic>
        <p:nvPicPr>
          <p:cNvPr id="9" name="Picture 8"/>
          <p:cNvPicPr>
            <a:picLocks noChangeAspect="1"/>
          </p:cNvPicPr>
          <p:nvPr/>
        </p:nvPicPr>
        <p:blipFill>
          <a:blip r:embed="rId3"/>
          <a:stretch>
            <a:fillRect/>
          </a:stretch>
        </p:blipFill>
        <p:spPr>
          <a:xfrm>
            <a:off x="2550160" y="1405890"/>
            <a:ext cx="6781165" cy="49218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58368" y="566928"/>
            <a:ext cx="10058400" cy="274320"/>
          </a:xfrm>
          <a:prstGeom prst="rect">
            <a:avLst/>
          </a:prstGeom>
          <a:noFill/>
        </p:spPr>
        <p:txBody>
          <a:bodyPr wrap="square">
            <a:spAutoFit/>
          </a:bodyPr>
          <a:lstStyle/>
          <a:p>
            <a:pPr algn="l"/>
            <a:r>
              <a:rPr sz="1100" b="1" i="0">
                <a:solidFill>
                  <a:srgbClr val="1F4E9C"/>
                </a:solidFill>
                <a:latin typeface="Calibri" panose="020F0502020204030204"/>
              </a:rPr>
              <a:t>04  CONCEPTION</a:t>
            </a:r>
            <a:endParaRPr sz="1100" b="1" i="0">
              <a:solidFill>
                <a:srgbClr val="1F4E9C"/>
              </a:solidFill>
              <a:latin typeface="Calibri" panose="020F0502020204030204"/>
            </a:endParaRPr>
          </a:p>
        </p:txBody>
      </p:sp>
      <p:sp>
        <p:nvSpPr>
          <p:cNvPr id="3" name="TextBox 2"/>
          <p:cNvSpPr txBox="1"/>
          <p:nvPr/>
        </p:nvSpPr>
        <p:spPr>
          <a:xfrm>
            <a:off x="599440" y="2921635"/>
            <a:ext cx="4055110" cy="1476375"/>
          </a:xfrm>
          <a:prstGeom prst="rect">
            <a:avLst/>
          </a:prstGeom>
          <a:noFill/>
        </p:spPr>
        <p:txBody>
          <a:bodyPr wrap="square">
            <a:spAutoFit/>
          </a:bodyPr>
          <a:lstStyle/>
          <a:p>
            <a:pPr algn="l"/>
            <a:r>
              <a:rPr sz="3000" b="1" i="0">
                <a:solidFill>
                  <a:srgbClr val="12203F"/>
                </a:solidFill>
                <a:latin typeface="Calibri" panose="020F0502020204030204"/>
              </a:rPr>
              <a:t>Diagramme de séquence — Phase Mapping</a:t>
            </a:r>
            <a:endParaRPr sz="3000" b="1" i="0">
              <a:solidFill>
                <a:srgbClr val="12203F"/>
              </a:solidFill>
              <a:latin typeface="Calibri" panose="020F0502020204030204"/>
            </a:endParaRPr>
          </a:p>
        </p:txBody>
      </p:sp>
      <p:pic>
        <p:nvPicPr>
          <p:cNvPr id="4" name="Picture 3" descr="image.png"/>
          <p:cNvPicPr>
            <a:picLocks noChangeAspect="1"/>
          </p:cNvPicPr>
          <p:nvPr/>
        </p:nvPicPr>
        <p:blipFill>
          <a:blip r:embed="rId1"/>
          <a:stretch>
            <a:fillRect/>
          </a:stretch>
        </p:blipFill>
        <p:spPr>
          <a:xfrm>
            <a:off x="9832848" y="2286000"/>
            <a:ext cx="2173224" cy="5669280"/>
          </a:xfrm>
          <a:prstGeom prst="rect">
            <a:avLst/>
          </a:prstGeom>
        </p:spPr>
      </p:pic>
      <p:pic>
        <p:nvPicPr>
          <p:cNvPr id="5" name="Picture 4" descr="image.png"/>
          <p:cNvPicPr>
            <a:picLocks noChangeAspect="1"/>
          </p:cNvPicPr>
          <p:nvPr/>
        </p:nvPicPr>
        <p:blipFill>
          <a:blip r:embed="rId2"/>
          <a:stretch>
            <a:fillRect/>
          </a:stretch>
        </p:blipFill>
        <p:spPr>
          <a:xfrm>
            <a:off x="640080" y="6327648"/>
            <a:ext cx="415260" cy="237744"/>
          </a:xfrm>
          <a:prstGeom prst="rect">
            <a:avLst/>
          </a:prstGeom>
        </p:spPr>
      </p:pic>
      <p:sp>
        <p:nvSpPr>
          <p:cNvPr id="6" name="TextBox 5"/>
          <p:cNvSpPr txBox="1"/>
          <p:nvPr/>
        </p:nvSpPr>
        <p:spPr>
          <a:xfrm>
            <a:off x="1188720" y="6309360"/>
            <a:ext cx="7315200" cy="274320"/>
          </a:xfrm>
          <a:prstGeom prst="rect">
            <a:avLst/>
          </a:prstGeom>
          <a:noFill/>
        </p:spPr>
        <p:txBody>
          <a:bodyPr wrap="square">
            <a:spAutoFit/>
          </a:bodyPr>
          <a:lstStyle/>
          <a:p>
            <a:pPr algn="l"/>
            <a:r>
              <a:rPr sz="900" b="0" i="0">
                <a:solidFill>
                  <a:srgbClr val="7A8294"/>
                </a:solidFill>
                <a:latin typeface="Calibri" panose="020F0502020204030204"/>
              </a:rPr>
              <a:t>Projet de Fin d'Études : Génie Informatique</a:t>
            </a:r>
            <a:endParaRPr sz="900" b="0" i="0">
              <a:solidFill>
                <a:srgbClr val="7A8294"/>
              </a:solidFill>
              <a:latin typeface="Calibri" panose="020F0502020204030204"/>
            </a:endParaRPr>
          </a:p>
        </p:txBody>
      </p:sp>
      <p:sp>
        <p:nvSpPr>
          <p:cNvPr id="7" name="TextBox 6"/>
          <p:cNvSpPr txBox="1"/>
          <p:nvPr/>
        </p:nvSpPr>
        <p:spPr>
          <a:xfrm>
            <a:off x="10360152" y="6309360"/>
            <a:ext cx="1188720" cy="274320"/>
          </a:xfrm>
          <a:prstGeom prst="rect">
            <a:avLst/>
          </a:prstGeom>
          <a:noFill/>
        </p:spPr>
        <p:txBody>
          <a:bodyPr wrap="none">
            <a:spAutoFit/>
          </a:bodyPr>
          <a:lstStyle/>
          <a:p>
            <a:pPr algn="r"/>
            <a:r>
              <a:rPr sz="1000" b="1">
                <a:solidFill>
                  <a:srgbClr val="1F4E9C"/>
                </a:solidFill>
                <a:latin typeface="Calibri" panose="020F0502020204030204"/>
              </a:rPr>
              <a:t>11</a:t>
            </a:r>
            <a:r>
              <a:rPr sz="1000" b="0">
                <a:solidFill>
                  <a:srgbClr val="7A8294"/>
                </a:solidFill>
                <a:latin typeface="Calibri" panose="020F0502020204030204"/>
              </a:rPr>
              <a:t> / 21</a:t>
            </a:r>
            <a:endParaRPr sz="1000" b="0">
              <a:solidFill>
                <a:srgbClr val="7A8294"/>
              </a:solidFill>
              <a:latin typeface="Calibri" panose="020F0502020204030204"/>
            </a:endParaRPr>
          </a:p>
        </p:txBody>
      </p:sp>
      <p:pic>
        <p:nvPicPr>
          <p:cNvPr id="9" name="Picture 8"/>
          <p:cNvPicPr>
            <a:picLocks noChangeAspect="1"/>
          </p:cNvPicPr>
          <p:nvPr/>
        </p:nvPicPr>
        <p:blipFill>
          <a:blip r:embed="rId3"/>
          <a:stretch>
            <a:fillRect/>
          </a:stretch>
        </p:blipFill>
        <p:spPr>
          <a:xfrm>
            <a:off x="3985895" y="213995"/>
            <a:ext cx="6948170" cy="63512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58368" y="566928"/>
            <a:ext cx="10058400" cy="274320"/>
          </a:xfrm>
          <a:prstGeom prst="rect">
            <a:avLst/>
          </a:prstGeom>
          <a:noFill/>
        </p:spPr>
        <p:txBody>
          <a:bodyPr wrap="square">
            <a:spAutoFit/>
          </a:bodyPr>
          <a:lstStyle/>
          <a:p>
            <a:pPr algn="l"/>
            <a:r>
              <a:rPr sz="1100" b="1" i="0">
                <a:solidFill>
                  <a:srgbClr val="1F4E9C"/>
                </a:solidFill>
                <a:latin typeface="Calibri" panose="020F0502020204030204"/>
              </a:rPr>
              <a:t>04  CONCEPTION</a:t>
            </a:r>
            <a:endParaRPr sz="1100" b="1" i="0">
              <a:solidFill>
                <a:srgbClr val="1F4E9C"/>
              </a:solidFill>
              <a:latin typeface="Calibri" panose="020F0502020204030204"/>
            </a:endParaRPr>
          </a:p>
        </p:txBody>
      </p:sp>
      <p:sp>
        <p:nvSpPr>
          <p:cNvPr id="3" name="TextBox 2"/>
          <p:cNvSpPr txBox="1"/>
          <p:nvPr/>
        </p:nvSpPr>
        <p:spPr>
          <a:xfrm>
            <a:off x="599440" y="2762885"/>
            <a:ext cx="3694430" cy="1476375"/>
          </a:xfrm>
          <a:prstGeom prst="rect">
            <a:avLst/>
          </a:prstGeom>
          <a:noFill/>
        </p:spPr>
        <p:txBody>
          <a:bodyPr wrap="square">
            <a:spAutoFit/>
          </a:bodyPr>
          <a:lstStyle/>
          <a:p>
            <a:pPr algn="l"/>
            <a:r>
              <a:rPr sz="3000" b="1" i="0">
                <a:solidFill>
                  <a:srgbClr val="12203F"/>
                </a:solidFill>
                <a:latin typeface="Calibri" panose="020F0502020204030204"/>
              </a:rPr>
              <a:t>Diagramme de séquence — Phase Post-mapping</a:t>
            </a:r>
            <a:endParaRPr sz="3000" b="1" i="0">
              <a:solidFill>
                <a:srgbClr val="12203F"/>
              </a:solidFill>
              <a:latin typeface="Calibri" panose="020F0502020204030204"/>
            </a:endParaRPr>
          </a:p>
        </p:txBody>
      </p:sp>
      <p:pic>
        <p:nvPicPr>
          <p:cNvPr id="4" name="Picture 3" descr="image.png"/>
          <p:cNvPicPr>
            <a:picLocks noChangeAspect="1"/>
          </p:cNvPicPr>
          <p:nvPr/>
        </p:nvPicPr>
        <p:blipFill>
          <a:blip r:embed="rId1"/>
          <a:stretch>
            <a:fillRect/>
          </a:stretch>
        </p:blipFill>
        <p:spPr>
          <a:xfrm>
            <a:off x="640080" y="6327648"/>
            <a:ext cx="415260" cy="237744"/>
          </a:xfrm>
          <a:prstGeom prst="rect">
            <a:avLst/>
          </a:prstGeom>
        </p:spPr>
      </p:pic>
      <p:sp>
        <p:nvSpPr>
          <p:cNvPr id="5" name="TextBox 4"/>
          <p:cNvSpPr txBox="1"/>
          <p:nvPr/>
        </p:nvSpPr>
        <p:spPr>
          <a:xfrm>
            <a:off x="1188720" y="6309360"/>
            <a:ext cx="7315200" cy="274320"/>
          </a:xfrm>
          <a:prstGeom prst="rect">
            <a:avLst/>
          </a:prstGeom>
          <a:noFill/>
        </p:spPr>
        <p:txBody>
          <a:bodyPr wrap="square">
            <a:spAutoFit/>
          </a:bodyPr>
          <a:lstStyle/>
          <a:p>
            <a:pPr algn="l"/>
            <a:r>
              <a:rPr sz="900" b="0" i="0">
                <a:solidFill>
                  <a:srgbClr val="7A8294"/>
                </a:solidFill>
                <a:latin typeface="Calibri" panose="020F0502020204030204"/>
              </a:rPr>
              <a:t>Projet de Fin d'Études : Génie Informatique</a:t>
            </a:r>
            <a:endParaRPr sz="900" b="0" i="0">
              <a:solidFill>
                <a:srgbClr val="7A8294"/>
              </a:solidFill>
              <a:latin typeface="Calibri" panose="020F0502020204030204"/>
            </a:endParaRPr>
          </a:p>
        </p:txBody>
      </p:sp>
      <p:sp>
        <p:nvSpPr>
          <p:cNvPr id="6" name="TextBox 5"/>
          <p:cNvSpPr txBox="1"/>
          <p:nvPr/>
        </p:nvSpPr>
        <p:spPr>
          <a:xfrm>
            <a:off x="10360152" y="6309360"/>
            <a:ext cx="1188720" cy="274320"/>
          </a:xfrm>
          <a:prstGeom prst="rect">
            <a:avLst/>
          </a:prstGeom>
          <a:noFill/>
        </p:spPr>
        <p:txBody>
          <a:bodyPr wrap="none">
            <a:spAutoFit/>
          </a:bodyPr>
          <a:lstStyle/>
          <a:p>
            <a:pPr algn="r"/>
            <a:r>
              <a:rPr sz="1000" b="1">
                <a:solidFill>
                  <a:srgbClr val="1F4E9C"/>
                </a:solidFill>
                <a:latin typeface="Calibri" panose="020F0502020204030204"/>
              </a:rPr>
              <a:t>12</a:t>
            </a:r>
            <a:r>
              <a:rPr sz="1000" b="0">
                <a:solidFill>
                  <a:srgbClr val="7A8294"/>
                </a:solidFill>
                <a:latin typeface="Calibri" panose="020F0502020204030204"/>
              </a:rPr>
              <a:t> / 21</a:t>
            </a:r>
            <a:endParaRPr sz="1000" b="0">
              <a:solidFill>
                <a:srgbClr val="7A8294"/>
              </a:solidFill>
              <a:latin typeface="Calibri" panose="020F0502020204030204"/>
            </a:endParaRPr>
          </a:p>
        </p:txBody>
      </p:sp>
      <p:pic>
        <p:nvPicPr>
          <p:cNvPr id="8" name="Picture 7" descr="image.png"/>
          <p:cNvPicPr>
            <a:picLocks noChangeAspect="1"/>
          </p:cNvPicPr>
          <p:nvPr/>
        </p:nvPicPr>
        <p:blipFill>
          <a:blip r:embed="rId2"/>
          <a:stretch>
            <a:fillRect/>
          </a:stretch>
        </p:blipFill>
        <p:spPr>
          <a:xfrm>
            <a:off x="9832848" y="2286000"/>
            <a:ext cx="2173224" cy="5669280"/>
          </a:xfrm>
          <a:prstGeom prst="rect">
            <a:avLst/>
          </a:prstGeom>
        </p:spPr>
      </p:pic>
      <p:pic>
        <p:nvPicPr>
          <p:cNvPr id="9" name="Picture 8"/>
          <p:cNvPicPr>
            <a:picLocks noChangeAspect="1"/>
          </p:cNvPicPr>
          <p:nvPr/>
        </p:nvPicPr>
        <p:blipFill>
          <a:blip r:embed="rId3"/>
          <a:stretch>
            <a:fillRect/>
          </a:stretch>
        </p:blipFill>
        <p:spPr>
          <a:xfrm>
            <a:off x="3893820" y="280035"/>
            <a:ext cx="7249795" cy="60115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10058400" cy="274320"/>
          </a:xfrm>
          <a:prstGeom prst="rect">
            <a:avLst/>
          </a:prstGeom>
          <a:noFill/>
        </p:spPr>
        <p:txBody>
          <a:bodyPr wrap="square">
            <a:spAutoFit/>
          </a:bodyPr>
          <a:lstStyle/>
          <a:p>
            <a:pPr algn="l"/>
            <a:r>
              <a:rPr sz="1100" b="1" i="0">
                <a:solidFill>
                  <a:srgbClr val="1F4E9C"/>
                </a:solidFill>
                <a:latin typeface="Calibri" panose="020F0502020204030204"/>
              </a:rPr>
              <a:t>05  RÉALISATION</a:t>
            </a:r>
            <a:endParaRPr sz="1100" b="1" i="0">
              <a:solidFill>
                <a:srgbClr val="1F4E9C"/>
              </a:solidFill>
              <a:latin typeface="Calibri" panose="020F0502020204030204"/>
            </a:endParaRPr>
          </a:p>
        </p:txBody>
      </p:sp>
      <p:sp>
        <p:nvSpPr>
          <p:cNvPr id="3" name="TextBox 2"/>
          <p:cNvSpPr txBox="1"/>
          <p:nvPr/>
        </p:nvSpPr>
        <p:spPr>
          <a:xfrm>
            <a:off x="640080" y="868680"/>
            <a:ext cx="10881360" cy="685800"/>
          </a:xfrm>
          <a:prstGeom prst="rect">
            <a:avLst/>
          </a:prstGeom>
          <a:noFill/>
        </p:spPr>
        <p:txBody>
          <a:bodyPr wrap="square">
            <a:spAutoFit/>
          </a:bodyPr>
          <a:lstStyle/>
          <a:p>
            <a:pPr algn="l"/>
            <a:r>
              <a:rPr sz="3000" b="1" i="0">
                <a:solidFill>
                  <a:srgbClr val="12203F"/>
                </a:solidFill>
                <a:latin typeface="Calibri" panose="020F0502020204030204"/>
              </a:rPr>
              <a:t>Architecture globale du framework</a:t>
            </a:r>
            <a:endParaRPr sz="3000" b="1" i="0">
              <a:solidFill>
                <a:srgbClr val="12203F"/>
              </a:solidFill>
              <a:latin typeface="Calibri" panose="020F0502020204030204"/>
            </a:endParaRPr>
          </a:p>
        </p:txBody>
      </p:sp>
      <p:pic>
        <p:nvPicPr>
          <p:cNvPr id="4" name="Picture 3" descr="image.png"/>
          <p:cNvPicPr>
            <a:picLocks noChangeAspect="1"/>
          </p:cNvPicPr>
          <p:nvPr/>
        </p:nvPicPr>
        <p:blipFill>
          <a:blip r:embed="rId1"/>
          <a:stretch>
            <a:fillRect/>
          </a:stretch>
        </p:blipFill>
        <p:spPr>
          <a:xfrm>
            <a:off x="9832848" y="2286000"/>
            <a:ext cx="2173224" cy="5669280"/>
          </a:xfrm>
          <a:prstGeom prst="rect">
            <a:avLst/>
          </a:prstGeom>
        </p:spPr>
      </p:pic>
      <p:pic>
        <p:nvPicPr>
          <p:cNvPr id="5" name="Picture 4" descr="image.png"/>
          <p:cNvPicPr>
            <a:picLocks noChangeAspect="1"/>
          </p:cNvPicPr>
          <p:nvPr/>
        </p:nvPicPr>
        <p:blipFill>
          <a:blip r:embed="rId2"/>
          <a:stretch>
            <a:fillRect/>
          </a:stretch>
        </p:blipFill>
        <p:spPr>
          <a:xfrm>
            <a:off x="640080" y="6327648"/>
            <a:ext cx="415260" cy="237744"/>
          </a:xfrm>
          <a:prstGeom prst="rect">
            <a:avLst/>
          </a:prstGeom>
        </p:spPr>
      </p:pic>
      <p:sp>
        <p:nvSpPr>
          <p:cNvPr id="6" name="TextBox 5"/>
          <p:cNvSpPr txBox="1"/>
          <p:nvPr/>
        </p:nvSpPr>
        <p:spPr>
          <a:xfrm>
            <a:off x="1188720" y="6309360"/>
            <a:ext cx="7315200" cy="274320"/>
          </a:xfrm>
          <a:prstGeom prst="rect">
            <a:avLst/>
          </a:prstGeom>
          <a:noFill/>
        </p:spPr>
        <p:txBody>
          <a:bodyPr wrap="square">
            <a:spAutoFit/>
          </a:bodyPr>
          <a:lstStyle/>
          <a:p>
            <a:pPr algn="l"/>
            <a:r>
              <a:rPr sz="900" b="0" i="0">
                <a:solidFill>
                  <a:srgbClr val="7A8294"/>
                </a:solidFill>
                <a:latin typeface="Calibri" panose="020F0502020204030204"/>
              </a:rPr>
              <a:t>Projet de Fin d'Études : Génie Informatique</a:t>
            </a:r>
            <a:endParaRPr sz="900" b="0" i="0">
              <a:solidFill>
                <a:srgbClr val="7A8294"/>
              </a:solidFill>
              <a:latin typeface="Calibri" panose="020F0502020204030204"/>
            </a:endParaRPr>
          </a:p>
        </p:txBody>
      </p:sp>
      <p:sp>
        <p:nvSpPr>
          <p:cNvPr id="7" name="TextBox 6"/>
          <p:cNvSpPr txBox="1"/>
          <p:nvPr/>
        </p:nvSpPr>
        <p:spPr>
          <a:xfrm>
            <a:off x="10360152" y="6309360"/>
            <a:ext cx="1188720" cy="274320"/>
          </a:xfrm>
          <a:prstGeom prst="rect">
            <a:avLst/>
          </a:prstGeom>
          <a:noFill/>
        </p:spPr>
        <p:txBody>
          <a:bodyPr wrap="none">
            <a:spAutoFit/>
          </a:bodyPr>
          <a:lstStyle/>
          <a:p>
            <a:pPr algn="r"/>
            <a:r>
              <a:rPr sz="1000" b="1">
                <a:solidFill>
                  <a:srgbClr val="1F4E9C"/>
                </a:solidFill>
                <a:latin typeface="Calibri" panose="020F0502020204030204"/>
              </a:rPr>
              <a:t>13</a:t>
            </a:r>
            <a:r>
              <a:rPr sz="1000" b="0">
                <a:solidFill>
                  <a:srgbClr val="7A8294"/>
                </a:solidFill>
                <a:latin typeface="Calibri" panose="020F0502020204030204"/>
              </a:rPr>
              <a:t> / 21</a:t>
            </a:r>
            <a:endParaRPr sz="1000" b="0">
              <a:solidFill>
                <a:srgbClr val="7A8294"/>
              </a:solidFill>
              <a:latin typeface="Calibri" panose="020F0502020204030204"/>
            </a:endParaRPr>
          </a:p>
        </p:txBody>
      </p:sp>
      <p:pic>
        <p:nvPicPr>
          <p:cNvPr id="8" name="Picture 7" descr="Architecture-generale.png"/>
          <p:cNvPicPr>
            <a:picLocks noChangeAspect="1"/>
          </p:cNvPicPr>
          <p:nvPr/>
        </p:nvPicPr>
        <p:blipFill>
          <a:blip r:embed="rId3"/>
          <a:stretch>
            <a:fillRect/>
          </a:stretch>
        </p:blipFill>
        <p:spPr>
          <a:xfrm>
            <a:off x="7004050" y="340360"/>
            <a:ext cx="2405380" cy="6243320"/>
          </a:xfrm>
          <a:prstGeom prst="rect">
            <a:avLst/>
          </a:prstGeom>
        </p:spPr>
      </p:pic>
      <p:sp>
        <p:nvSpPr>
          <p:cNvPr id="9" name="Text 8"/>
          <p:cNvSpPr txBox="1"/>
          <p:nvPr/>
        </p:nvSpPr>
        <p:spPr>
          <a:xfrm>
            <a:off x="640080" y="1900000"/>
            <a:ext cx="5500000" cy="500000"/>
          </a:xfrm>
          <a:prstGeom prst="rect">
            <a:avLst/>
          </a:prstGeom>
          <a:noFill/>
        </p:spPr>
        <p:txBody>
          <a:bodyPr wrap="square">
            <a:spAutoFit/>
          </a:bodyPr>
          <a:lstStyle/>
          <a:p>
            <a:pPr algn="l"/>
            <a:r>
              <a:rPr sz="900" b="0" dirty="0">
                <a:solidFill>
                  <a:srgbClr val="7A8294"/>
                </a:solidFill>
                <a:latin typeface="Calibri" panose="020F0502020204030204"/>
              </a:rPr>
              <a:t>Axelor Mapper</a:t>
            </a:r>
            <a:endParaRPr sz="900" b="0" dirty="0">
              <a:solidFill>
                <a:srgbClr val="7A8294"/>
              </a:solidFill>
              <a:latin typeface="Calibri" panose="020F0502020204030204"/>
            </a:endParaRPr>
          </a:p>
          <a:p>
            <a:pPr algn="l"/>
            <a:r>
              <a:rPr sz="1100" b="1" dirty="0">
                <a:solidFill>
                  <a:srgbClr val="1F4E9C"/>
                </a:solidFill>
                <a:latin typeface="Calibri" panose="020F0502020204030204"/>
              </a:rPr>
              <a:t>React + FastAPI + xterm.js</a:t>
            </a:r>
            <a:endParaRPr sz="1100" b="1" dirty="0">
              <a:solidFill>
                <a:srgbClr val="1F4E9C"/>
              </a:solidFill>
              <a:latin typeface="Calibri" panose="020F0502020204030204"/>
            </a:endParaRPr>
          </a:p>
        </p:txBody>
      </p:sp>
      <p:sp>
        <p:nvSpPr>
          <p:cNvPr id="10" name="Text 9"/>
          <p:cNvSpPr txBox="1"/>
          <p:nvPr/>
        </p:nvSpPr>
        <p:spPr>
          <a:xfrm>
            <a:off x="658495" y="2400535"/>
            <a:ext cx="5500000" cy="398780"/>
          </a:xfrm>
          <a:prstGeom prst="rect">
            <a:avLst/>
          </a:prstGeom>
          <a:noFill/>
        </p:spPr>
        <p:txBody>
          <a:bodyPr wrap="square">
            <a:spAutoFit/>
          </a:bodyPr>
          <a:lstStyle/>
          <a:p>
            <a:pPr algn="l"/>
            <a:r>
              <a:rPr sz="900" b="0" dirty="0">
                <a:solidFill>
                  <a:srgbClr val="7A8294"/>
                </a:solidFill>
                <a:latin typeface="Calibri" panose="020F0502020204030204"/>
              </a:rPr>
              <a:t>Skills IA</a:t>
            </a:r>
            <a:endParaRPr sz="900" b="0" dirty="0">
              <a:solidFill>
                <a:srgbClr val="7A8294"/>
              </a:solidFill>
              <a:latin typeface="Calibri" panose="020F0502020204030204"/>
            </a:endParaRPr>
          </a:p>
          <a:p>
            <a:pPr algn="l"/>
            <a:r>
              <a:rPr sz="1100" b="1" dirty="0">
                <a:solidFill>
                  <a:srgbClr val="1F4E9C"/>
                </a:solidFill>
                <a:latin typeface="Calibri" panose="020F0502020204030204"/>
              </a:rPr>
              <a:t>3 skills Claude</a:t>
            </a:r>
            <a:endParaRPr sz="1100" b="1" dirty="0">
              <a:solidFill>
                <a:srgbClr val="1F4E9C"/>
              </a:solidFill>
              <a:latin typeface="Calibri" panose="020F0502020204030204"/>
            </a:endParaRPr>
          </a:p>
        </p:txBody>
      </p:sp>
      <p:sp>
        <p:nvSpPr>
          <p:cNvPr id="11" name="Text 10"/>
          <p:cNvSpPr txBox="1"/>
          <p:nvPr/>
        </p:nvSpPr>
        <p:spPr>
          <a:xfrm>
            <a:off x="658495" y="2900715"/>
            <a:ext cx="5500000" cy="398780"/>
          </a:xfrm>
          <a:prstGeom prst="rect">
            <a:avLst/>
          </a:prstGeom>
          <a:noFill/>
        </p:spPr>
        <p:txBody>
          <a:bodyPr wrap="square">
            <a:spAutoFit/>
          </a:bodyPr>
          <a:lstStyle/>
          <a:p>
            <a:pPr algn="l"/>
            <a:r>
              <a:rPr sz="900" b="0" dirty="0">
                <a:solidFill>
                  <a:srgbClr val="7A8294"/>
                </a:solidFill>
                <a:latin typeface="Calibri" panose="020F0502020204030204"/>
              </a:rPr>
              <a:t>Pipelines</a:t>
            </a:r>
            <a:endParaRPr sz="900" b="0" dirty="0">
              <a:solidFill>
                <a:srgbClr val="7A8294"/>
              </a:solidFill>
              <a:latin typeface="Calibri" panose="020F0502020204030204"/>
            </a:endParaRPr>
          </a:p>
          <a:p>
            <a:pPr algn="l"/>
            <a:r>
              <a:rPr sz="1100" b="1" dirty="0">
                <a:solidFill>
                  <a:srgbClr val="1F4E9C"/>
                </a:solidFill>
                <a:latin typeface="Calibri" panose="020F0502020204030204"/>
              </a:rPr>
              <a:t>~19 pipelines — 4 entités</a:t>
            </a:r>
            <a:r>
              <a:rPr lang="fr-FR" sz="1100" b="1" dirty="0">
                <a:solidFill>
                  <a:srgbClr val="1F4E9C"/>
                </a:solidFill>
                <a:latin typeface="Calibri" panose="020F0502020204030204"/>
              </a:rPr>
              <a:t> principales (et d’autres </a:t>
            </a:r>
            <a:r>
              <a:rPr sz="1100" b="1" dirty="0">
                <a:solidFill>
                  <a:srgbClr val="1F4E9C"/>
                </a:solidFill>
                <a:latin typeface="Calibri" panose="020F0502020204030204"/>
                <a:sym typeface="+mn-ea"/>
              </a:rPr>
              <a:t>entités</a:t>
            </a:r>
            <a:r>
              <a:rPr lang="fr-FR" sz="1100" b="1" dirty="0">
                <a:solidFill>
                  <a:srgbClr val="1F4E9C"/>
                </a:solidFill>
                <a:latin typeface="Calibri" panose="020F0502020204030204"/>
                <a:sym typeface="+mn-ea"/>
              </a:rPr>
              <a:t> de d</a:t>
            </a:r>
            <a:r>
              <a:rPr sz="1100" b="1" dirty="0">
                <a:solidFill>
                  <a:srgbClr val="1F4E9C"/>
                </a:solidFill>
                <a:latin typeface="Calibri" panose="020F0502020204030204"/>
                <a:sym typeface="+mn-ea"/>
              </a:rPr>
              <a:t>é</a:t>
            </a:r>
            <a:r>
              <a:rPr lang="fr-FR" sz="1100" b="1" dirty="0">
                <a:solidFill>
                  <a:srgbClr val="1F4E9C"/>
                </a:solidFill>
                <a:latin typeface="Calibri" panose="020F0502020204030204"/>
                <a:sym typeface="+mn-ea"/>
              </a:rPr>
              <a:t>pendances</a:t>
            </a:r>
            <a:endParaRPr lang="fr-FR" sz="1100" b="1" dirty="0">
              <a:solidFill>
                <a:srgbClr val="1F4E9C"/>
              </a:solidFill>
              <a:latin typeface="Calibri" panose="020F0502020204030204"/>
            </a:endParaRPr>
          </a:p>
        </p:txBody>
      </p:sp>
      <p:sp>
        <p:nvSpPr>
          <p:cNvPr id="12" name="Text 11"/>
          <p:cNvSpPr txBox="1"/>
          <p:nvPr/>
        </p:nvSpPr>
        <p:spPr>
          <a:xfrm>
            <a:off x="658495" y="3427335"/>
            <a:ext cx="5500000" cy="500000"/>
          </a:xfrm>
          <a:prstGeom prst="rect">
            <a:avLst/>
          </a:prstGeom>
          <a:noFill/>
        </p:spPr>
        <p:txBody>
          <a:bodyPr wrap="square">
            <a:spAutoFit/>
          </a:bodyPr>
          <a:lstStyle/>
          <a:p>
            <a:pPr algn="l"/>
            <a:r>
              <a:rPr sz="900" b="0" dirty="0">
                <a:solidFill>
                  <a:srgbClr val="7A8294"/>
                </a:solidFill>
                <a:latin typeface="Calibri" panose="020F0502020204030204"/>
              </a:rPr>
              <a:t>PostgreSQL</a:t>
            </a:r>
            <a:endParaRPr sz="900" b="0" dirty="0">
              <a:solidFill>
                <a:srgbClr val="7A8294"/>
              </a:solidFill>
              <a:latin typeface="Calibri" panose="020F0502020204030204"/>
            </a:endParaRPr>
          </a:p>
          <a:p>
            <a:pPr algn="l"/>
            <a:r>
              <a:rPr sz="1100" b="1" dirty="0">
                <a:solidFill>
                  <a:srgbClr val="1F4E9C"/>
                </a:solidFill>
                <a:latin typeface="Calibri" panose="020F0502020204030204"/>
              </a:rPr>
              <a:t>Accès direct JDBC — bypass couche ORM</a:t>
            </a:r>
            <a:endParaRPr sz="1100" b="1" dirty="0">
              <a:solidFill>
                <a:srgbClr val="1F4E9C"/>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58368" y="566928"/>
            <a:ext cx="10058400" cy="274320"/>
          </a:xfrm>
          <a:prstGeom prst="rect">
            <a:avLst/>
          </a:prstGeom>
          <a:noFill/>
        </p:spPr>
        <p:txBody>
          <a:bodyPr wrap="square">
            <a:spAutoFit/>
          </a:bodyPr>
          <a:lstStyle/>
          <a:p>
            <a:pPr algn="l"/>
            <a:r>
              <a:rPr sz="1100" b="1" i="0">
                <a:solidFill>
                  <a:srgbClr val="1F4E9C"/>
                </a:solidFill>
                <a:latin typeface="Calibri" panose="020F0502020204030204"/>
              </a:rPr>
              <a:t>05  RÉALISATION</a:t>
            </a:r>
            <a:endParaRPr sz="1100" b="1" i="0">
              <a:solidFill>
                <a:srgbClr val="1F4E9C"/>
              </a:solidFill>
              <a:latin typeface="Calibri" panose="020F0502020204030204"/>
            </a:endParaRPr>
          </a:p>
        </p:txBody>
      </p:sp>
      <p:sp>
        <p:nvSpPr>
          <p:cNvPr id="3" name="TextBox 2"/>
          <p:cNvSpPr txBox="1"/>
          <p:nvPr/>
        </p:nvSpPr>
        <p:spPr>
          <a:xfrm>
            <a:off x="640080" y="868680"/>
            <a:ext cx="10881360" cy="685800"/>
          </a:xfrm>
          <a:prstGeom prst="rect">
            <a:avLst/>
          </a:prstGeom>
          <a:noFill/>
        </p:spPr>
        <p:txBody>
          <a:bodyPr wrap="square">
            <a:spAutoFit/>
          </a:bodyPr>
          <a:lstStyle/>
          <a:p>
            <a:pPr algn="l"/>
            <a:r>
              <a:rPr sz="3000" b="1" i="0">
                <a:solidFill>
                  <a:srgbClr val="12203F"/>
                </a:solidFill>
                <a:latin typeface="Calibri" panose="020F0502020204030204"/>
              </a:rPr>
              <a:t>Architecture d'Axelor Import Studio</a:t>
            </a:r>
            <a:endParaRPr sz="3000" b="1" i="0">
              <a:solidFill>
                <a:srgbClr val="12203F"/>
              </a:solidFill>
              <a:latin typeface="Calibri" panose="020F0502020204030204"/>
            </a:endParaRPr>
          </a:p>
        </p:txBody>
      </p:sp>
      <p:pic>
        <p:nvPicPr>
          <p:cNvPr id="4" name="Picture 3" descr="image.png"/>
          <p:cNvPicPr>
            <a:picLocks noChangeAspect="1"/>
          </p:cNvPicPr>
          <p:nvPr/>
        </p:nvPicPr>
        <p:blipFill>
          <a:blip r:embed="rId1"/>
          <a:stretch>
            <a:fillRect/>
          </a:stretch>
        </p:blipFill>
        <p:spPr>
          <a:xfrm>
            <a:off x="640080" y="6327648"/>
            <a:ext cx="415260" cy="237744"/>
          </a:xfrm>
          <a:prstGeom prst="rect">
            <a:avLst/>
          </a:prstGeom>
        </p:spPr>
      </p:pic>
      <p:sp>
        <p:nvSpPr>
          <p:cNvPr id="5" name="TextBox 4"/>
          <p:cNvSpPr txBox="1"/>
          <p:nvPr/>
        </p:nvSpPr>
        <p:spPr>
          <a:xfrm>
            <a:off x="1188720" y="6309360"/>
            <a:ext cx="7315200" cy="274320"/>
          </a:xfrm>
          <a:prstGeom prst="rect">
            <a:avLst/>
          </a:prstGeom>
          <a:noFill/>
        </p:spPr>
        <p:txBody>
          <a:bodyPr wrap="square">
            <a:spAutoFit/>
          </a:bodyPr>
          <a:lstStyle/>
          <a:p>
            <a:pPr algn="l"/>
            <a:r>
              <a:rPr sz="900" b="0" i="0">
                <a:solidFill>
                  <a:srgbClr val="7A8294"/>
                </a:solidFill>
                <a:latin typeface="Calibri" panose="020F0502020204030204"/>
              </a:rPr>
              <a:t>Projet de Fin d'Études : Génie Informatique</a:t>
            </a:r>
            <a:endParaRPr sz="900" b="0" i="0">
              <a:solidFill>
                <a:srgbClr val="7A8294"/>
              </a:solidFill>
              <a:latin typeface="Calibri" panose="020F0502020204030204"/>
            </a:endParaRPr>
          </a:p>
        </p:txBody>
      </p:sp>
      <p:sp>
        <p:nvSpPr>
          <p:cNvPr id="6" name="TextBox 5"/>
          <p:cNvSpPr txBox="1"/>
          <p:nvPr/>
        </p:nvSpPr>
        <p:spPr>
          <a:xfrm>
            <a:off x="10360152" y="6309360"/>
            <a:ext cx="1188720" cy="274320"/>
          </a:xfrm>
          <a:prstGeom prst="rect">
            <a:avLst/>
          </a:prstGeom>
          <a:noFill/>
        </p:spPr>
        <p:txBody>
          <a:bodyPr wrap="none">
            <a:spAutoFit/>
          </a:bodyPr>
          <a:lstStyle/>
          <a:p>
            <a:pPr algn="r"/>
            <a:r>
              <a:rPr sz="1000" b="1">
                <a:solidFill>
                  <a:srgbClr val="1F4E9C"/>
                </a:solidFill>
                <a:latin typeface="Calibri" panose="020F0502020204030204"/>
              </a:rPr>
              <a:t>14</a:t>
            </a:r>
            <a:r>
              <a:rPr sz="1000" b="0">
                <a:solidFill>
                  <a:srgbClr val="7A8294"/>
                </a:solidFill>
                <a:latin typeface="Calibri" panose="020F0502020204030204"/>
              </a:rPr>
              <a:t> / 21</a:t>
            </a:r>
            <a:endParaRPr sz="1000" b="0">
              <a:solidFill>
                <a:srgbClr val="7A8294"/>
              </a:solidFill>
              <a:latin typeface="Calibri" panose="020F0502020204030204"/>
            </a:endParaRPr>
          </a:p>
        </p:txBody>
      </p:sp>
      <p:pic>
        <p:nvPicPr>
          <p:cNvPr id="7" name="Picture 6" descr="axelor-mapper-technical-architecture.png"/>
          <p:cNvPicPr>
            <a:picLocks noChangeAspect="1"/>
          </p:cNvPicPr>
          <p:nvPr/>
        </p:nvPicPr>
        <p:blipFill>
          <a:blip r:embed="rId2"/>
          <a:stretch>
            <a:fillRect/>
          </a:stretch>
        </p:blipFill>
        <p:spPr>
          <a:xfrm>
            <a:off x="133985" y="2452870"/>
            <a:ext cx="10400000" cy="1951269"/>
          </a:xfrm>
          <a:prstGeom prst="rect">
            <a:avLst/>
          </a:prstGeom>
        </p:spPr>
      </p:pic>
      <p:pic>
        <p:nvPicPr>
          <p:cNvPr id="8" name="Picture 7" descr="image.png"/>
          <p:cNvPicPr>
            <a:picLocks noChangeAspect="1"/>
          </p:cNvPicPr>
          <p:nvPr/>
        </p:nvPicPr>
        <p:blipFill>
          <a:blip r:embed="rId3"/>
          <a:stretch>
            <a:fillRect/>
          </a:stretch>
        </p:blipFill>
        <p:spPr>
          <a:xfrm>
            <a:off x="9832848" y="2286000"/>
            <a:ext cx="2173224" cy="56692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58368" y="566928"/>
            <a:ext cx="10058400" cy="274320"/>
          </a:xfrm>
          <a:prstGeom prst="rect">
            <a:avLst/>
          </a:prstGeom>
          <a:noFill/>
        </p:spPr>
        <p:txBody>
          <a:bodyPr wrap="square">
            <a:spAutoFit/>
          </a:bodyPr>
          <a:lstStyle/>
          <a:p>
            <a:pPr algn="l"/>
            <a:r>
              <a:rPr sz="1100" b="1" i="0">
                <a:solidFill>
                  <a:srgbClr val="1F4E9C"/>
                </a:solidFill>
                <a:latin typeface="Calibri" panose="020F0502020204030204"/>
              </a:rPr>
              <a:t>05  RÉALISATION</a:t>
            </a:r>
            <a:endParaRPr sz="1100" b="1" i="0">
              <a:solidFill>
                <a:srgbClr val="1F4E9C"/>
              </a:solidFill>
              <a:latin typeface="Calibri" panose="020F0502020204030204"/>
            </a:endParaRPr>
          </a:p>
        </p:txBody>
      </p:sp>
      <p:sp>
        <p:nvSpPr>
          <p:cNvPr id="3" name="TextBox 2"/>
          <p:cNvSpPr txBox="1"/>
          <p:nvPr/>
        </p:nvSpPr>
        <p:spPr>
          <a:xfrm>
            <a:off x="640080" y="868680"/>
            <a:ext cx="10881360" cy="685800"/>
          </a:xfrm>
          <a:prstGeom prst="rect">
            <a:avLst/>
          </a:prstGeom>
          <a:noFill/>
        </p:spPr>
        <p:txBody>
          <a:bodyPr wrap="square">
            <a:spAutoFit/>
          </a:bodyPr>
          <a:lstStyle/>
          <a:p>
            <a:pPr algn="l"/>
            <a:r>
              <a:rPr sz="3000" b="1" i="0">
                <a:solidFill>
                  <a:srgbClr val="12203F"/>
                </a:solidFill>
                <a:latin typeface="Calibri" panose="020F0502020204030204"/>
              </a:rPr>
              <a:t>Les pipelines Apache Hop</a:t>
            </a:r>
            <a:endParaRPr sz="3000" b="1" i="0">
              <a:solidFill>
                <a:srgbClr val="12203F"/>
              </a:solidFill>
              <a:latin typeface="Calibri" panose="020F0502020204030204"/>
            </a:endParaRPr>
          </a:p>
        </p:txBody>
      </p:sp>
      <p:pic>
        <p:nvPicPr>
          <p:cNvPr id="4" name="Picture 3" descr="image.png"/>
          <p:cNvPicPr>
            <a:picLocks noChangeAspect="1"/>
          </p:cNvPicPr>
          <p:nvPr/>
        </p:nvPicPr>
        <p:blipFill>
          <a:blip r:embed="rId1"/>
          <a:stretch>
            <a:fillRect/>
          </a:stretch>
        </p:blipFill>
        <p:spPr>
          <a:xfrm>
            <a:off x="9832848" y="2286000"/>
            <a:ext cx="2173224" cy="5669280"/>
          </a:xfrm>
          <a:prstGeom prst="rect">
            <a:avLst/>
          </a:prstGeom>
        </p:spPr>
      </p:pic>
      <p:pic>
        <p:nvPicPr>
          <p:cNvPr id="5" name="Picture 4" descr="image.png"/>
          <p:cNvPicPr>
            <a:picLocks noChangeAspect="1"/>
          </p:cNvPicPr>
          <p:nvPr/>
        </p:nvPicPr>
        <p:blipFill>
          <a:blip r:embed="rId2"/>
          <a:stretch>
            <a:fillRect/>
          </a:stretch>
        </p:blipFill>
        <p:spPr>
          <a:xfrm>
            <a:off x="640080" y="6327648"/>
            <a:ext cx="415260" cy="237744"/>
          </a:xfrm>
          <a:prstGeom prst="rect">
            <a:avLst/>
          </a:prstGeom>
        </p:spPr>
      </p:pic>
      <p:sp>
        <p:nvSpPr>
          <p:cNvPr id="6" name="TextBox 5"/>
          <p:cNvSpPr txBox="1"/>
          <p:nvPr/>
        </p:nvSpPr>
        <p:spPr>
          <a:xfrm>
            <a:off x="1188720" y="6309360"/>
            <a:ext cx="7315200" cy="274320"/>
          </a:xfrm>
          <a:prstGeom prst="rect">
            <a:avLst/>
          </a:prstGeom>
          <a:noFill/>
        </p:spPr>
        <p:txBody>
          <a:bodyPr wrap="square">
            <a:spAutoFit/>
          </a:bodyPr>
          <a:lstStyle/>
          <a:p>
            <a:pPr algn="l"/>
            <a:r>
              <a:rPr sz="900" b="0" i="0">
                <a:solidFill>
                  <a:srgbClr val="7A8294"/>
                </a:solidFill>
                <a:latin typeface="Calibri" panose="020F0502020204030204"/>
              </a:rPr>
              <a:t>Projet de Fin d'Études : Génie Informatique</a:t>
            </a:r>
            <a:endParaRPr sz="900" b="0" i="0">
              <a:solidFill>
                <a:srgbClr val="7A8294"/>
              </a:solidFill>
              <a:latin typeface="Calibri" panose="020F0502020204030204"/>
            </a:endParaRPr>
          </a:p>
        </p:txBody>
      </p:sp>
      <p:sp>
        <p:nvSpPr>
          <p:cNvPr id="7" name="TextBox 6"/>
          <p:cNvSpPr txBox="1"/>
          <p:nvPr/>
        </p:nvSpPr>
        <p:spPr>
          <a:xfrm>
            <a:off x="11003407" y="6309360"/>
            <a:ext cx="545465" cy="245110"/>
          </a:xfrm>
          <a:prstGeom prst="rect">
            <a:avLst/>
          </a:prstGeom>
          <a:noFill/>
        </p:spPr>
        <p:txBody>
          <a:bodyPr wrap="none">
            <a:spAutoFit/>
          </a:bodyPr>
          <a:lstStyle/>
          <a:p>
            <a:pPr algn="r"/>
            <a:r>
              <a:rPr lang="fr-FR" sz="1000" b="1">
                <a:solidFill>
                  <a:srgbClr val="1F4E9C"/>
                </a:solidFill>
                <a:latin typeface="Calibri" panose="020F0502020204030204"/>
              </a:rPr>
              <a:t>15</a:t>
            </a:r>
            <a:r>
              <a:rPr sz="1000" b="0">
                <a:solidFill>
                  <a:srgbClr val="7A8294"/>
                </a:solidFill>
                <a:latin typeface="Calibri" panose="020F0502020204030204"/>
              </a:rPr>
              <a:t> / 21</a:t>
            </a:r>
            <a:endParaRPr sz="1000" b="0">
              <a:solidFill>
                <a:srgbClr val="7A8294"/>
              </a:solidFill>
              <a:latin typeface="Calibri" panose="020F0502020204030204"/>
            </a:endParaRPr>
          </a:p>
        </p:txBody>
      </p:sp>
      <p:sp>
        <p:nvSpPr>
          <p:cNvPr id="8" name="TextBox 7"/>
          <p:cNvSpPr txBox="1"/>
          <p:nvPr/>
        </p:nvSpPr>
        <p:spPr>
          <a:xfrm>
            <a:off x="548640" y="1760000"/>
            <a:ext cx="4200000" cy="274320"/>
          </a:xfrm>
          <a:prstGeom prst="rect">
            <a:avLst/>
          </a:prstGeom>
          <a:noFill/>
        </p:spPr>
        <p:txBody>
          <a:bodyPr wrap="square">
            <a:spAutoFit/>
          </a:bodyPr>
          <a:lstStyle/>
          <a:p>
            <a:pPr algn="l"/>
            <a:r>
              <a:rPr sz="1100" b="1" i="0">
                <a:solidFill>
                  <a:srgbClr val="1F4E9C"/>
                </a:solidFill>
                <a:latin typeface="Calibri" panose="020F0502020204030204"/>
              </a:rPr>
              <a:t>4 domaines couverts — 19 pipelines</a:t>
            </a:r>
            <a:endParaRPr sz="1100" b="1" i="0">
              <a:solidFill>
                <a:srgbClr val="1F4E9C"/>
              </a:solidFill>
              <a:latin typeface="Calibri" panose="020F0502020204030204"/>
            </a:endParaRPr>
          </a:p>
        </p:txBody>
      </p:sp>
      <p:sp>
        <p:nvSpPr>
          <p:cNvPr id="9" name="Rectangle 8"/>
          <p:cNvSpPr/>
          <p:nvPr/>
        </p:nvSpPr>
        <p:spPr>
          <a:xfrm>
            <a:off x="548640" y="2140000"/>
            <a:ext cx="60000" cy="4400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8640" y="2080000"/>
            <a:ext cx="4080000" cy="280000"/>
          </a:xfrm>
          <a:prstGeom prst="rect">
            <a:avLst/>
          </a:prstGeom>
          <a:noFill/>
        </p:spPr>
        <p:txBody>
          <a:bodyPr wrap="square">
            <a:spAutoFit/>
          </a:bodyPr>
          <a:lstStyle/>
          <a:p>
            <a:pPr algn="l"/>
            <a:r>
              <a:rPr sz="1000" b="1" i="0">
                <a:solidFill>
                  <a:srgbClr val="12203F"/>
                </a:solidFill>
                <a:latin typeface="Calibri" panose="020F0502020204030204"/>
              </a:rPr>
              <a:t>Produits</a:t>
            </a:r>
            <a:endParaRPr sz="1000" b="1" i="0">
              <a:solidFill>
                <a:srgbClr val="12203F"/>
              </a:solidFill>
              <a:latin typeface="Calibri" panose="020F0502020204030204"/>
            </a:endParaRPr>
          </a:p>
        </p:txBody>
      </p:sp>
      <p:sp>
        <p:nvSpPr>
          <p:cNvPr id="11" name="TextBox 10"/>
          <p:cNvSpPr txBox="1"/>
          <p:nvPr/>
        </p:nvSpPr>
        <p:spPr>
          <a:xfrm>
            <a:off x="668640" y="2370000"/>
            <a:ext cx="4080000" cy="240000"/>
          </a:xfrm>
          <a:prstGeom prst="rect">
            <a:avLst/>
          </a:prstGeom>
          <a:noFill/>
        </p:spPr>
        <p:txBody>
          <a:bodyPr wrap="square">
            <a:spAutoFit/>
          </a:bodyPr>
          <a:lstStyle/>
          <a:p>
            <a:pPr algn="l"/>
            <a:r>
              <a:rPr sz="900" b="0" i="0">
                <a:solidFill>
                  <a:srgbClr val="7A8294"/>
                </a:solidFill>
                <a:latin typeface="Calibri" panose="020F0502020204030204"/>
              </a:rPr>
              <a:t>4 pipelines + 1 workflow</a:t>
            </a:r>
            <a:endParaRPr sz="900" b="0" i="0">
              <a:solidFill>
                <a:srgbClr val="7A8294"/>
              </a:solidFill>
              <a:latin typeface="Calibri" panose="020F0502020204030204"/>
            </a:endParaRPr>
          </a:p>
        </p:txBody>
      </p:sp>
      <p:sp>
        <p:nvSpPr>
          <p:cNvPr id="12" name="Rectangle 11"/>
          <p:cNvSpPr/>
          <p:nvPr/>
        </p:nvSpPr>
        <p:spPr>
          <a:xfrm>
            <a:off x="548640" y="2760000"/>
            <a:ext cx="60000" cy="4400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640" y="2700000"/>
            <a:ext cx="4080000" cy="280000"/>
          </a:xfrm>
          <a:prstGeom prst="rect">
            <a:avLst/>
          </a:prstGeom>
          <a:noFill/>
        </p:spPr>
        <p:txBody>
          <a:bodyPr wrap="square">
            <a:spAutoFit/>
          </a:bodyPr>
          <a:lstStyle/>
          <a:p>
            <a:pPr algn="l"/>
            <a:r>
              <a:rPr sz="1000" b="1" i="0">
                <a:solidFill>
                  <a:srgbClr val="12203F"/>
                </a:solidFill>
                <a:latin typeface="Calibri" panose="020F0502020204030204"/>
              </a:rPr>
              <a:t>Partenaires</a:t>
            </a:r>
            <a:endParaRPr sz="1000" b="1" i="0">
              <a:solidFill>
                <a:srgbClr val="12203F"/>
              </a:solidFill>
              <a:latin typeface="Calibri" panose="020F0502020204030204"/>
            </a:endParaRPr>
          </a:p>
        </p:txBody>
      </p:sp>
      <p:sp>
        <p:nvSpPr>
          <p:cNvPr id="14" name="TextBox 13"/>
          <p:cNvSpPr txBox="1"/>
          <p:nvPr/>
        </p:nvSpPr>
        <p:spPr>
          <a:xfrm>
            <a:off x="668640" y="2990000"/>
            <a:ext cx="4080000" cy="240000"/>
          </a:xfrm>
          <a:prstGeom prst="rect">
            <a:avLst/>
          </a:prstGeom>
          <a:noFill/>
        </p:spPr>
        <p:txBody>
          <a:bodyPr wrap="square">
            <a:spAutoFit/>
          </a:bodyPr>
          <a:lstStyle/>
          <a:p>
            <a:pPr algn="l"/>
            <a:r>
              <a:rPr sz="900" b="0" i="0">
                <a:solidFill>
                  <a:srgbClr val="7A8294"/>
                </a:solidFill>
                <a:latin typeface="Calibri" panose="020F0502020204030204"/>
              </a:rPr>
              <a:t>6 pipelines + 1 workflow</a:t>
            </a:r>
            <a:endParaRPr sz="900" b="0" i="0">
              <a:solidFill>
                <a:srgbClr val="7A8294"/>
              </a:solidFill>
              <a:latin typeface="Calibri" panose="020F0502020204030204"/>
            </a:endParaRPr>
          </a:p>
        </p:txBody>
      </p:sp>
      <p:sp>
        <p:nvSpPr>
          <p:cNvPr id="15" name="Rectangle 14"/>
          <p:cNvSpPr/>
          <p:nvPr/>
        </p:nvSpPr>
        <p:spPr>
          <a:xfrm>
            <a:off x="548640" y="3380000"/>
            <a:ext cx="60000" cy="4400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640" y="3320000"/>
            <a:ext cx="4080000" cy="280000"/>
          </a:xfrm>
          <a:prstGeom prst="rect">
            <a:avLst/>
          </a:prstGeom>
          <a:noFill/>
        </p:spPr>
        <p:txBody>
          <a:bodyPr wrap="square">
            <a:spAutoFit/>
          </a:bodyPr>
          <a:lstStyle/>
          <a:p>
            <a:pPr algn="l"/>
            <a:r>
              <a:rPr sz="1000" b="1" i="0">
                <a:solidFill>
                  <a:srgbClr val="12203F"/>
                </a:solidFill>
                <a:latin typeface="Calibri" panose="020F0502020204030204"/>
              </a:rPr>
              <a:t>Commandes de vente</a:t>
            </a:r>
            <a:endParaRPr sz="1000" b="1" i="0">
              <a:solidFill>
                <a:srgbClr val="12203F"/>
              </a:solidFill>
              <a:latin typeface="Calibri" panose="020F0502020204030204"/>
            </a:endParaRPr>
          </a:p>
        </p:txBody>
      </p:sp>
      <p:sp>
        <p:nvSpPr>
          <p:cNvPr id="17" name="TextBox 16"/>
          <p:cNvSpPr txBox="1"/>
          <p:nvPr/>
        </p:nvSpPr>
        <p:spPr>
          <a:xfrm>
            <a:off x="668640" y="3610000"/>
            <a:ext cx="4080000" cy="240000"/>
          </a:xfrm>
          <a:prstGeom prst="rect">
            <a:avLst/>
          </a:prstGeom>
          <a:noFill/>
        </p:spPr>
        <p:txBody>
          <a:bodyPr wrap="square">
            <a:spAutoFit/>
          </a:bodyPr>
          <a:lstStyle/>
          <a:p>
            <a:pPr algn="l"/>
            <a:r>
              <a:rPr sz="900" b="0" i="0">
                <a:solidFill>
                  <a:srgbClr val="7A8294"/>
                </a:solidFill>
                <a:latin typeface="Calibri" panose="020F0502020204030204"/>
              </a:rPr>
              <a:t>4 pipelines + 1 workflow</a:t>
            </a:r>
            <a:endParaRPr sz="900" b="0" i="0">
              <a:solidFill>
                <a:srgbClr val="7A8294"/>
              </a:solidFill>
              <a:latin typeface="Calibri" panose="020F0502020204030204"/>
            </a:endParaRPr>
          </a:p>
        </p:txBody>
      </p:sp>
      <p:sp>
        <p:nvSpPr>
          <p:cNvPr id="18" name="Rectangle 17"/>
          <p:cNvSpPr/>
          <p:nvPr/>
        </p:nvSpPr>
        <p:spPr>
          <a:xfrm>
            <a:off x="548640" y="4000000"/>
            <a:ext cx="60000" cy="4400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8640" y="3940000"/>
            <a:ext cx="4080000" cy="280000"/>
          </a:xfrm>
          <a:prstGeom prst="rect">
            <a:avLst/>
          </a:prstGeom>
          <a:noFill/>
        </p:spPr>
        <p:txBody>
          <a:bodyPr wrap="square">
            <a:spAutoFit/>
          </a:bodyPr>
          <a:lstStyle/>
          <a:p>
            <a:pPr algn="l"/>
            <a:r>
              <a:rPr sz="1000" b="1" i="0">
                <a:solidFill>
                  <a:srgbClr val="12203F"/>
                </a:solidFill>
                <a:latin typeface="Calibri" panose="020F0502020204030204"/>
              </a:rPr>
              <a:t>Factures</a:t>
            </a:r>
            <a:endParaRPr sz="1000" b="1" i="0">
              <a:solidFill>
                <a:srgbClr val="12203F"/>
              </a:solidFill>
              <a:latin typeface="Calibri" panose="020F0502020204030204"/>
            </a:endParaRPr>
          </a:p>
        </p:txBody>
      </p:sp>
      <p:sp>
        <p:nvSpPr>
          <p:cNvPr id="20" name="TextBox 19"/>
          <p:cNvSpPr txBox="1"/>
          <p:nvPr/>
        </p:nvSpPr>
        <p:spPr>
          <a:xfrm>
            <a:off x="668640" y="4230000"/>
            <a:ext cx="4080000" cy="240000"/>
          </a:xfrm>
          <a:prstGeom prst="rect">
            <a:avLst/>
          </a:prstGeom>
          <a:noFill/>
        </p:spPr>
        <p:txBody>
          <a:bodyPr wrap="square">
            <a:spAutoFit/>
          </a:bodyPr>
          <a:lstStyle/>
          <a:p>
            <a:pPr algn="l"/>
            <a:r>
              <a:rPr sz="900" b="0" i="0">
                <a:solidFill>
                  <a:srgbClr val="7A8294"/>
                </a:solidFill>
                <a:latin typeface="Calibri" panose="020F0502020204030204"/>
              </a:rPr>
              <a:t>6 pipelines + 1 workflow</a:t>
            </a:r>
            <a:endParaRPr sz="900" b="0" i="0">
              <a:solidFill>
                <a:srgbClr val="7A8294"/>
              </a:solidFill>
              <a:latin typeface="Calibri" panose="020F0502020204030204"/>
            </a:endParaRPr>
          </a:p>
        </p:txBody>
      </p:sp>
      <p:sp>
        <p:nvSpPr>
          <p:cNvPr id="21" name="TextBox 20"/>
          <p:cNvSpPr txBox="1"/>
          <p:nvPr/>
        </p:nvSpPr>
        <p:spPr>
          <a:xfrm>
            <a:off x="5148640" y="1760000"/>
            <a:ext cx="4200000" cy="274320"/>
          </a:xfrm>
          <a:prstGeom prst="rect">
            <a:avLst/>
          </a:prstGeom>
          <a:noFill/>
        </p:spPr>
        <p:txBody>
          <a:bodyPr wrap="square">
            <a:spAutoFit/>
          </a:bodyPr>
          <a:lstStyle/>
          <a:p>
            <a:pPr algn="l"/>
            <a:r>
              <a:rPr sz="1100" b="1" i="0">
                <a:solidFill>
                  <a:srgbClr val="1F4E9C"/>
                </a:solidFill>
                <a:latin typeface="Calibri" panose="020F0502020204030204"/>
              </a:rPr>
              <a:t>3 patterns standardisés</a:t>
            </a:r>
            <a:endParaRPr sz="1100" b="1" i="0">
              <a:solidFill>
                <a:srgbClr val="1F4E9C"/>
              </a:solidFill>
              <a:latin typeface="Calibri" panose="020F0502020204030204"/>
            </a:endParaRPr>
          </a:p>
        </p:txBody>
      </p:sp>
      <p:sp>
        <p:nvSpPr>
          <p:cNvPr id="22" name="Rectangle 21"/>
          <p:cNvSpPr/>
          <p:nvPr/>
        </p:nvSpPr>
        <p:spPr>
          <a:xfrm>
            <a:off x="5148640" y="2140000"/>
            <a:ext cx="60000" cy="4400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68640" y="2080000"/>
            <a:ext cx="4080000" cy="280000"/>
          </a:xfrm>
          <a:prstGeom prst="rect">
            <a:avLst/>
          </a:prstGeom>
          <a:noFill/>
        </p:spPr>
        <p:txBody>
          <a:bodyPr wrap="square">
            <a:spAutoFit/>
          </a:bodyPr>
          <a:lstStyle/>
          <a:p>
            <a:pPr algn="l"/>
            <a:r>
              <a:rPr sz="1000" b="1" i="0">
                <a:solidFill>
                  <a:srgbClr val="12203F"/>
                </a:solidFill>
                <a:latin typeface="Calibri" panose="020F0502020204030204"/>
              </a:rPr>
              <a:t>Upsert</a:t>
            </a:r>
            <a:endParaRPr sz="1000" b="1" i="0">
              <a:solidFill>
                <a:srgbClr val="12203F"/>
              </a:solidFill>
              <a:latin typeface="Calibri" panose="020F0502020204030204"/>
            </a:endParaRPr>
          </a:p>
        </p:txBody>
      </p:sp>
      <p:sp>
        <p:nvSpPr>
          <p:cNvPr id="24" name="TextBox 23"/>
          <p:cNvSpPr txBox="1"/>
          <p:nvPr/>
        </p:nvSpPr>
        <p:spPr>
          <a:xfrm>
            <a:off x="5268640" y="2370000"/>
            <a:ext cx="4080000" cy="280000"/>
          </a:xfrm>
          <a:prstGeom prst="rect">
            <a:avLst/>
          </a:prstGeom>
          <a:noFill/>
        </p:spPr>
        <p:txBody>
          <a:bodyPr wrap="square">
            <a:spAutoFit/>
          </a:bodyPr>
          <a:lstStyle/>
          <a:p>
            <a:pPr algn="l"/>
            <a:r>
              <a:rPr sz="900" b="0" i="0">
                <a:solidFill>
                  <a:srgbClr val="7A8294"/>
                </a:solidFill>
                <a:latin typeface="Calibri" panose="020F0502020204030204"/>
              </a:rPr>
              <a:t>Insert ou Update selon import_id — garantit l'idempotence</a:t>
            </a:r>
            <a:endParaRPr sz="900" b="0" i="0">
              <a:solidFill>
                <a:srgbClr val="7A8294"/>
              </a:solidFill>
              <a:latin typeface="Calibri" panose="020F0502020204030204"/>
            </a:endParaRPr>
          </a:p>
        </p:txBody>
      </p:sp>
      <p:sp>
        <p:nvSpPr>
          <p:cNvPr id="25" name="Rectangle 24"/>
          <p:cNvSpPr/>
          <p:nvPr/>
        </p:nvSpPr>
        <p:spPr>
          <a:xfrm>
            <a:off x="5148640" y="2760000"/>
            <a:ext cx="60000" cy="4400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68640" y="2700000"/>
            <a:ext cx="4080000" cy="280000"/>
          </a:xfrm>
          <a:prstGeom prst="rect">
            <a:avLst/>
          </a:prstGeom>
          <a:noFill/>
        </p:spPr>
        <p:txBody>
          <a:bodyPr wrap="square">
            <a:spAutoFit/>
          </a:bodyPr>
          <a:lstStyle/>
          <a:p>
            <a:pPr algn="l"/>
            <a:r>
              <a:rPr sz="1000" b="1" i="0">
                <a:solidFill>
                  <a:srgbClr val="12203F"/>
                </a:solidFill>
                <a:latin typeface="Calibri" panose="020F0502020204030204"/>
              </a:rPr>
              <a:t>Junction M2M</a:t>
            </a:r>
            <a:endParaRPr sz="1000" b="1" i="0">
              <a:solidFill>
                <a:srgbClr val="12203F"/>
              </a:solidFill>
              <a:latin typeface="Calibri" panose="020F0502020204030204"/>
            </a:endParaRPr>
          </a:p>
        </p:txBody>
      </p:sp>
      <p:sp>
        <p:nvSpPr>
          <p:cNvPr id="27" name="TextBox 26"/>
          <p:cNvSpPr txBox="1"/>
          <p:nvPr/>
        </p:nvSpPr>
        <p:spPr>
          <a:xfrm>
            <a:off x="5268640" y="2990000"/>
            <a:ext cx="4080000" cy="280000"/>
          </a:xfrm>
          <a:prstGeom prst="rect">
            <a:avLst/>
          </a:prstGeom>
          <a:noFill/>
        </p:spPr>
        <p:txBody>
          <a:bodyPr wrap="square">
            <a:spAutoFit/>
          </a:bodyPr>
          <a:lstStyle/>
          <a:p>
            <a:pPr algn="l"/>
            <a:r>
              <a:rPr sz="900" b="0" i="0">
                <a:solidFill>
                  <a:srgbClr val="7A8294"/>
                </a:solidFill>
                <a:latin typeface="Calibri" panose="020F0502020204030204"/>
              </a:rPr>
              <a:t>Peuplement des tables de jonction Many-to-Many</a:t>
            </a:r>
            <a:endParaRPr sz="900" b="0" i="0">
              <a:solidFill>
                <a:srgbClr val="7A8294"/>
              </a:solidFill>
              <a:latin typeface="Calibri" panose="020F0502020204030204"/>
            </a:endParaRPr>
          </a:p>
        </p:txBody>
      </p:sp>
      <p:sp>
        <p:nvSpPr>
          <p:cNvPr id="28" name="Rectangle 27"/>
          <p:cNvSpPr/>
          <p:nvPr/>
        </p:nvSpPr>
        <p:spPr>
          <a:xfrm>
            <a:off x="5148640" y="3380000"/>
            <a:ext cx="60000" cy="4400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68640" y="3320000"/>
            <a:ext cx="4080000" cy="280000"/>
          </a:xfrm>
          <a:prstGeom prst="rect">
            <a:avLst/>
          </a:prstGeom>
          <a:noFill/>
        </p:spPr>
        <p:txBody>
          <a:bodyPr wrap="square">
            <a:spAutoFit/>
          </a:bodyPr>
          <a:lstStyle/>
          <a:p>
            <a:pPr algn="l"/>
            <a:r>
              <a:rPr sz="1000" b="1" i="0">
                <a:solidFill>
                  <a:srgbClr val="12203F"/>
                </a:solidFill>
                <a:latin typeface="Calibri" panose="020F0502020204030204"/>
              </a:rPr>
              <a:t>Post-SQL</a:t>
            </a:r>
            <a:endParaRPr sz="1000" b="1" i="0">
              <a:solidFill>
                <a:srgbClr val="12203F"/>
              </a:solidFill>
              <a:latin typeface="Calibri" panose="020F0502020204030204"/>
            </a:endParaRPr>
          </a:p>
        </p:txBody>
      </p:sp>
      <p:sp>
        <p:nvSpPr>
          <p:cNvPr id="30" name="TextBox 29"/>
          <p:cNvSpPr txBox="1"/>
          <p:nvPr/>
        </p:nvSpPr>
        <p:spPr>
          <a:xfrm>
            <a:off x="5268640" y="3610000"/>
            <a:ext cx="4080000" cy="280000"/>
          </a:xfrm>
          <a:prstGeom prst="rect">
            <a:avLst/>
          </a:prstGeom>
          <a:noFill/>
        </p:spPr>
        <p:txBody>
          <a:bodyPr wrap="square">
            <a:spAutoFit/>
          </a:bodyPr>
          <a:lstStyle/>
          <a:p>
            <a:pPr algn="l"/>
            <a:r>
              <a:rPr sz="900" b="0" i="0">
                <a:solidFill>
                  <a:srgbClr val="7A8294"/>
                </a:solidFill>
                <a:latin typeface="Calibri" panose="020F0502020204030204"/>
              </a:rPr>
              <a:t>Séquences, champs dérivés et totaux calculés après injection</a:t>
            </a:r>
            <a:endParaRPr sz="900" b="0" i="0">
              <a:solidFill>
                <a:srgbClr val="7A8294"/>
              </a:solidFill>
              <a:latin typeface="Calibri" panose="020F0502020204030204"/>
            </a:endParaRPr>
          </a:p>
        </p:txBody>
      </p:sp>
      <p:sp>
        <p:nvSpPr>
          <p:cNvPr id="31" name="Rectangle 30"/>
          <p:cNvSpPr/>
          <p:nvPr/>
        </p:nvSpPr>
        <p:spPr>
          <a:xfrm>
            <a:off x="548640" y="4620000"/>
            <a:ext cx="8900000" cy="300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4700000"/>
            <a:ext cx="8900000" cy="274320"/>
          </a:xfrm>
          <a:prstGeom prst="rect">
            <a:avLst/>
          </a:prstGeom>
          <a:noFill/>
        </p:spPr>
        <p:txBody>
          <a:bodyPr wrap="square">
            <a:spAutoFit/>
          </a:bodyPr>
          <a:lstStyle/>
          <a:p>
            <a:pPr algn="l"/>
            <a:r>
              <a:rPr sz="900" b="0" i="1">
                <a:solidFill>
                  <a:srgbClr val="2A3142"/>
                </a:solidFill>
                <a:latin typeface="Calibri" panose="020F0502020204030204"/>
              </a:rPr>
              <a:t>Architecture 2 étapes : consolidation (résolution FK + transformations)  →  injection (upsert PostgreSQL)</a:t>
            </a:r>
            <a:endParaRPr sz="900" b="0" i="1">
              <a:solidFill>
                <a:srgbClr val="2A3142"/>
              </a:solidFill>
              <a:latin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58368" y="566928"/>
            <a:ext cx="10058400" cy="274320"/>
          </a:xfrm>
          <a:prstGeom prst="rect">
            <a:avLst/>
          </a:prstGeom>
          <a:noFill/>
        </p:spPr>
        <p:txBody>
          <a:bodyPr wrap="square">
            <a:spAutoFit/>
          </a:bodyPr>
          <a:lstStyle/>
          <a:p>
            <a:pPr algn="l"/>
            <a:r>
              <a:rPr sz="1100" b="1" i="0">
                <a:solidFill>
                  <a:srgbClr val="1F4E9C"/>
                </a:solidFill>
                <a:latin typeface="Calibri" panose="020F0502020204030204"/>
              </a:rPr>
              <a:t>05  RÉALISATION</a:t>
            </a:r>
            <a:endParaRPr sz="1100" b="1" i="0">
              <a:solidFill>
                <a:srgbClr val="1F4E9C"/>
              </a:solidFill>
              <a:latin typeface="Calibri" panose="020F0502020204030204"/>
            </a:endParaRPr>
          </a:p>
        </p:txBody>
      </p:sp>
      <p:sp>
        <p:nvSpPr>
          <p:cNvPr id="3" name="TextBox 2"/>
          <p:cNvSpPr txBox="1"/>
          <p:nvPr/>
        </p:nvSpPr>
        <p:spPr>
          <a:xfrm>
            <a:off x="640080" y="868680"/>
            <a:ext cx="10881360" cy="685800"/>
          </a:xfrm>
          <a:prstGeom prst="rect">
            <a:avLst/>
          </a:prstGeom>
          <a:noFill/>
        </p:spPr>
        <p:txBody>
          <a:bodyPr wrap="square">
            <a:spAutoFit/>
          </a:bodyPr>
          <a:lstStyle/>
          <a:p>
            <a:pPr algn="l"/>
            <a:r>
              <a:rPr sz="3000" b="1" i="0">
                <a:solidFill>
                  <a:srgbClr val="12203F"/>
                </a:solidFill>
                <a:latin typeface="Calibri" panose="020F0502020204030204"/>
              </a:rPr>
              <a:t>Les 3 skills Claude Code</a:t>
            </a:r>
            <a:endParaRPr sz="3000" b="1" i="0">
              <a:solidFill>
                <a:srgbClr val="12203F"/>
              </a:solidFill>
              <a:latin typeface="Calibri" panose="020F0502020204030204"/>
            </a:endParaRPr>
          </a:p>
        </p:txBody>
      </p:sp>
      <p:pic>
        <p:nvPicPr>
          <p:cNvPr id="4" name="Picture 3" descr="image.png"/>
          <p:cNvPicPr>
            <a:picLocks noChangeAspect="1"/>
          </p:cNvPicPr>
          <p:nvPr/>
        </p:nvPicPr>
        <p:blipFill>
          <a:blip r:embed="rId1"/>
          <a:stretch>
            <a:fillRect/>
          </a:stretch>
        </p:blipFill>
        <p:spPr>
          <a:xfrm>
            <a:off x="9832848" y="2286000"/>
            <a:ext cx="2173224" cy="5669280"/>
          </a:xfrm>
          <a:prstGeom prst="rect">
            <a:avLst/>
          </a:prstGeom>
        </p:spPr>
      </p:pic>
      <p:pic>
        <p:nvPicPr>
          <p:cNvPr id="5" name="Picture 4" descr="image.png"/>
          <p:cNvPicPr>
            <a:picLocks noChangeAspect="1"/>
          </p:cNvPicPr>
          <p:nvPr/>
        </p:nvPicPr>
        <p:blipFill>
          <a:blip r:embed="rId2"/>
          <a:stretch>
            <a:fillRect/>
          </a:stretch>
        </p:blipFill>
        <p:spPr>
          <a:xfrm>
            <a:off x="640080" y="6327648"/>
            <a:ext cx="415260" cy="237744"/>
          </a:xfrm>
          <a:prstGeom prst="rect">
            <a:avLst/>
          </a:prstGeom>
        </p:spPr>
      </p:pic>
      <p:sp>
        <p:nvSpPr>
          <p:cNvPr id="6" name="TextBox 5"/>
          <p:cNvSpPr txBox="1"/>
          <p:nvPr/>
        </p:nvSpPr>
        <p:spPr>
          <a:xfrm>
            <a:off x="1188720" y="6309360"/>
            <a:ext cx="7315200" cy="274320"/>
          </a:xfrm>
          <a:prstGeom prst="rect">
            <a:avLst/>
          </a:prstGeom>
          <a:noFill/>
        </p:spPr>
        <p:txBody>
          <a:bodyPr wrap="square">
            <a:spAutoFit/>
          </a:bodyPr>
          <a:lstStyle/>
          <a:p>
            <a:pPr algn="l"/>
            <a:r>
              <a:rPr sz="900" b="0" i="0">
                <a:solidFill>
                  <a:srgbClr val="7A8294"/>
                </a:solidFill>
                <a:latin typeface="Calibri" panose="020F0502020204030204"/>
              </a:rPr>
              <a:t>Projet de Fin d'Études : Génie Informatique</a:t>
            </a:r>
            <a:endParaRPr sz="900" b="0" i="0">
              <a:solidFill>
                <a:srgbClr val="7A8294"/>
              </a:solidFill>
              <a:latin typeface="Calibri" panose="020F0502020204030204"/>
            </a:endParaRPr>
          </a:p>
        </p:txBody>
      </p:sp>
      <p:sp>
        <p:nvSpPr>
          <p:cNvPr id="7" name="TextBox 6"/>
          <p:cNvSpPr txBox="1"/>
          <p:nvPr/>
        </p:nvSpPr>
        <p:spPr>
          <a:xfrm>
            <a:off x="11003407" y="6309360"/>
            <a:ext cx="545465" cy="245110"/>
          </a:xfrm>
          <a:prstGeom prst="rect">
            <a:avLst/>
          </a:prstGeom>
          <a:noFill/>
        </p:spPr>
        <p:txBody>
          <a:bodyPr wrap="none">
            <a:spAutoFit/>
          </a:bodyPr>
          <a:lstStyle/>
          <a:p>
            <a:pPr algn="r"/>
            <a:r>
              <a:rPr lang="fr-FR" sz="1000" b="1">
                <a:solidFill>
                  <a:srgbClr val="1F4E9C"/>
                </a:solidFill>
                <a:latin typeface="Calibri" panose="020F0502020204030204"/>
              </a:rPr>
              <a:t>16</a:t>
            </a:r>
            <a:r>
              <a:rPr sz="1000" b="0">
                <a:solidFill>
                  <a:srgbClr val="7A8294"/>
                </a:solidFill>
                <a:latin typeface="Calibri" panose="020F0502020204030204"/>
              </a:rPr>
              <a:t> / 21</a:t>
            </a:r>
            <a:endParaRPr sz="1000" b="0">
              <a:solidFill>
                <a:srgbClr val="7A8294"/>
              </a:solidFill>
              <a:latin typeface="Calibri" panose="020F0502020204030204"/>
            </a:endParaRPr>
          </a:p>
        </p:txBody>
      </p:sp>
      <p:sp>
        <p:nvSpPr>
          <p:cNvPr id="8" name="CSV Box"/>
          <p:cNvSpPr/>
          <p:nvPr/>
        </p:nvSpPr>
        <p:spPr>
          <a:xfrm>
            <a:off x="264160" y="2578735"/>
            <a:ext cx="1067435" cy="549910"/>
          </a:xfrm>
          <a:prstGeom prst="roundRect">
            <a:avLst/>
          </a:prstGeom>
          <a:solidFill>
            <a:srgbClr val="F5F5F5"/>
          </a:solidFill>
          <a:ln w="19050">
            <a:solidFill>
              <a:srgbClr val="7A829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a:solidFill>
                  <a:srgbClr val="12203F"/>
                </a:solidFill>
                <a:latin typeface="Calibri" panose="020F0502020204030204"/>
              </a:rPr>
              <a:t>CSV source</a:t>
            </a:r>
            <a:endParaRPr sz="800" b="0">
              <a:solidFill>
                <a:srgbClr val="12203F"/>
              </a:solidFill>
              <a:latin typeface="Calibri" panose="020F0502020204030204"/>
            </a:endParaRPr>
          </a:p>
          <a:p>
            <a:pPr algn="ctr"/>
            <a:r>
              <a:rPr sz="800" b="0">
                <a:solidFill>
                  <a:srgbClr val="12203F"/>
                </a:solidFill>
                <a:latin typeface="Calibri" panose="020F0502020204030204"/>
              </a:rPr>
              <a:t>Schéma PostgreSQL</a:t>
            </a:r>
            <a:endParaRPr sz="800" b="0">
              <a:solidFill>
                <a:srgbClr val="12203F"/>
              </a:solidFill>
              <a:latin typeface="Calibri" panose="020F0502020204030204"/>
            </a:endParaRPr>
          </a:p>
        </p:txBody>
      </p:sp>
      <p:sp>
        <p:nvSpPr>
          <p:cNvPr id="9" name="Arrow1"/>
          <p:cNvSpPr txBox="1"/>
          <p:nvPr/>
        </p:nvSpPr>
        <p:spPr>
          <a:xfrm>
            <a:off x="1415310" y="2703735"/>
            <a:ext cx="220000" cy="300000"/>
          </a:xfrm>
          <a:prstGeom prst="rect">
            <a:avLst/>
          </a:prstGeom>
          <a:noFill/>
        </p:spPr>
        <p:txBody>
          <a:bodyPr wrap="square">
            <a:spAutoFit/>
          </a:bodyPr>
          <a:lstStyle/>
          <a:p>
            <a:pPr algn="ctr"/>
            <a:r>
              <a:rPr sz="1400" b="1">
                <a:solidFill>
                  <a:srgbClr val="1F4E9C"/>
                </a:solidFill>
                <a:latin typeface="Calibri" panose="020F0502020204030204"/>
              </a:rPr>
              <a:t>&gt;</a:t>
            </a:r>
            <a:endParaRPr sz="1400" b="1">
              <a:solidFill>
                <a:srgbClr val="1F4E9C"/>
              </a:solidFill>
              <a:latin typeface="Calibri" panose="020F0502020204030204"/>
            </a:endParaRPr>
          </a:p>
        </p:txBody>
      </p:sp>
      <p:sp>
        <p:nvSpPr>
          <p:cNvPr id="10" name="Analyze Box"/>
          <p:cNvSpPr/>
          <p:nvPr/>
        </p:nvSpPr>
        <p:spPr>
          <a:xfrm>
            <a:off x="1718945" y="2576195"/>
            <a:ext cx="1050290" cy="548640"/>
          </a:xfrm>
          <a:prstGeom prst="roundRect">
            <a:avLst/>
          </a:prstGeom>
          <a:solidFill>
            <a:srgbClr val="D6E4F0"/>
          </a:solidFill>
          <a:ln w="19050">
            <a:solidFill>
              <a:srgbClr val="1F4E9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2203F"/>
                </a:solidFill>
                <a:latin typeface="Calibri" panose="020F0502020204030204"/>
              </a:rPr>
              <a:t>analyze-and-map-entity</a:t>
            </a:r>
            <a:endParaRPr sz="900" b="1">
              <a:solidFill>
                <a:srgbClr val="12203F"/>
              </a:solidFill>
              <a:latin typeface="Calibri" panose="020F0502020204030204"/>
            </a:endParaRPr>
          </a:p>
        </p:txBody>
      </p:sp>
      <p:sp>
        <p:nvSpPr>
          <p:cNvPr id="11" name="Arrow2"/>
          <p:cNvSpPr txBox="1"/>
          <p:nvPr/>
        </p:nvSpPr>
        <p:spPr>
          <a:xfrm>
            <a:off x="2853085" y="2701195"/>
            <a:ext cx="220000" cy="300000"/>
          </a:xfrm>
          <a:prstGeom prst="rect">
            <a:avLst/>
          </a:prstGeom>
          <a:noFill/>
        </p:spPr>
        <p:txBody>
          <a:bodyPr wrap="square">
            <a:spAutoFit/>
          </a:bodyPr>
          <a:lstStyle/>
          <a:p>
            <a:pPr algn="ctr"/>
            <a:r>
              <a:rPr sz="1400" b="1">
                <a:solidFill>
                  <a:srgbClr val="1F4E9C"/>
                </a:solidFill>
                <a:latin typeface="Calibri" panose="020F0502020204030204"/>
              </a:rPr>
              <a:t>&gt;</a:t>
            </a:r>
            <a:endParaRPr sz="1400" b="1">
              <a:solidFill>
                <a:srgbClr val="1F4E9C"/>
              </a:solidFill>
              <a:latin typeface="Calibri" panose="020F0502020204030204"/>
            </a:endParaRPr>
          </a:p>
        </p:txBody>
      </p:sp>
      <p:sp>
        <p:nvSpPr>
          <p:cNvPr id="13" name="ArrowSW"/>
          <p:cNvSpPr txBox="1"/>
          <p:nvPr/>
        </p:nvSpPr>
        <p:spPr>
          <a:xfrm rot="12240000">
            <a:off x="6794255" y="2035310"/>
            <a:ext cx="400000" cy="400000"/>
          </a:xfrm>
          <a:prstGeom prst="rect">
            <a:avLst/>
          </a:prstGeom>
          <a:noFill/>
        </p:spPr>
        <p:txBody>
          <a:bodyPr wrap="square">
            <a:spAutoFit/>
          </a:bodyPr>
          <a:lstStyle/>
          <a:p>
            <a:pPr algn="ctr"/>
            <a:r>
              <a:rPr sz="1800" b="1">
                <a:solidFill>
                  <a:srgbClr val="1F4E9C"/>
                </a:solidFill>
                <a:latin typeface="Calibri" panose="020F0502020204030204"/>
              </a:rPr>
              <a:t>↙</a:t>
            </a:r>
            <a:endParaRPr sz="1800" b="1">
              <a:solidFill>
                <a:srgbClr val="1F4E9C"/>
              </a:solidFill>
              <a:latin typeface="Calibri" panose="020F0502020204030204"/>
            </a:endParaRPr>
          </a:p>
        </p:txBody>
      </p:sp>
      <p:sp>
        <p:nvSpPr>
          <p:cNvPr id="14" name="ArrowSE"/>
          <p:cNvSpPr txBox="1"/>
          <p:nvPr/>
        </p:nvSpPr>
        <p:spPr>
          <a:xfrm>
            <a:off x="6849785" y="3478030"/>
            <a:ext cx="400000" cy="400000"/>
          </a:xfrm>
          <a:prstGeom prst="rect">
            <a:avLst/>
          </a:prstGeom>
          <a:noFill/>
        </p:spPr>
        <p:txBody>
          <a:bodyPr wrap="square">
            <a:spAutoFit/>
          </a:bodyPr>
          <a:lstStyle/>
          <a:p>
            <a:pPr algn="ctr"/>
            <a:r>
              <a:rPr sz="1800" b="1">
                <a:solidFill>
                  <a:srgbClr val="1F4E9C"/>
                </a:solidFill>
                <a:latin typeface="Calibri" panose="020F0502020204030204"/>
              </a:rPr>
              <a:t>↘</a:t>
            </a:r>
            <a:endParaRPr sz="1800" b="1">
              <a:solidFill>
                <a:srgbClr val="1F4E9C"/>
              </a:solidFill>
              <a:latin typeface="Calibri" panose="020F0502020204030204"/>
            </a:endParaRPr>
          </a:p>
        </p:txBody>
      </p:sp>
      <p:sp>
        <p:nvSpPr>
          <p:cNvPr id="15" name="GenPipeline Box"/>
          <p:cNvSpPr/>
          <p:nvPr/>
        </p:nvSpPr>
        <p:spPr>
          <a:xfrm>
            <a:off x="7258685" y="1809750"/>
            <a:ext cx="1212850" cy="476250"/>
          </a:xfrm>
          <a:prstGeom prst="roundRect">
            <a:avLst/>
          </a:prstGeom>
          <a:solidFill>
            <a:srgbClr val="D6E4F0"/>
          </a:solidFill>
          <a:ln w="19050">
            <a:solidFill>
              <a:srgbClr val="1F4E9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2203F"/>
                </a:solidFill>
                <a:latin typeface="Calibri" panose="020F0502020204030204"/>
              </a:rPr>
              <a:t>generate-pipeline</a:t>
            </a:r>
            <a:endParaRPr sz="900" b="1">
              <a:solidFill>
                <a:srgbClr val="12203F"/>
              </a:solidFill>
              <a:latin typeface="Calibri" panose="020F0502020204030204"/>
            </a:endParaRPr>
          </a:p>
        </p:txBody>
      </p:sp>
      <p:sp>
        <p:nvSpPr>
          <p:cNvPr id="16" name="GenWorkflow Box"/>
          <p:cNvSpPr/>
          <p:nvPr/>
        </p:nvSpPr>
        <p:spPr>
          <a:xfrm>
            <a:off x="7240905" y="3713480"/>
            <a:ext cx="1263015" cy="452755"/>
          </a:xfrm>
          <a:prstGeom prst="roundRect">
            <a:avLst/>
          </a:prstGeom>
          <a:solidFill>
            <a:srgbClr val="D6E4F0"/>
          </a:solidFill>
          <a:ln w="19050">
            <a:solidFill>
              <a:srgbClr val="1F4E9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2203F"/>
                </a:solidFill>
                <a:latin typeface="Calibri" panose="020F0502020204030204"/>
              </a:rPr>
              <a:t>generate-workflow</a:t>
            </a:r>
            <a:endParaRPr sz="900" b="1">
              <a:solidFill>
                <a:srgbClr val="12203F"/>
              </a:solidFill>
              <a:latin typeface="Calibri" panose="020F0502020204030204"/>
            </a:endParaRPr>
          </a:p>
        </p:txBody>
      </p:sp>
      <p:sp>
        <p:nvSpPr>
          <p:cNvPr id="17" name="HPL Output"/>
          <p:cNvSpPr/>
          <p:nvPr/>
        </p:nvSpPr>
        <p:spPr>
          <a:xfrm>
            <a:off x="8964930" y="1809750"/>
            <a:ext cx="1056640" cy="480060"/>
          </a:xfrm>
          <a:prstGeom prst="roundRect">
            <a:avLst/>
          </a:prstGeom>
          <a:solidFill>
            <a:srgbClr val="E8F5E9"/>
          </a:solidFill>
          <a:ln w="19050">
            <a:solidFill>
              <a:srgbClr val="1F7A3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a:solidFill>
                  <a:srgbClr val="12203F"/>
                </a:solidFill>
                <a:latin typeface="Calibri" panose="020F0502020204030204"/>
              </a:rPr>
              <a:t>Fichiers .hpl</a:t>
            </a:r>
            <a:endParaRPr sz="800" b="0">
              <a:solidFill>
                <a:srgbClr val="12203F"/>
              </a:solidFill>
              <a:latin typeface="Calibri" panose="020F0502020204030204"/>
            </a:endParaRPr>
          </a:p>
        </p:txBody>
      </p:sp>
      <p:sp>
        <p:nvSpPr>
          <p:cNvPr id="18" name="HWF Output"/>
          <p:cNvSpPr/>
          <p:nvPr/>
        </p:nvSpPr>
        <p:spPr>
          <a:xfrm>
            <a:off x="8869680" y="3705225"/>
            <a:ext cx="1151890" cy="480060"/>
          </a:xfrm>
          <a:prstGeom prst="roundRect">
            <a:avLst/>
          </a:prstGeom>
          <a:solidFill>
            <a:srgbClr val="E8F5E9"/>
          </a:solidFill>
          <a:ln w="19050">
            <a:solidFill>
              <a:srgbClr val="1F7A3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a:solidFill>
                  <a:srgbClr val="12203F"/>
                </a:solidFill>
                <a:latin typeface="Calibri" panose="020F0502020204030204"/>
              </a:rPr>
              <a:t>Fichier .hwf</a:t>
            </a:r>
            <a:endParaRPr sz="800" b="0">
              <a:solidFill>
                <a:srgbClr val="12203F"/>
              </a:solidFill>
              <a:latin typeface="Calibri" panose="020F0502020204030204"/>
            </a:endParaRPr>
          </a:p>
        </p:txBody>
      </p:sp>
      <p:sp>
        <p:nvSpPr>
          <p:cNvPr id="19" name="Divider"/>
          <p:cNvSpPr/>
          <p:nvPr/>
        </p:nvSpPr>
        <p:spPr>
          <a:xfrm>
            <a:off x="548640" y="5069280"/>
            <a:ext cx="9100000" cy="200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ol1 Header"/>
          <p:cNvSpPr txBox="1"/>
          <p:nvPr/>
        </p:nvSpPr>
        <p:spPr>
          <a:xfrm>
            <a:off x="548640" y="5129280"/>
            <a:ext cx="2500000" cy="320000"/>
          </a:xfrm>
          <a:prstGeom prst="rect">
            <a:avLst/>
          </a:prstGeom>
          <a:noFill/>
        </p:spPr>
        <p:txBody>
          <a:bodyPr wrap="square">
            <a:spAutoFit/>
          </a:bodyPr>
          <a:lstStyle/>
          <a:p>
            <a:pPr algn="l"/>
            <a:r>
              <a:rPr sz="900" b="1" dirty="0">
                <a:solidFill>
                  <a:srgbClr val="1F4E9C"/>
                </a:solidFill>
                <a:latin typeface="Calibri" panose="020F0502020204030204"/>
              </a:rPr>
              <a:t>analyze-and-map-entity</a:t>
            </a:r>
            <a:endParaRPr sz="900" b="1" dirty="0">
              <a:solidFill>
                <a:srgbClr val="1F4E9C"/>
              </a:solidFill>
              <a:latin typeface="Calibri" panose="020F0502020204030204"/>
            </a:endParaRPr>
          </a:p>
        </p:txBody>
      </p:sp>
      <p:sp>
        <p:nvSpPr>
          <p:cNvPr id="21" name="Col1 Content"/>
          <p:cNvSpPr txBox="1"/>
          <p:nvPr/>
        </p:nvSpPr>
        <p:spPr>
          <a:xfrm>
            <a:off x="548640" y="5479280"/>
            <a:ext cx="2500000" cy="1200000"/>
          </a:xfrm>
          <a:prstGeom prst="rect">
            <a:avLst/>
          </a:prstGeom>
          <a:noFill/>
        </p:spPr>
        <p:txBody>
          <a:bodyPr wrap="square">
            <a:spAutoFit/>
          </a:bodyPr>
          <a:lstStyle/>
          <a:p>
            <a:pPr algn="l"/>
            <a:r>
              <a:rPr sz="820" b="0" dirty="0">
                <a:solidFill>
                  <a:srgbClr val="7A8294"/>
                </a:solidFill>
                <a:latin typeface="Calibri" panose="020F0502020204030204"/>
              </a:rPr>
              <a:t>• FK résolues via INFORMATION_SCHEMA PostgreSQL</a:t>
            </a:r>
            <a:endParaRPr sz="820" b="0" dirty="0">
              <a:solidFill>
                <a:srgbClr val="7A8294"/>
              </a:solidFill>
              <a:latin typeface="Calibri" panose="020F0502020204030204"/>
            </a:endParaRPr>
          </a:p>
          <a:p>
            <a:endParaRPr sz="820" dirty="0">
              <a:solidFill>
                <a:srgbClr val="7A8294"/>
              </a:solidFill>
              <a:latin typeface="Calibri" panose="020F0502020204030204"/>
            </a:endParaRPr>
          </a:p>
          <a:p>
            <a:pPr algn="l"/>
            <a:r>
              <a:rPr sz="820" b="0" dirty="0">
                <a:solidFill>
                  <a:srgbClr val="7A8294"/>
                </a:solidFill>
                <a:latin typeface="Calibri" panose="020F0502020204030204"/>
              </a:rPr>
              <a:t>• Résolution interactive pour les cas ambigus</a:t>
            </a:r>
            <a:endParaRPr sz="820" b="0" dirty="0">
              <a:solidFill>
                <a:srgbClr val="7A8294"/>
              </a:solidFill>
              <a:latin typeface="Calibri" panose="020F0502020204030204"/>
            </a:endParaRPr>
          </a:p>
        </p:txBody>
      </p:sp>
      <p:sp>
        <p:nvSpPr>
          <p:cNvPr id="22" name="Col2 Header"/>
          <p:cNvSpPr txBox="1"/>
          <p:nvPr/>
        </p:nvSpPr>
        <p:spPr>
          <a:xfrm>
            <a:off x="3200000" y="5129280"/>
            <a:ext cx="2500000" cy="320000"/>
          </a:xfrm>
          <a:prstGeom prst="rect">
            <a:avLst/>
          </a:prstGeom>
          <a:noFill/>
        </p:spPr>
        <p:txBody>
          <a:bodyPr wrap="square">
            <a:spAutoFit/>
          </a:bodyPr>
          <a:lstStyle/>
          <a:p>
            <a:pPr algn="l"/>
            <a:r>
              <a:rPr sz="900" b="1" dirty="0">
                <a:solidFill>
                  <a:srgbClr val="1F4E9C"/>
                </a:solidFill>
                <a:latin typeface="Calibri" panose="020F0502020204030204"/>
              </a:rPr>
              <a:t>generate-pipeline</a:t>
            </a:r>
            <a:endParaRPr sz="900" b="1" dirty="0">
              <a:solidFill>
                <a:srgbClr val="1F4E9C"/>
              </a:solidFill>
              <a:latin typeface="Calibri" panose="020F0502020204030204"/>
            </a:endParaRPr>
          </a:p>
        </p:txBody>
      </p:sp>
      <p:sp>
        <p:nvSpPr>
          <p:cNvPr id="23" name="Col2 Content"/>
          <p:cNvSpPr txBox="1"/>
          <p:nvPr/>
        </p:nvSpPr>
        <p:spPr>
          <a:xfrm>
            <a:off x="3200000" y="5479280"/>
            <a:ext cx="2500000" cy="1200000"/>
          </a:xfrm>
          <a:prstGeom prst="rect">
            <a:avLst/>
          </a:prstGeom>
          <a:noFill/>
        </p:spPr>
        <p:txBody>
          <a:bodyPr wrap="square">
            <a:spAutoFit/>
          </a:bodyPr>
          <a:lstStyle/>
          <a:p>
            <a:pPr algn="l"/>
            <a:r>
              <a:rPr sz="820" b="0" dirty="0">
                <a:solidFill>
                  <a:srgbClr val="7A8294"/>
                </a:solidFill>
                <a:latin typeface="Calibri" panose="020F0502020204030204"/>
              </a:rPr>
              <a:t>• 3 pipelines de référence injectés comme contexte XML</a:t>
            </a:r>
            <a:endParaRPr sz="820" b="0" dirty="0">
              <a:solidFill>
                <a:srgbClr val="7A8294"/>
              </a:solidFill>
              <a:latin typeface="Calibri" panose="020F0502020204030204"/>
            </a:endParaRPr>
          </a:p>
          <a:p>
            <a:endParaRPr sz="820" dirty="0">
              <a:solidFill>
                <a:srgbClr val="7A8294"/>
              </a:solidFill>
              <a:latin typeface="Calibri" panose="020F0502020204030204"/>
            </a:endParaRPr>
          </a:p>
          <a:p>
            <a:pPr algn="l"/>
            <a:r>
              <a:rPr sz="820" b="0" dirty="0">
                <a:solidFill>
                  <a:srgbClr val="7A8294"/>
                </a:solidFill>
                <a:latin typeface="Calibri" panose="020F0502020204030204"/>
              </a:rPr>
              <a:t>• Conventions XML Hop strictes appliquées</a:t>
            </a:r>
            <a:endParaRPr sz="820" b="0" dirty="0">
              <a:solidFill>
                <a:srgbClr val="7A8294"/>
              </a:solidFill>
              <a:latin typeface="Calibri" panose="020F0502020204030204"/>
            </a:endParaRPr>
          </a:p>
        </p:txBody>
      </p:sp>
      <p:sp>
        <p:nvSpPr>
          <p:cNvPr id="24" name="Col3 Header"/>
          <p:cNvSpPr txBox="1"/>
          <p:nvPr/>
        </p:nvSpPr>
        <p:spPr>
          <a:xfrm>
            <a:off x="5850000" y="5129280"/>
            <a:ext cx="2500000" cy="320000"/>
          </a:xfrm>
          <a:prstGeom prst="rect">
            <a:avLst/>
          </a:prstGeom>
          <a:noFill/>
        </p:spPr>
        <p:txBody>
          <a:bodyPr wrap="square">
            <a:spAutoFit/>
          </a:bodyPr>
          <a:lstStyle/>
          <a:p>
            <a:pPr algn="l"/>
            <a:r>
              <a:rPr sz="900" b="1" dirty="0">
                <a:solidFill>
                  <a:srgbClr val="1F4E9C"/>
                </a:solidFill>
                <a:latin typeface="Calibri" panose="020F0502020204030204"/>
              </a:rPr>
              <a:t>generate-workflow</a:t>
            </a:r>
            <a:endParaRPr sz="900" b="1" dirty="0">
              <a:solidFill>
                <a:srgbClr val="1F4E9C"/>
              </a:solidFill>
              <a:latin typeface="Calibri" panose="020F0502020204030204"/>
            </a:endParaRPr>
          </a:p>
        </p:txBody>
      </p:sp>
      <p:sp>
        <p:nvSpPr>
          <p:cNvPr id="25" name="Col3 Content"/>
          <p:cNvSpPr txBox="1"/>
          <p:nvPr/>
        </p:nvSpPr>
        <p:spPr>
          <a:xfrm>
            <a:off x="5850000" y="5479280"/>
            <a:ext cx="2500000" cy="1200000"/>
          </a:xfrm>
          <a:prstGeom prst="rect">
            <a:avLst/>
          </a:prstGeom>
          <a:noFill/>
        </p:spPr>
        <p:txBody>
          <a:bodyPr wrap="square">
            <a:spAutoFit/>
          </a:bodyPr>
          <a:lstStyle/>
          <a:p>
            <a:pPr algn="l"/>
            <a:r>
              <a:rPr sz="820" b="0" dirty="0">
                <a:solidFill>
                  <a:srgbClr val="7A8294"/>
                </a:solidFill>
                <a:latin typeface="Calibri" panose="020F0502020204030204"/>
              </a:rPr>
              <a:t>• Preflight checks : CSV + connexion BD</a:t>
            </a:r>
            <a:endParaRPr sz="820" b="0" dirty="0">
              <a:solidFill>
                <a:srgbClr val="7A8294"/>
              </a:solidFill>
              <a:latin typeface="Calibri" panose="020F0502020204030204"/>
            </a:endParaRPr>
          </a:p>
          <a:p>
            <a:endParaRPr sz="820" dirty="0">
              <a:solidFill>
                <a:srgbClr val="7A8294"/>
              </a:solidFill>
              <a:latin typeface="Calibri" panose="020F0502020204030204"/>
            </a:endParaRPr>
          </a:p>
          <a:p>
            <a:pPr algn="l"/>
            <a:r>
              <a:rPr sz="820" b="0" dirty="0">
                <a:solidFill>
                  <a:srgbClr val="7A8294"/>
                </a:solidFill>
                <a:latin typeface="Calibri" panose="020F0502020204030204"/>
              </a:rPr>
              <a:t>• Ordre topologique des entités via le manifeste</a:t>
            </a:r>
            <a:endParaRPr sz="820" b="0" dirty="0">
              <a:solidFill>
                <a:srgbClr val="7A8294"/>
              </a:solidFill>
              <a:latin typeface="Calibri" panose="020F0502020204030204"/>
            </a:endParaRPr>
          </a:p>
        </p:txBody>
      </p:sp>
      <p:pic>
        <p:nvPicPr>
          <p:cNvPr id="26" name="Picture 25" descr="Screenshot 2026-07-03 105304"/>
          <p:cNvPicPr>
            <a:picLocks noChangeAspect="1"/>
          </p:cNvPicPr>
          <p:nvPr/>
        </p:nvPicPr>
        <p:blipFill>
          <a:blip r:embed="rId3"/>
          <a:stretch>
            <a:fillRect/>
          </a:stretch>
        </p:blipFill>
        <p:spPr>
          <a:xfrm>
            <a:off x="3199765" y="1971040"/>
            <a:ext cx="3523615" cy="1765935"/>
          </a:xfrm>
          <a:prstGeom prst="rect">
            <a:avLst/>
          </a:prstGeom>
        </p:spPr>
      </p:pic>
      <p:sp>
        <p:nvSpPr>
          <p:cNvPr id="27" name="Text Box 26"/>
          <p:cNvSpPr txBox="1"/>
          <p:nvPr/>
        </p:nvSpPr>
        <p:spPr>
          <a:xfrm>
            <a:off x="2005330" y="1697355"/>
            <a:ext cx="6239510" cy="273685"/>
          </a:xfrm>
          <a:prstGeom prst="rect">
            <a:avLst/>
          </a:prstGeom>
          <a:noFill/>
        </p:spPr>
        <p:txBody>
          <a:bodyPr wrap="square" rtlCol="0" anchor="t">
            <a:noAutofit/>
          </a:bodyPr>
          <a:p>
            <a:pPr algn="ctr"/>
            <a:r>
              <a:rPr lang="fr-FR" sz="900" b="1">
                <a:solidFill>
                  <a:srgbClr val="12203F"/>
                </a:solidFill>
                <a:latin typeface="Calibri" panose="020F0502020204030204"/>
                <a:sym typeface="+mn-ea"/>
              </a:rPr>
              <a:t>manifest.json</a:t>
            </a:r>
            <a:endParaRPr lang="fr-FR" sz="900" b="1">
              <a:solidFill>
                <a:srgbClr val="12203F"/>
              </a:solidFill>
              <a:latin typeface="Calibri" panose="020F0502020204030204"/>
              <a:sym typeface="+mn-ea"/>
            </a:endParaRPr>
          </a:p>
        </p:txBody>
      </p:sp>
      <p:sp>
        <p:nvSpPr>
          <p:cNvPr id="28" name="Text Box 27"/>
          <p:cNvSpPr txBox="1"/>
          <p:nvPr/>
        </p:nvSpPr>
        <p:spPr>
          <a:xfrm>
            <a:off x="8591550" y="1863725"/>
            <a:ext cx="372745" cy="368300"/>
          </a:xfrm>
          <a:prstGeom prst="rect">
            <a:avLst/>
          </a:prstGeom>
          <a:noFill/>
        </p:spPr>
        <p:txBody>
          <a:bodyPr wrap="square" rtlCol="0">
            <a:spAutoFit/>
          </a:bodyPr>
          <a:p>
            <a:r>
              <a:rPr b="1">
                <a:solidFill>
                  <a:srgbClr val="1F4E9C"/>
                </a:solidFill>
                <a:latin typeface="Calibri" panose="020F0502020204030204"/>
                <a:sym typeface="+mn-ea"/>
              </a:rPr>
              <a:t>&gt;</a:t>
            </a:r>
            <a:endParaRPr lang="en-US"/>
          </a:p>
        </p:txBody>
      </p:sp>
      <p:sp>
        <p:nvSpPr>
          <p:cNvPr id="29" name="Text Box 28"/>
          <p:cNvSpPr txBox="1"/>
          <p:nvPr/>
        </p:nvSpPr>
        <p:spPr>
          <a:xfrm>
            <a:off x="8544560" y="3765550"/>
            <a:ext cx="372745" cy="368300"/>
          </a:xfrm>
          <a:prstGeom prst="rect">
            <a:avLst/>
          </a:prstGeom>
          <a:noFill/>
        </p:spPr>
        <p:txBody>
          <a:bodyPr wrap="square" rtlCol="0">
            <a:spAutoFit/>
          </a:bodyPr>
          <a:p>
            <a:r>
              <a:rPr b="1">
                <a:solidFill>
                  <a:srgbClr val="1F4E9C"/>
                </a:solidFill>
                <a:latin typeface="Calibri" panose="020F0502020204030204"/>
                <a:sym typeface="+mn-ea"/>
              </a:rPr>
              <a:t>&gt;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58368" y="566928"/>
            <a:ext cx="10058400" cy="274320"/>
          </a:xfrm>
          <a:prstGeom prst="rect">
            <a:avLst/>
          </a:prstGeom>
          <a:noFill/>
        </p:spPr>
        <p:txBody>
          <a:bodyPr wrap="square">
            <a:spAutoFit/>
          </a:bodyPr>
          <a:lstStyle/>
          <a:p>
            <a:pPr algn="l"/>
            <a:r>
              <a:rPr sz="1100" b="1" i="0">
                <a:solidFill>
                  <a:srgbClr val="1F4E9C"/>
                </a:solidFill>
                <a:latin typeface="Calibri" panose="020F0502020204030204"/>
              </a:rPr>
              <a:t>05  RÉALISATION</a:t>
            </a:r>
            <a:endParaRPr sz="1100" b="1" i="0">
              <a:solidFill>
                <a:srgbClr val="1F4E9C"/>
              </a:solidFill>
              <a:latin typeface="Calibri" panose="020F0502020204030204"/>
            </a:endParaRPr>
          </a:p>
        </p:txBody>
      </p:sp>
      <p:sp>
        <p:nvSpPr>
          <p:cNvPr id="3" name="TextBox 2"/>
          <p:cNvSpPr txBox="1"/>
          <p:nvPr/>
        </p:nvSpPr>
        <p:spPr>
          <a:xfrm>
            <a:off x="640080" y="868680"/>
            <a:ext cx="10881360" cy="685800"/>
          </a:xfrm>
          <a:prstGeom prst="rect">
            <a:avLst/>
          </a:prstGeom>
          <a:noFill/>
        </p:spPr>
        <p:txBody>
          <a:bodyPr wrap="square">
            <a:spAutoFit/>
          </a:bodyPr>
          <a:lstStyle/>
          <a:p>
            <a:pPr algn="l"/>
            <a:r>
              <a:rPr sz="3000" b="1" i="0">
                <a:solidFill>
                  <a:srgbClr val="12203F"/>
                </a:solidFill>
                <a:latin typeface="Calibri" panose="020F0502020204030204"/>
              </a:rPr>
              <a:t>Axelor Import Studio — Interface</a:t>
            </a:r>
            <a:endParaRPr sz="3000" b="1" i="0">
              <a:solidFill>
                <a:srgbClr val="12203F"/>
              </a:solidFill>
              <a:latin typeface="Calibri" panose="020F0502020204030204"/>
            </a:endParaRPr>
          </a:p>
        </p:txBody>
      </p:sp>
      <p:pic>
        <p:nvPicPr>
          <p:cNvPr id="4" name="Picture 3" descr="image.png"/>
          <p:cNvPicPr>
            <a:picLocks noChangeAspect="1"/>
          </p:cNvPicPr>
          <p:nvPr/>
        </p:nvPicPr>
        <p:blipFill>
          <a:blip r:embed="rId1"/>
          <a:stretch>
            <a:fillRect/>
          </a:stretch>
        </p:blipFill>
        <p:spPr>
          <a:xfrm>
            <a:off x="640080" y="6327648"/>
            <a:ext cx="415260" cy="237744"/>
          </a:xfrm>
          <a:prstGeom prst="rect">
            <a:avLst/>
          </a:prstGeom>
        </p:spPr>
      </p:pic>
      <p:sp>
        <p:nvSpPr>
          <p:cNvPr id="5" name="TextBox 4"/>
          <p:cNvSpPr txBox="1"/>
          <p:nvPr/>
        </p:nvSpPr>
        <p:spPr>
          <a:xfrm>
            <a:off x="1188720" y="6309360"/>
            <a:ext cx="7315200" cy="274320"/>
          </a:xfrm>
          <a:prstGeom prst="rect">
            <a:avLst/>
          </a:prstGeom>
          <a:noFill/>
        </p:spPr>
        <p:txBody>
          <a:bodyPr wrap="square">
            <a:spAutoFit/>
          </a:bodyPr>
          <a:lstStyle/>
          <a:p>
            <a:pPr algn="l"/>
            <a:r>
              <a:rPr sz="900" b="0" i="0">
                <a:solidFill>
                  <a:srgbClr val="7A8294"/>
                </a:solidFill>
                <a:latin typeface="Calibri" panose="020F0502020204030204"/>
              </a:rPr>
              <a:t>Projet de Fin d'Études : Génie Informatique</a:t>
            </a:r>
            <a:endParaRPr sz="900" b="0" i="0">
              <a:solidFill>
                <a:srgbClr val="7A8294"/>
              </a:solidFill>
              <a:latin typeface="Calibri" panose="020F0502020204030204"/>
            </a:endParaRPr>
          </a:p>
        </p:txBody>
      </p:sp>
      <p:sp>
        <p:nvSpPr>
          <p:cNvPr id="6" name="TextBox 5"/>
          <p:cNvSpPr txBox="1"/>
          <p:nvPr/>
        </p:nvSpPr>
        <p:spPr>
          <a:xfrm>
            <a:off x="10360152" y="6309360"/>
            <a:ext cx="1188720" cy="274320"/>
          </a:xfrm>
          <a:prstGeom prst="rect">
            <a:avLst/>
          </a:prstGeom>
          <a:noFill/>
        </p:spPr>
        <p:txBody>
          <a:bodyPr wrap="none">
            <a:spAutoFit/>
          </a:bodyPr>
          <a:lstStyle/>
          <a:p>
            <a:pPr algn="r"/>
            <a:r>
              <a:rPr sz="1000" b="1">
                <a:solidFill>
                  <a:srgbClr val="1F4E9C"/>
                </a:solidFill>
                <a:latin typeface="Calibri" panose="020F0502020204030204"/>
              </a:rPr>
              <a:t>17</a:t>
            </a:r>
            <a:r>
              <a:rPr sz="1000" b="0">
                <a:solidFill>
                  <a:srgbClr val="7A8294"/>
                </a:solidFill>
                <a:latin typeface="Calibri" panose="020F0502020204030204"/>
              </a:rPr>
              <a:t> / 21</a:t>
            </a:r>
            <a:endParaRPr sz="1000" b="0">
              <a:solidFill>
                <a:srgbClr val="7A8294"/>
              </a:solidFill>
              <a:latin typeface="Calibri" panose="020F0502020204030204"/>
            </a:endParaRPr>
          </a:p>
        </p:txBody>
      </p:sp>
      <p:pic>
        <p:nvPicPr>
          <p:cNvPr id="8" name="Picture 7" descr="image.png"/>
          <p:cNvPicPr>
            <a:picLocks noChangeAspect="1"/>
          </p:cNvPicPr>
          <p:nvPr/>
        </p:nvPicPr>
        <p:blipFill>
          <a:blip r:embed="rId2"/>
          <a:stretch>
            <a:fillRect/>
          </a:stretch>
        </p:blipFill>
        <p:spPr>
          <a:xfrm>
            <a:off x="9832848" y="2286000"/>
            <a:ext cx="2173224" cy="5669280"/>
          </a:xfrm>
          <a:prstGeom prst="rect">
            <a:avLst/>
          </a:prstGeom>
        </p:spPr>
      </p:pic>
      <p:pic>
        <p:nvPicPr>
          <p:cNvPr id="9" name="Screenshot Landing Page"/>
          <p:cNvPicPr>
            <a:picLocks noChangeAspect="1"/>
          </p:cNvPicPr>
          <p:nvPr/>
        </p:nvPicPr>
        <p:blipFill>
          <a:blip r:embed="rId3"/>
          <a:srcRect t="5283"/>
          <a:stretch>
            <a:fillRect/>
          </a:stretch>
        </p:blipFill>
        <p:spPr>
          <a:xfrm>
            <a:off x="93345" y="1793875"/>
            <a:ext cx="5754370" cy="3289935"/>
          </a:xfrm>
          <a:prstGeom prst="rect">
            <a:avLst/>
          </a:prstGeom>
        </p:spPr>
      </p:pic>
      <p:pic>
        <p:nvPicPr>
          <p:cNvPr id="10" name="Screenshot Manifest Review"/>
          <p:cNvPicPr>
            <a:picLocks noChangeAspect="1"/>
          </p:cNvPicPr>
          <p:nvPr/>
        </p:nvPicPr>
        <p:blipFill>
          <a:blip r:embed="rId4"/>
          <a:srcRect t="4889"/>
          <a:stretch>
            <a:fillRect/>
          </a:stretch>
        </p:blipFill>
        <p:spPr>
          <a:xfrm>
            <a:off x="6193790" y="1700530"/>
            <a:ext cx="5895975" cy="3384550"/>
          </a:xfrm>
          <a:prstGeom prst="rect">
            <a:avLst/>
          </a:prstGeom>
        </p:spPr>
      </p:pic>
      <p:sp>
        <p:nvSpPr>
          <p:cNvPr id="11" name="Caption Left"/>
          <p:cNvSpPr txBox="1"/>
          <p:nvPr/>
        </p:nvSpPr>
        <p:spPr>
          <a:xfrm>
            <a:off x="548640" y="5546305"/>
            <a:ext cx="4440000" cy="600000"/>
          </a:xfrm>
          <a:prstGeom prst="rect">
            <a:avLst/>
          </a:prstGeom>
          <a:noFill/>
        </p:spPr>
        <p:txBody>
          <a:bodyPr wrap="square">
            <a:spAutoFit/>
          </a:bodyPr>
          <a:lstStyle/>
          <a:p>
            <a:pPr algn="ctr"/>
            <a:r>
              <a:rPr sz="900" b="1" dirty="0">
                <a:solidFill>
                  <a:srgbClr val="1F4E9C"/>
                </a:solidFill>
                <a:latin typeface="Calibri" panose="020F0502020204030204"/>
              </a:rPr>
              <a:t>Étape 1 — Sélection &amp; configuration</a:t>
            </a:r>
            <a:endParaRPr sz="900" b="1" dirty="0">
              <a:solidFill>
                <a:srgbClr val="1F4E9C"/>
              </a:solidFill>
              <a:latin typeface="Calibri" panose="020F0502020204030204"/>
            </a:endParaRPr>
          </a:p>
          <a:p>
            <a:pPr algn="ctr"/>
            <a:r>
              <a:rPr sz="820" b="0" dirty="0">
                <a:solidFill>
                  <a:srgbClr val="7A8294"/>
                </a:solidFill>
                <a:latin typeface="Calibri" panose="020F0502020204030204"/>
              </a:rPr>
              <a:t>Choix de l'entité Axelor et credentials PostgreSQL</a:t>
            </a:r>
            <a:endParaRPr sz="820" b="0" dirty="0">
              <a:solidFill>
                <a:srgbClr val="7A8294"/>
              </a:solidFill>
              <a:latin typeface="Calibri" panose="020F0502020204030204"/>
            </a:endParaRPr>
          </a:p>
        </p:txBody>
      </p:sp>
      <p:sp>
        <p:nvSpPr>
          <p:cNvPr id="12" name="Caption Right"/>
          <p:cNvSpPr txBox="1"/>
          <p:nvPr/>
        </p:nvSpPr>
        <p:spPr>
          <a:xfrm>
            <a:off x="6922165" y="5546305"/>
            <a:ext cx="4440000" cy="600000"/>
          </a:xfrm>
          <a:prstGeom prst="rect">
            <a:avLst/>
          </a:prstGeom>
          <a:noFill/>
        </p:spPr>
        <p:txBody>
          <a:bodyPr wrap="square">
            <a:spAutoFit/>
          </a:bodyPr>
          <a:lstStyle/>
          <a:p>
            <a:pPr algn="ctr"/>
            <a:r>
              <a:rPr sz="900" b="1" dirty="0">
                <a:solidFill>
                  <a:srgbClr val="1F4E9C"/>
                </a:solidFill>
                <a:latin typeface="Calibri" panose="020F0502020204030204"/>
              </a:rPr>
              <a:t>Étape 2 — Revue du manifeste</a:t>
            </a:r>
            <a:endParaRPr sz="900" b="1" dirty="0">
              <a:solidFill>
                <a:srgbClr val="1F4E9C"/>
              </a:solidFill>
              <a:latin typeface="Calibri" panose="020F0502020204030204"/>
            </a:endParaRPr>
          </a:p>
          <a:p>
            <a:pPr algn="ctr"/>
            <a:r>
              <a:rPr sz="820" b="0" dirty="0">
                <a:solidFill>
                  <a:srgbClr val="7A8294"/>
                </a:solidFill>
                <a:latin typeface="Calibri" panose="020F0502020204030204"/>
              </a:rPr>
              <a:t>Mappings colonnes + résolution interactive des clés étrangères</a:t>
            </a:r>
            <a:endParaRPr sz="820" b="0" dirty="0">
              <a:solidFill>
                <a:srgbClr val="7A8294"/>
              </a:solidFill>
              <a:latin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58368" y="566928"/>
            <a:ext cx="10058400" cy="274320"/>
          </a:xfrm>
          <a:prstGeom prst="rect">
            <a:avLst/>
          </a:prstGeom>
          <a:noFill/>
        </p:spPr>
        <p:txBody>
          <a:bodyPr wrap="square">
            <a:spAutoFit/>
          </a:bodyPr>
          <a:lstStyle/>
          <a:p>
            <a:pPr algn="l"/>
            <a:r>
              <a:rPr sz="1100" b="1" i="0">
                <a:solidFill>
                  <a:srgbClr val="1F4E9C"/>
                </a:solidFill>
                <a:latin typeface="Calibri" panose="020F0502020204030204"/>
              </a:rPr>
              <a:t>06  CONCLUSION</a:t>
            </a:r>
            <a:endParaRPr sz="1100" b="1" i="0">
              <a:solidFill>
                <a:srgbClr val="1F4E9C"/>
              </a:solidFill>
              <a:latin typeface="Calibri" panose="020F0502020204030204"/>
            </a:endParaRPr>
          </a:p>
        </p:txBody>
      </p:sp>
      <p:sp>
        <p:nvSpPr>
          <p:cNvPr id="3" name="TextBox 2"/>
          <p:cNvSpPr txBox="1"/>
          <p:nvPr/>
        </p:nvSpPr>
        <p:spPr>
          <a:xfrm>
            <a:off x="640080" y="868680"/>
            <a:ext cx="10881360" cy="685800"/>
          </a:xfrm>
          <a:prstGeom prst="rect">
            <a:avLst/>
          </a:prstGeom>
          <a:noFill/>
        </p:spPr>
        <p:txBody>
          <a:bodyPr wrap="square">
            <a:spAutoFit/>
          </a:bodyPr>
          <a:lstStyle/>
          <a:p>
            <a:pPr algn="l"/>
            <a:r>
              <a:rPr sz="3000" b="1" i="0">
                <a:solidFill>
                  <a:srgbClr val="12203F"/>
                </a:solidFill>
                <a:latin typeface="Calibri" panose="020F0502020204030204"/>
              </a:rPr>
              <a:t>Résultats &amp; Validation</a:t>
            </a:r>
            <a:endParaRPr sz="3000" b="1" i="0">
              <a:solidFill>
                <a:srgbClr val="12203F"/>
              </a:solidFill>
              <a:latin typeface="Calibri" panose="020F0502020204030204"/>
            </a:endParaRPr>
          </a:p>
        </p:txBody>
      </p:sp>
      <p:pic>
        <p:nvPicPr>
          <p:cNvPr id="4" name="Picture 3" descr="image.png"/>
          <p:cNvPicPr>
            <a:picLocks noChangeAspect="1"/>
          </p:cNvPicPr>
          <p:nvPr/>
        </p:nvPicPr>
        <p:blipFill>
          <a:blip r:embed="rId1"/>
          <a:stretch>
            <a:fillRect/>
          </a:stretch>
        </p:blipFill>
        <p:spPr>
          <a:xfrm>
            <a:off x="9832848" y="2286000"/>
            <a:ext cx="2173224" cy="5669280"/>
          </a:xfrm>
          <a:prstGeom prst="rect">
            <a:avLst/>
          </a:prstGeom>
        </p:spPr>
      </p:pic>
      <p:pic>
        <p:nvPicPr>
          <p:cNvPr id="5" name="Picture 4" descr="image.png"/>
          <p:cNvPicPr>
            <a:picLocks noChangeAspect="1"/>
          </p:cNvPicPr>
          <p:nvPr/>
        </p:nvPicPr>
        <p:blipFill>
          <a:blip r:embed="rId2"/>
          <a:stretch>
            <a:fillRect/>
          </a:stretch>
        </p:blipFill>
        <p:spPr>
          <a:xfrm>
            <a:off x="640080" y="6327648"/>
            <a:ext cx="415260" cy="237744"/>
          </a:xfrm>
          <a:prstGeom prst="rect">
            <a:avLst/>
          </a:prstGeom>
        </p:spPr>
      </p:pic>
      <p:sp>
        <p:nvSpPr>
          <p:cNvPr id="6" name="TextBox 5"/>
          <p:cNvSpPr txBox="1"/>
          <p:nvPr/>
        </p:nvSpPr>
        <p:spPr>
          <a:xfrm>
            <a:off x="1188720" y="6309360"/>
            <a:ext cx="7315200" cy="274320"/>
          </a:xfrm>
          <a:prstGeom prst="rect">
            <a:avLst/>
          </a:prstGeom>
          <a:noFill/>
        </p:spPr>
        <p:txBody>
          <a:bodyPr wrap="square">
            <a:spAutoFit/>
          </a:bodyPr>
          <a:lstStyle/>
          <a:p>
            <a:pPr algn="l"/>
            <a:r>
              <a:rPr sz="900" b="0" i="0">
                <a:solidFill>
                  <a:srgbClr val="7A8294"/>
                </a:solidFill>
                <a:latin typeface="Calibri" panose="020F0502020204030204"/>
              </a:rPr>
              <a:t>Projet de Fin d'Études : Génie Informatique</a:t>
            </a:r>
            <a:endParaRPr sz="900" b="0" i="0">
              <a:solidFill>
                <a:srgbClr val="7A8294"/>
              </a:solidFill>
              <a:latin typeface="Calibri" panose="020F0502020204030204"/>
            </a:endParaRPr>
          </a:p>
        </p:txBody>
      </p:sp>
      <p:sp>
        <p:nvSpPr>
          <p:cNvPr id="7" name="TextBox 6"/>
          <p:cNvSpPr txBox="1"/>
          <p:nvPr/>
        </p:nvSpPr>
        <p:spPr>
          <a:xfrm>
            <a:off x="10360152" y="6309360"/>
            <a:ext cx="1188720" cy="274320"/>
          </a:xfrm>
          <a:prstGeom prst="rect">
            <a:avLst/>
          </a:prstGeom>
          <a:noFill/>
        </p:spPr>
        <p:txBody>
          <a:bodyPr wrap="none">
            <a:spAutoFit/>
          </a:bodyPr>
          <a:lstStyle/>
          <a:p>
            <a:pPr algn="r"/>
            <a:r>
              <a:rPr sz="1000" b="1">
                <a:solidFill>
                  <a:srgbClr val="1F4E9C"/>
                </a:solidFill>
                <a:latin typeface="Calibri" panose="020F0502020204030204"/>
              </a:rPr>
              <a:t>18</a:t>
            </a:r>
            <a:r>
              <a:rPr sz="1000" b="0">
                <a:solidFill>
                  <a:srgbClr val="7A8294"/>
                </a:solidFill>
                <a:latin typeface="Calibri" panose="020F0502020204030204"/>
              </a:rPr>
              <a:t> / 21</a:t>
            </a:r>
            <a:endParaRPr sz="1000" b="0">
              <a:solidFill>
                <a:srgbClr val="7A8294"/>
              </a:solidFill>
              <a:latin typeface="Calibri" panose="020F0502020204030204"/>
            </a:endParaRPr>
          </a:p>
        </p:txBody>
      </p:sp>
      <p:graphicFrame>
        <p:nvGraphicFramePr>
          <p:cNvPr id="8" name="Table 7"/>
          <p:cNvGraphicFramePr>
            <a:graphicFrameLocks noGrp="1"/>
          </p:cNvGraphicFramePr>
          <p:nvPr/>
        </p:nvGraphicFramePr>
        <p:xfrm>
          <a:off x="548640" y="1760000"/>
          <a:ext cx="8900000" cy="2559996"/>
        </p:xfrm>
        <a:graphic>
          <a:graphicData uri="http://schemas.openxmlformats.org/drawingml/2006/table">
            <a:tbl>
              <a:tblPr firstRow="1" bandRow="1">
                <a:tableStyleId>{5C22544A-7EE6-4342-B048-85BDC9FD1C3A}</a:tableStyleId>
              </a:tblPr>
              <a:tblGrid>
                <a:gridCol w="2800000"/>
                <a:gridCol w="1700000"/>
                <a:gridCol w="1700000"/>
                <a:gridCol w="2700000"/>
              </a:tblGrid>
              <a:tr h="426666">
                <a:tc>
                  <a:txBody>
                    <a:bodyPr wrap="square"/>
                    <a:lstStyle/>
                    <a:p>
                      <a:pPr algn="ctr"/>
                      <a:r>
                        <a:rPr sz="900" b="1">
                          <a:solidFill>
                            <a:srgbClr val="12203F"/>
                          </a:solidFill>
                          <a:latin typeface="Calibri" panose="020F0502020204030204"/>
                        </a:rPr>
                        <a:t>Entité</a:t>
                      </a:r>
                      <a:endParaRPr sz="900" b="1">
                        <a:solidFill>
                          <a:srgbClr val="12203F"/>
                        </a:solidFill>
                        <a:latin typeface="Calibri" panose="020F0502020204030204"/>
                      </a:endParaRPr>
                    </a:p>
                  </a:txBody>
                  <a:tcPr>
                    <a:solidFill>
                      <a:srgbClr val="D6E4F0"/>
                    </a:solidFill>
                  </a:tcPr>
                </a:tc>
                <a:tc>
                  <a:txBody>
                    <a:bodyPr wrap="square"/>
                    <a:lstStyle/>
                    <a:p>
                      <a:pPr algn="ctr"/>
                      <a:r>
                        <a:rPr sz="900" b="1">
                          <a:solidFill>
                            <a:srgbClr val="12203F"/>
                          </a:solidFill>
                          <a:latin typeface="Calibri" panose="020F0502020204030204"/>
                        </a:rPr>
                        <a:t>Enregistrements</a:t>
                      </a:r>
                      <a:endParaRPr sz="900" b="1">
                        <a:solidFill>
                          <a:srgbClr val="12203F"/>
                        </a:solidFill>
                        <a:latin typeface="Calibri" panose="020F0502020204030204"/>
                      </a:endParaRPr>
                    </a:p>
                  </a:txBody>
                  <a:tcPr>
                    <a:solidFill>
                      <a:srgbClr val="D6E4F0"/>
                    </a:solidFill>
                  </a:tcPr>
                </a:tc>
                <a:tc>
                  <a:txBody>
                    <a:bodyPr wrap="square"/>
                    <a:lstStyle/>
                    <a:p>
                      <a:pPr algn="ctr"/>
                      <a:r>
                        <a:rPr sz="900" b="1">
                          <a:solidFill>
                            <a:srgbClr val="12203F"/>
                          </a:solidFill>
                          <a:latin typeface="Calibri" panose="020F0502020204030204"/>
                        </a:rPr>
                        <a:t>Importés</a:t>
                      </a:r>
                      <a:endParaRPr sz="900" b="1">
                        <a:solidFill>
                          <a:srgbClr val="12203F"/>
                        </a:solidFill>
                        <a:latin typeface="Calibri" panose="020F0502020204030204"/>
                      </a:endParaRPr>
                    </a:p>
                  </a:txBody>
                  <a:tcPr>
                    <a:solidFill>
                      <a:srgbClr val="D6E4F0"/>
                    </a:solidFill>
                  </a:tcPr>
                </a:tc>
                <a:tc>
                  <a:txBody>
                    <a:bodyPr wrap="square"/>
                    <a:lstStyle/>
                    <a:p>
                      <a:pPr algn="ctr"/>
                      <a:r>
                        <a:rPr sz="900" b="1">
                          <a:solidFill>
                            <a:srgbClr val="12203F"/>
                          </a:solidFill>
                          <a:latin typeface="Calibri" panose="020F0502020204030204"/>
                        </a:rPr>
                        <a:t>Erreurs (volontaires)</a:t>
                      </a:r>
                      <a:endParaRPr sz="900" b="1">
                        <a:solidFill>
                          <a:srgbClr val="12203F"/>
                        </a:solidFill>
                        <a:latin typeface="Calibri" panose="020F0502020204030204"/>
                      </a:endParaRPr>
                    </a:p>
                  </a:txBody>
                  <a:tcPr>
                    <a:solidFill>
                      <a:srgbClr val="D6E4F0"/>
                    </a:solidFill>
                  </a:tcPr>
                </a:tc>
              </a:tr>
              <a:tr h="426666">
                <a:tc>
                  <a:txBody>
                    <a:bodyPr wrap="square"/>
                    <a:lstStyle/>
                    <a:p>
                      <a:pPr algn="l"/>
                      <a:r>
                        <a:rPr sz="900" b="0">
                          <a:solidFill>
                            <a:srgbClr val="12203F"/>
                          </a:solidFill>
                          <a:latin typeface="Calibri" panose="020F0502020204030204"/>
                        </a:rPr>
                        <a:t>Produits</a:t>
                      </a:r>
                      <a:endParaRPr sz="900" b="0">
                        <a:solidFill>
                          <a:srgbClr val="12203F"/>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75</a:t>
                      </a:r>
                      <a:endParaRPr sz="900" b="0">
                        <a:solidFill>
                          <a:srgbClr val="2A3142"/>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72</a:t>
                      </a:r>
                      <a:endParaRPr sz="900" b="0">
                        <a:solidFill>
                          <a:srgbClr val="2A3142"/>
                        </a:solidFill>
                        <a:latin typeface="Calibri" panose="020F0502020204030204"/>
                      </a:endParaRPr>
                    </a:p>
                  </a:txBody>
                  <a:tcPr>
                    <a:solidFill>
                      <a:srgbClr val="F5F5F5"/>
                    </a:solidFill>
                  </a:tcPr>
                </a:tc>
                <a:tc>
                  <a:txBody>
                    <a:bodyPr wrap="square"/>
                    <a:lstStyle/>
                    <a:p>
                      <a:pPr algn="l"/>
                      <a:r>
                        <a:rPr sz="900" b="0">
                          <a:solidFill>
                            <a:srgbClr val="2A3142"/>
                          </a:solidFill>
                          <a:latin typeface="Calibri" panose="020F0502020204030204"/>
                        </a:rPr>
                        <a:t>3 — champ name vide</a:t>
                      </a:r>
                      <a:endParaRPr sz="900" b="0">
                        <a:solidFill>
                          <a:srgbClr val="2A3142"/>
                        </a:solidFill>
                        <a:latin typeface="Calibri" panose="020F0502020204030204"/>
                      </a:endParaRPr>
                    </a:p>
                  </a:txBody>
                  <a:tcPr>
                    <a:solidFill>
                      <a:srgbClr val="F5F5F5"/>
                    </a:solidFill>
                  </a:tcPr>
                </a:tc>
              </a:tr>
              <a:tr h="426666">
                <a:tc>
                  <a:txBody>
                    <a:bodyPr wrap="square"/>
                    <a:lstStyle/>
                    <a:p>
                      <a:pPr algn="l"/>
                      <a:r>
                        <a:rPr sz="900" b="0">
                          <a:solidFill>
                            <a:srgbClr val="12203F"/>
                          </a:solidFill>
                          <a:latin typeface="Calibri" panose="020F0502020204030204"/>
                        </a:rPr>
                        <a:t>Partenaires / Adresses</a:t>
                      </a:r>
                      <a:endParaRPr sz="900" b="0">
                        <a:solidFill>
                          <a:srgbClr val="12203F"/>
                        </a:solidFill>
                        <a:latin typeface="Calibri" panose="020F0502020204030204"/>
                      </a:endParaRPr>
                    </a:p>
                  </a:txBody>
                  <a:tcPr>
                    <a:solidFill>
                      <a:srgbClr val="FFFFFF"/>
                    </a:solidFill>
                  </a:tcPr>
                </a:tc>
                <a:tc>
                  <a:txBody>
                    <a:bodyPr wrap="square"/>
                    <a:lstStyle/>
                    <a:p>
                      <a:pPr algn="ctr"/>
                      <a:r>
                        <a:rPr sz="900" b="0">
                          <a:solidFill>
                            <a:srgbClr val="2A3142"/>
                          </a:solidFill>
                          <a:latin typeface="Calibri" panose="020F0502020204030204"/>
                        </a:rPr>
                        <a:t>68</a:t>
                      </a:r>
                      <a:endParaRPr sz="900" b="0">
                        <a:solidFill>
                          <a:srgbClr val="2A3142"/>
                        </a:solidFill>
                        <a:latin typeface="Calibri" panose="020F0502020204030204"/>
                      </a:endParaRPr>
                    </a:p>
                  </a:txBody>
                  <a:tcPr>
                    <a:solidFill>
                      <a:srgbClr val="FFFFFF"/>
                    </a:solidFill>
                  </a:tcPr>
                </a:tc>
                <a:tc>
                  <a:txBody>
                    <a:bodyPr wrap="square"/>
                    <a:lstStyle/>
                    <a:p>
                      <a:pPr algn="ctr"/>
                      <a:r>
                        <a:rPr sz="900" b="0">
                          <a:solidFill>
                            <a:srgbClr val="2A3142"/>
                          </a:solidFill>
                          <a:latin typeface="Calibri" panose="020F0502020204030204"/>
                        </a:rPr>
                        <a:t>64</a:t>
                      </a:r>
                      <a:endParaRPr sz="900" b="0">
                        <a:solidFill>
                          <a:srgbClr val="2A3142"/>
                        </a:solidFill>
                        <a:latin typeface="Calibri" panose="020F0502020204030204"/>
                      </a:endParaRPr>
                    </a:p>
                  </a:txBody>
                  <a:tcPr>
                    <a:solidFill>
                      <a:srgbClr val="FFFFFF"/>
                    </a:solidFill>
                  </a:tcPr>
                </a:tc>
                <a:tc>
                  <a:txBody>
                    <a:bodyPr wrap="square"/>
                    <a:lstStyle/>
                    <a:p>
                      <a:pPr algn="l"/>
                      <a:r>
                        <a:rPr sz="900" b="0">
                          <a:solidFill>
                            <a:srgbClr val="2A3142"/>
                          </a:solidFill>
                          <a:latin typeface="Calibri" panose="020F0502020204030204"/>
                        </a:rPr>
                        <a:t>4 — parentPartner non résolu</a:t>
                      </a:r>
                      <a:endParaRPr sz="900" b="0">
                        <a:solidFill>
                          <a:srgbClr val="2A3142"/>
                        </a:solidFill>
                        <a:latin typeface="Calibri" panose="020F0502020204030204"/>
                      </a:endParaRPr>
                    </a:p>
                  </a:txBody>
                  <a:tcPr>
                    <a:solidFill>
                      <a:srgbClr val="FFFFFF"/>
                    </a:solidFill>
                  </a:tcPr>
                </a:tc>
              </a:tr>
              <a:tr h="426666">
                <a:tc>
                  <a:txBody>
                    <a:bodyPr wrap="square"/>
                    <a:lstStyle/>
                    <a:p>
                      <a:pPr algn="l"/>
                      <a:r>
                        <a:rPr sz="900" b="0">
                          <a:solidFill>
                            <a:srgbClr val="12203F"/>
                          </a:solidFill>
                          <a:latin typeface="Calibri" panose="020F0502020204030204"/>
                        </a:rPr>
                        <a:t>Commandes de vente</a:t>
                      </a:r>
                      <a:endParaRPr sz="900" b="0">
                        <a:solidFill>
                          <a:srgbClr val="12203F"/>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1 000</a:t>
                      </a:r>
                      <a:endParaRPr sz="900" b="0">
                        <a:solidFill>
                          <a:srgbClr val="2A3142"/>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962</a:t>
                      </a:r>
                      <a:endParaRPr sz="900" b="0">
                        <a:solidFill>
                          <a:srgbClr val="2A3142"/>
                        </a:solidFill>
                        <a:latin typeface="Calibri" panose="020F0502020204030204"/>
                      </a:endParaRPr>
                    </a:p>
                  </a:txBody>
                  <a:tcPr>
                    <a:solidFill>
                      <a:srgbClr val="F5F5F5"/>
                    </a:solidFill>
                  </a:tcPr>
                </a:tc>
                <a:tc>
                  <a:txBody>
                    <a:bodyPr wrap="square"/>
                    <a:lstStyle/>
                    <a:p>
                      <a:pPr algn="l"/>
                      <a:r>
                        <a:rPr sz="900" b="0">
                          <a:solidFill>
                            <a:srgbClr val="2A3142"/>
                          </a:solidFill>
                          <a:latin typeface="Calibri" panose="020F0502020204030204"/>
                        </a:rPr>
                        <a:t>38 — référence manquante</a:t>
                      </a:r>
                      <a:endParaRPr sz="900" b="0">
                        <a:solidFill>
                          <a:srgbClr val="2A3142"/>
                        </a:solidFill>
                        <a:latin typeface="Calibri" panose="020F0502020204030204"/>
                      </a:endParaRPr>
                    </a:p>
                  </a:txBody>
                  <a:tcPr>
                    <a:solidFill>
                      <a:srgbClr val="F5F5F5"/>
                    </a:solidFill>
                  </a:tcPr>
                </a:tc>
              </a:tr>
              <a:tr h="426666">
                <a:tc>
                  <a:txBody>
                    <a:bodyPr wrap="square"/>
                    <a:lstStyle/>
                    <a:p>
                      <a:pPr algn="l"/>
                      <a:r>
                        <a:rPr sz="900" b="0">
                          <a:solidFill>
                            <a:srgbClr val="12203F"/>
                          </a:solidFill>
                          <a:latin typeface="Calibri" panose="020F0502020204030204"/>
                        </a:rPr>
                        <a:t>Factures</a:t>
                      </a:r>
                      <a:endParaRPr sz="900" b="0">
                        <a:solidFill>
                          <a:srgbClr val="12203F"/>
                        </a:solidFill>
                        <a:latin typeface="Calibri" panose="020F0502020204030204"/>
                      </a:endParaRPr>
                    </a:p>
                  </a:txBody>
                  <a:tcPr>
                    <a:solidFill>
                      <a:srgbClr val="FFFFFF"/>
                    </a:solidFill>
                  </a:tcPr>
                </a:tc>
                <a:tc>
                  <a:txBody>
                    <a:bodyPr wrap="square"/>
                    <a:lstStyle/>
                    <a:p>
                      <a:pPr algn="ctr"/>
                      <a:r>
                        <a:rPr sz="900" b="0">
                          <a:solidFill>
                            <a:srgbClr val="2A3142"/>
                          </a:solidFill>
                          <a:latin typeface="Calibri" panose="020F0502020204030204"/>
                        </a:rPr>
                        <a:t>1 000</a:t>
                      </a:r>
                      <a:endParaRPr sz="900" b="0">
                        <a:solidFill>
                          <a:srgbClr val="2A3142"/>
                        </a:solidFill>
                        <a:latin typeface="Calibri" panose="020F0502020204030204"/>
                      </a:endParaRPr>
                    </a:p>
                  </a:txBody>
                  <a:tcPr>
                    <a:solidFill>
                      <a:srgbClr val="FFFFFF"/>
                    </a:solidFill>
                  </a:tcPr>
                </a:tc>
                <a:tc>
                  <a:txBody>
                    <a:bodyPr wrap="square"/>
                    <a:lstStyle/>
                    <a:p>
                      <a:pPr algn="ctr"/>
                      <a:r>
                        <a:rPr sz="900" b="0">
                          <a:solidFill>
                            <a:srgbClr val="2A3142"/>
                          </a:solidFill>
                          <a:latin typeface="Calibri" panose="020F0502020204030204"/>
                        </a:rPr>
                        <a:t>950</a:t>
                      </a:r>
                      <a:endParaRPr sz="900" b="0">
                        <a:solidFill>
                          <a:srgbClr val="2A3142"/>
                        </a:solidFill>
                        <a:latin typeface="Calibri" panose="020F0502020204030204"/>
                      </a:endParaRPr>
                    </a:p>
                  </a:txBody>
                  <a:tcPr>
                    <a:solidFill>
                      <a:srgbClr val="FFFFFF"/>
                    </a:solidFill>
                  </a:tcPr>
                </a:tc>
                <a:tc>
                  <a:txBody>
                    <a:bodyPr wrap="square"/>
                    <a:lstStyle/>
                    <a:p>
                      <a:pPr algn="l"/>
                      <a:r>
                        <a:rPr sz="900" b="0">
                          <a:solidFill>
                            <a:srgbClr val="2A3142"/>
                          </a:solidFill>
                          <a:latin typeface="Calibri" panose="020F0502020204030204"/>
                        </a:rPr>
                        <a:t>50 — statusSelect absent</a:t>
                      </a:r>
                      <a:endParaRPr sz="900" b="0">
                        <a:solidFill>
                          <a:srgbClr val="2A3142"/>
                        </a:solidFill>
                        <a:latin typeface="Calibri" panose="020F0502020204030204"/>
                      </a:endParaRPr>
                    </a:p>
                  </a:txBody>
                  <a:tcPr>
                    <a:solidFill>
                      <a:srgbClr val="FFFFFF"/>
                    </a:solidFill>
                  </a:tcPr>
                </a:tc>
              </a:tr>
              <a:tr h="426666">
                <a:tc>
                  <a:txBody>
                    <a:bodyPr wrap="square"/>
                    <a:lstStyle/>
                    <a:p>
                      <a:pPr algn="l"/>
                      <a:r>
                        <a:rPr sz="900" b="0">
                          <a:solidFill>
                            <a:srgbClr val="12203F"/>
                          </a:solidFill>
                          <a:latin typeface="Calibri" panose="020F0502020204030204"/>
                        </a:rPr>
                        <a:t>Lignes (cmd + fact)</a:t>
                      </a:r>
                      <a:endParaRPr sz="900" b="0">
                        <a:solidFill>
                          <a:srgbClr val="12203F"/>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7 961</a:t>
                      </a:r>
                      <a:endParaRPr sz="900" b="0">
                        <a:solidFill>
                          <a:srgbClr val="2A3142"/>
                        </a:solidFill>
                        <a:latin typeface="Calibri" panose="020F0502020204030204"/>
                      </a:endParaRPr>
                    </a:p>
                  </a:txBody>
                  <a:tcPr>
                    <a:solidFill>
                      <a:srgbClr val="F5F5F5"/>
                    </a:solidFill>
                  </a:tcPr>
                </a:tc>
                <a:tc>
                  <a:txBody>
                    <a:bodyPr wrap="square"/>
                    <a:lstStyle/>
                    <a:p>
                      <a:pPr algn="ctr"/>
                      <a:r>
                        <a:rPr sz="900" b="0">
                          <a:solidFill>
                            <a:srgbClr val="2A3142"/>
                          </a:solidFill>
                          <a:latin typeface="Calibri" panose="020F0502020204030204"/>
                        </a:rPr>
                        <a:t>7 961</a:t>
                      </a:r>
                      <a:endParaRPr sz="900" b="0">
                        <a:solidFill>
                          <a:srgbClr val="2A3142"/>
                        </a:solidFill>
                        <a:latin typeface="Calibri" panose="020F0502020204030204"/>
                      </a:endParaRPr>
                    </a:p>
                  </a:txBody>
                  <a:tcPr>
                    <a:solidFill>
                      <a:srgbClr val="F5F5F5"/>
                    </a:solidFill>
                  </a:tcPr>
                </a:tc>
                <a:tc>
                  <a:txBody>
                    <a:bodyPr wrap="square"/>
                    <a:lstStyle/>
                    <a:p>
                      <a:pPr algn="l"/>
                      <a:r>
                        <a:rPr sz="900" b="0">
                          <a:solidFill>
                            <a:srgbClr val="2A3142"/>
                          </a:solidFill>
                          <a:latin typeface="Calibri" panose="020F0502020204030204"/>
                        </a:rPr>
                        <a:t>200 — cmd/fact parente non existantes</a:t>
                      </a:r>
                      <a:endParaRPr sz="900" b="0">
                        <a:solidFill>
                          <a:srgbClr val="2A3142"/>
                        </a:solidFill>
                        <a:latin typeface="Calibri" panose="020F0502020204030204"/>
                      </a:endParaRPr>
                    </a:p>
                  </a:txBody>
                  <a:tcPr>
                    <a:solidFill>
                      <a:srgbClr val="F5F5F5"/>
                    </a:solidFill>
                  </a:tcPr>
                </a:tc>
              </a:tr>
            </a:tbl>
          </a:graphicData>
        </a:graphic>
      </p:graphicFrame>
      <p:sp>
        <p:nvSpPr>
          <p:cNvPr id="9" name="Pointer 1"/>
          <p:cNvSpPr txBox="1"/>
          <p:nvPr/>
        </p:nvSpPr>
        <p:spPr>
          <a:xfrm>
            <a:off x="548640" y="4430000"/>
            <a:ext cx="2200000" cy="700000"/>
          </a:xfrm>
          <a:prstGeom prst="rect">
            <a:avLst/>
          </a:prstGeom>
          <a:noFill/>
        </p:spPr>
        <p:txBody>
          <a:bodyPr wrap="square">
            <a:spAutoFit/>
          </a:bodyPr>
          <a:lstStyle/>
          <a:p>
            <a:pPr algn="l"/>
            <a:r>
              <a:rPr sz="900" b="1" dirty="0">
                <a:solidFill>
                  <a:srgbClr val="1F4E9C"/>
                </a:solidFill>
                <a:latin typeface="Calibri" panose="020F0502020204030204"/>
              </a:rPr>
              <a:t>Validation — ventilation des factures</a:t>
            </a:r>
            <a:endParaRPr sz="900" b="1" dirty="0">
              <a:solidFill>
                <a:srgbClr val="1F4E9C"/>
              </a:solidFill>
              <a:latin typeface="Calibri" panose="020F0502020204030204"/>
            </a:endParaRPr>
          </a:p>
          <a:p>
            <a:pPr algn="l"/>
            <a:r>
              <a:rPr sz="820" b="0" dirty="0">
                <a:solidFill>
                  <a:srgbClr val="7A8294"/>
                </a:solidFill>
                <a:latin typeface="Calibri" panose="020F0502020204030204"/>
              </a:rPr>
              <a:t>Partenaires, produits, comptes comptables et taxes correctement liés dans chaque facture</a:t>
            </a:r>
            <a:endParaRPr sz="820" b="0" dirty="0">
              <a:solidFill>
                <a:srgbClr val="7A8294"/>
              </a:solidFill>
              <a:latin typeface="Calibri" panose="020F0502020204030204"/>
            </a:endParaRPr>
          </a:p>
        </p:txBody>
      </p:sp>
      <p:sp>
        <p:nvSpPr>
          <p:cNvPr id="10" name="Pointer 2"/>
          <p:cNvSpPr txBox="1"/>
          <p:nvPr/>
        </p:nvSpPr>
        <p:spPr>
          <a:xfrm>
            <a:off x="2848640" y="4430000"/>
            <a:ext cx="2200000" cy="700000"/>
          </a:xfrm>
          <a:prstGeom prst="rect">
            <a:avLst/>
          </a:prstGeom>
          <a:noFill/>
        </p:spPr>
        <p:txBody>
          <a:bodyPr wrap="square">
            <a:spAutoFit/>
          </a:bodyPr>
          <a:lstStyle/>
          <a:p>
            <a:pPr algn="l"/>
            <a:r>
              <a:rPr sz="900" b="1" dirty="0">
                <a:solidFill>
                  <a:srgbClr val="1F4E9C"/>
                </a:solidFill>
                <a:latin typeface="Calibri" panose="020F0502020204030204"/>
              </a:rPr>
              <a:t>Idempotence garantie</a:t>
            </a:r>
            <a:endParaRPr sz="900" b="1" dirty="0">
              <a:solidFill>
                <a:srgbClr val="1F4E9C"/>
              </a:solidFill>
              <a:latin typeface="Calibri" panose="020F0502020204030204"/>
            </a:endParaRPr>
          </a:p>
          <a:p>
            <a:pPr algn="l"/>
            <a:r>
              <a:rPr sz="820" b="0" dirty="0">
                <a:solidFill>
                  <a:srgbClr val="7A8294"/>
                </a:solidFill>
                <a:latin typeface="Calibri" panose="020F0502020204030204"/>
              </a:rPr>
              <a:t>0 doublon sur ré-exécution complète du workflow</a:t>
            </a:r>
            <a:endParaRPr sz="820" b="0" dirty="0">
              <a:solidFill>
                <a:srgbClr val="7A8294"/>
              </a:solidFill>
              <a:latin typeface="Calibri" panose="020F0502020204030204"/>
            </a:endParaRPr>
          </a:p>
        </p:txBody>
      </p:sp>
      <p:sp>
        <p:nvSpPr>
          <p:cNvPr id="11" name="Pointer 3"/>
          <p:cNvSpPr txBox="1"/>
          <p:nvPr/>
        </p:nvSpPr>
        <p:spPr>
          <a:xfrm>
            <a:off x="5148640" y="4430000"/>
            <a:ext cx="2200000" cy="700000"/>
          </a:xfrm>
          <a:prstGeom prst="rect">
            <a:avLst/>
          </a:prstGeom>
          <a:noFill/>
        </p:spPr>
        <p:txBody>
          <a:bodyPr wrap="square">
            <a:spAutoFit/>
          </a:bodyPr>
          <a:lstStyle/>
          <a:p>
            <a:pPr algn="l"/>
            <a:r>
              <a:rPr sz="900" b="1" dirty="0">
                <a:solidFill>
                  <a:srgbClr val="1F4E9C"/>
                </a:solidFill>
                <a:latin typeface="Calibri" panose="020F0502020204030204"/>
              </a:rPr>
              <a:t>3.6× plus rapide que l'import natif</a:t>
            </a:r>
            <a:endParaRPr sz="900" b="1" dirty="0">
              <a:solidFill>
                <a:srgbClr val="1F4E9C"/>
              </a:solidFill>
              <a:latin typeface="Calibri" panose="020F0502020204030204"/>
            </a:endParaRPr>
          </a:p>
          <a:p>
            <a:pPr algn="l"/>
            <a:r>
              <a:rPr sz="820" b="0" dirty="0">
                <a:solidFill>
                  <a:srgbClr val="7A8294"/>
                </a:solidFill>
                <a:latin typeface="Calibri" panose="020F0502020204030204"/>
              </a:rPr>
              <a:t>642s vs 2 340s pour 2 000 documents et ~10 000 lignes</a:t>
            </a:r>
            <a:endParaRPr sz="820" b="0" dirty="0">
              <a:solidFill>
                <a:srgbClr val="7A8294"/>
              </a:solidFill>
              <a:latin typeface="Calibri" panose="020F0502020204030204"/>
            </a:endParaRPr>
          </a:p>
        </p:txBody>
      </p:sp>
      <p:sp>
        <p:nvSpPr>
          <p:cNvPr id="12" name="Pointer 4"/>
          <p:cNvSpPr txBox="1"/>
          <p:nvPr/>
        </p:nvSpPr>
        <p:spPr>
          <a:xfrm>
            <a:off x="7448640" y="4430000"/>
            <a:ext cx="2200000" cy="700000"/>
          </a:xfrm>
          <a:prstGeom prst="rect">
            <a:avLst/>
          </a:prstGeom>
          <a:noFill/>
        </p:spPr>
        <p:txBody>
          <a:bodyPr wrap="square">
            <a:spAutoFit/>
          </a:bodyPr>
          <a:lstStyle/>
          <a:p>
            <a:pPr algn="l"/>
            <a:r>
              <a:rPr sz="900" b="1" dirty="0">
                <a:solidFill>
                  <a:srgbClr val="1F4E9C"/>
                </a:solidFill>
                <a:latin typeface="Calibri" panose="020F0502020204030204"/>
              </a:rPr>
              <a:t>Mapping IA — quelques minutes</a:t>
            </a:r>
            <a:endParaRPr sz="900" b="1" dirty="0">
              <a:solidFill>
                <a:srgbClr val="1F4E9C"/>
              </a:solidFill>
              <a:latin typeface="Calibri" panose="020F0502020204030204"/>
            </a:endParaRPr>
          </a:p>
          <a:p>
            <a:pPr algn="l"/>
            <a:r>
              <a:rPr sz="820" b="0" dirty="0">
                <a:solidFill>
                  <a:srgbClr val="7A8294"/>
                </a:solidFill>
                <a:latin typeface="Calibri" panose="020F0502020204030204"/>
              </a:rPr>
              <a:t>Contre plusieurs heures de configuration manuelle par entité</a:t>
            </a:r>
            <a:endParaRPr sz="820" b="0" dirty="0">
              <a:solidFill>
                <a:srgbClr val="7A8294"/>
              </a:solidFill>
              <a:latin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566928"/>
            <a:ext cx="10058400" cy="274320"/>
          </a:xfrm>
          <a:prstGeom prst="rect">
            <a:avLst/>
          </a:prstGeom>
          <a:noFill/>
        </p:spPr>
        <p:txBody>
          <a:bodyPr wrap="square" lIns="0" tIns="0" rIns="0" bIns="0" rtlCol="0" anchor="ctr"/>
          <a:lstStyle/>
          <a:p>
            <a:pPr marL="0" indent="0">
              <a:buNone/>
            </a:pPr>
            <a:r>
              <a:rPr lang="en-US" sz="1100" b="1" kern="0" spc="300" dirty="0">
                <a:solidFill>
                  <a:srgbClr val="1F4E9C"/>
                </a:solidFill>
                <a:latin typeface="Calibri" panose="020F0502020204030204" pitchFamily="34" charset="0"/>
                <a:ea typeface="Calibri" panose="020F0502020204030204" pitchFamily="34" charset="-122"/>
                <a:cs typeface="Calibri" panose="020F0502020204030204" pitchFamily="34" charset="-120"/>
              </a:rPr>
              <a:t>06  CONCLUSION</a:t>
            </a:r>
            <a:endParaRPr lang="en-US" sz="1100" dirty="0"/>
          </a:p>
        </p:txBody>
      </p:sp>
      <p:sp>
        <p:nvSpPr>
          <p:cNvPr id="3" name="Text 1"/>
          <p:cNvSpPr/>
          <p:nvPr/>
        </p:nvSpPr>
        <p:spPr>
          <a:xfrm>
            <a:off x="640080" y="868680"/>
            <a:ext cx="10881360" cy="685800"/>
          </a:xfrm>
          <a:prstGeom prst="rect">
            <a:avLst/>
          </a:prstGeom>
          <a:noFill/>
        </p:spPr>
        <p:txBody>
          <a:bodyPr wrap="square" lIns="0" tIns="0" rIns="0" bIns="0" rtlCol="0" anchor="ctr"/>
          <a:lstStyle/>
          <a:p>
            <a:pPr marL="0" indent="0">
              <a:buNone/>
            </a:pPr>
            <a:r>
              <a:rPr lang="en-US" sz="3000" b="1" dirty="0">
                <a:solidFill>
                  <a:srgbClr val="12203F"/>
                </a:solidFill>
                <a:latin typeface="Cambria" panose="02040503050406030204" pitchFamily="34" charset="0"/>
                <a:ea typeface="Cambria" panose="02040503050406030204" pitchFamily="34" charset="-122"/>
                <a:cs typeface="Cambria" panose="02040503050406030204" pitchFamily="34" charset="-120"/>
              </a:rPr>
              <a:t>Limitations actuelles</a:t>
            </a:r>
            <a:endParaRPr lang="en-US" sz="3000" dirty="0"/>
          </a:p>
        </p:txBody>
      </p:sp>
      <p:pic>
        <p:nvPicPr>
          <p:cNvPr id="4" name="Image 0" descr="preencoded.png"/>
          <p:cNvPicPr>
            <a:picLocks noChangeAspect="1"/>
          </p:cNvPicPr>
          <p:nvPr/>
        </p:nvPicPr>
        <p:blipFill>
          <a:blip r:embed="rId1"/>
          <a:stretch>
            <a:fillRect/>
          </a:stretch>
        </p:blipFill>
        <p:spPr>
          <a:xfrm>
            <a:off x="9832848" y="2286000"/>
            <a:ext cx="2173224" cy="5669280"/>
          </a:xfrm>
          <a:prstGeom prst="rect">
            <a:avLst/>
          </a:prstGeom>
        </p:spPr>
      </p:pic>
      <p:sp>
        <p:nvSpPr>
          <p:cNvPr id="5" name="Pointer 1"/>
          <p:cNvSpPr txBox="1"/>
          <p:nvPr/>
        </p:nvSpPr>
        <p:spPr>
          <a:xfrm>
            <a:off x="548640" y="1900000"/>
            <a:ext cx="9000000" cy="800000"/>
          </a:xfrm>
          <a:prstGeom prst="rect">
            <a:avLst/>
          </a:prstGeom>
          <a:noFill/>
        </p:spPr>
        <p:txBody>
          <a:bodyPr wrap="square">
            <a:spAutoFit/>
          </a:bodyPr>
          <a:lstStyle/>
          <a:p>
            <a:pPr algn="l"/>
            <a:r>
              <a:rPr sz="1100" b="1" dirty="0">
                <a:solidFill>
                  <a:srgbClr val="1F4E9C"/>
                </a:solidFill>
                <a:latin typeface="Calibri" panose="020F0502020204030204"/>
              </a:rPr>
              <a:t>Périmètre contraint par le contexte</a:t>
            </a:r>
            <a:endParaRPr sz="1100" b="1" dirty="0">
              <a:solidFill>
                <a:srgbClr val="1F4E9C"/>
              </a:solidFill>
              <a:latin typeface="Calibri" panose="020F0502020204030204"/>
            </a:endParaRPr>
          </a:p>
          <a:p>
            <a:pPr algn="l"/>
            <a:r>
              <a:rPr sz="900" b="0" dirty="0">
                <a:solidFill>
                  <a:srgbClr val="7A8294"/>
                </a:solidFill>
                <a:latin typeface="Calibri" panose="020F0502020204030204"/>
              </a:rPr>
              <a:t>Projet mené en parallèle d'une mission client à 50%, ce qui a limité le périmètre couvert</a:t>
            </a:r>
            <a:endParaRPr sz="900" b="0" dirty="0">
              <a:solidFill>
                <a:srgbClr val="7A8294"/>
              </a:solidFill>
              <a:latin typeface="Calibri" panose="020F0502020204030204"/>
            </a:endParaRPr>
          </a:p>
        </p:txBody>
      </p:sp>
      <p:sp>
        <p:nvSpPr>
          <p:cNvPr id="6" name="Pointer 2"/>
          <p:cNvSpPr txBox="1"/>
          <p:nvPr/>
        </p:nvSpPr>
        <p:spPr>
          <a:xfrm>
            <a:off x="548640" y="3200000"/>
            <a:ext cx="9000000" cy="800000"/>
          </a:xfrm>
          <a:prstGeom prst="rect">
            <a:avLst/>
          </a:prstGeom>
          <a:noFill/>
        </p:spPr>
        <p:txBody>
          <a:bodyPr wrap="square">
            <a:spAutoFit/>
          </a:bodyPr>
          <a:lstStyle/>
          <a:p>
            <a:pPr algn="l"/>
            <a:r>
              <a:rPr sz="1100" b="1" dirty="0">
                <a:solidFill>
                  <a:srgbClr val="1F4E9C"/>
                </a:solidFill>
                <a:latin typeface="Calibri" panose="020F0502020204030204"/>
              </a:rPr>
              <a:t>Contournement de l'ORM = réimplémentation from scratch</a:t>
            </a:r>
            <a:endParaRPr sz="1100" b="1" dirty="0">
              <a:solidFill>
                <a:srgbClr val="1F4E9C"/>
              </a:solidFill>
              <a:latin typeface="Calibri" panose="020F0502020204030204"/>
            </a:endParaRPr>
          </a:p>
          <a:p>
            <a:pPr algn="l"/>
            <a:r>
              <a:rPr sz="900" b="0" dirty="0">
                <a:solidFill>
                  <a:srgbClr val="7A8294"/>
                </a:solidFill>
                <a:latin typeface="Calibri" panose="020F0502020204030204"/>
              </a:rPr>
              <a:t>Des mécanismes nativement gérés par Hibernate (auto-incrément des IDs, gestion des séquences) doivent être réimplantés manuellement dans chaque pipeline</a:t>
            </a:r>
            <a:endParaRPr sz="900" b="0" dirty="0">
              <a:solidFill>
                <a:srgbClr val="7A8294"/>
              </a:solidFill>
              <a:latin typeface="Calibri" panose="020F0502020204030204"/>
            </a:endParaRPr>
          </a:p>
        </p:txBody>
      </p:sp>
      <p:sp>
        <p:nvSpPr>
          <p:cNvPr id="10" name="Pointer 3"/>
          <p:cNvSpPr txBox="1"/>
          <p:nvPr/>
        </p:nvSpPr>
        <p:spPr>
          <a:xfrm>
            <a:off x="548640" y="4700000"/>
            <a:ext cx="9000000" cy="800000"/>
          </a:xfrm>
          <a:prstGeom prst="rect">
            <a:avLst/>
          </a:prstGeom>
          <a:noFill/>
        </p:spPr>
        <p:txBody>
          <a:bodyPr wrap="square">
            <a:spAutoFit/>
          </a:bodyPr>
          <a:lstStyle/>
          <a:p>
            <a:pPr algn="l"/>
            <a:r>
              <a:rPr sz="1100" b="1" dirty="0">
                <a:solidFill>
                  <a:srgbClr val="1F4E9C"/>
                </a:solidFill>
                <a:latin typeface="Calibri" panose="020F0502020204030204"/>
              </a:rPr>
              <a:t>Non extensible aux modules métier complexes</a:t>
            </a:r>
            <a:endParaRPr sz="1100" b="1" dirty="0">
              <a:solidFill>
                <a:srgbClr val="1F4E9C"/>
              </a:solidFill>
              <a:latin typeface="Calibri" panose="020F0502020204030204"/>
            </a:endParaRPr>
          </a:p>
          <a:p>
            <a:pPr algn="l"/>
            <a:r>
              <a:rPr sz="900" b="0" dirty="0">
                <a:solidFill>
                  <a:srgbClr val="7A8294"/>
                </a:solidFill>
                <a:latin typeface="Calibri" panose="020F0502020204030204"/>
              </a:rPr>
              <a:t>Reproduire le comportement d'Axelor pour les stocks, achats ou production nécessiterait de réécrire toute la logique métier en Apache Hop, ce qui n'est pas viable</a:t>
            </a:r>
            <a:endParaRPr sz="900" b="0" dirty="0">
              <a:solidFill>
                <a:srgbClr val="7A8294"/>
              </a:solidFill>
              <a:latin typeface="Calibri" panose="020F0502020204030204"/>
            </a:endParaRPr>
          </a:p>
        </p:txBody>
      </p:sp>
      <p:pic>
        <p:nvPicPr>
          <p:cNvPr id="7" name="Image 1" descr="preencoded.png"/>
          <p:cNvPicPr>
            <a:picLocks noChangeAspect="1"/>
          </p:cNvPicPr>
          <p:nvPr/>
        </p:nvPicPr>
        <p:blipFill>
          <a:blip r:embed="rId2"/>
          <a:stretch>
            <a:fillRect/>
          </a:stretch>
        </p:blipFill>
        <p:spPr>
          <a:xfrm>
            <a:off x="640080" y="6327648"/>
            <a:ext cx="415260" cy="237744"/>
          </a:xfrm>
          <a:prstGeom prst="rect">
            <a:avLst/>
          </a:prstGeom>
        </p:spPr>
      </p:pic>
      <p:sp>
        <p:nvSpPr>
          <p:cNvPr id="8" name="Text 4"/>
          <p:cNvSpPr/>
          <p:nvPr/>
        </p:nvSpPr>
        <p:spPr>
          <a:xfrm>
            <a:off x="1188720" y="6309360"/>
            <a:ext cx="7315200" cy="274320"/>
          </a:xfrm>
          <a:prstGeom prst="rect">
            <a:avLst/>
          </a:prstGeom>
          <a:noFill/>
        </p:spPr>
        <p:txBody>
          <a:bodyPr wrap="square" lIns="0" tIns="0" rIns="0" bIns="0" rtlCol="0" anchor="ctr"/>
          <a:lstStyle/>
          <a:p>
            <a:pPr marL="0" indent="0">
              <a:buNone/>
            </a:pPr>
            <a:r>
              <a:rPr lang="en-US" sz="900" dirty="0">
                <a:solidFill>
                  <a:srgbClr val="7A8294"/>
                </a:solidFill>
                <a:latin typeface="Calibri" panose="020F0502020204030204" pitchFamily="34" charset="0"/>
                <a:ea typeface="Calibri" panose="020F0502020204030204" pitchFamily="34" charset="-122"/>
                <a:cs typeface="Calibri" panose="020F0502020204030204" pitchFamily="34" charset="-120"/>
              </a:rPr>
              <a:t>Projet de Fin d'Études : Génie Informatique</a:t>
            </a:r>
            <a:endParaRPr lang="en-US" sz="900" dirty="0"/>
          </a:p>
        </p:txBody>
      </p:sp>
      <p:sp>
        <p:nvSpPr>
          <p:cNvPr id="9" name="Text 5"/>
          <p:cNvSpPr/>
          <p:nvPr/>
        </p:nvSpPr>
        <p:spPr>
          <a:xfrm>
            <a:off x="10360152" y="6309360"/>
            <a:ext cx="1188720" cy="274320"/>
          </a:xfrm>
          <a:prstGeom prst="rect">
            <a:avLst/>
          </a:prstGeom>
          <a:noFill/>
        </p:spPr>
        <p:txBody>
          <a:bodyPr wrap="square" lIns="0" tIns="0" rIns="0" bIns="0" rtlCol="0" anchor="ctr"/>
          <a:lstStyle/>
          <a:p>
            <a:pPr marL="0" indent="0" algn="r">
              <a:buNone/>
            </a:pPr>
            <a:r>
              <a:rPr lang="fr-FR" sz="1000" b="1">
                <a:solidFill>
                  <a:srgbClr val="1F4E9C"/>
                </a:solidFill>
                <a:latin typeface="Calibri" panose="020F0502020204030204"/>
              </a:rPr>
              <a:t>19</a:t>
            </a:r>
            <a:r>
              <a:rPr sz="1000" b="0">
                <a:solidFill>
                  <a:srgbClr val="7A8294"/>
                </a:solidFill>
                <a:latin typeface="Calibri" panose="020F0502020204030204"/>
              </a:rPr>
              <a:t> / </a:t>
            </a:r>
            <a:r>
              <a:rPr lang="fr-FR" sz="1000" b="0">
                <a:solidFill>
                  <a:srgbClr val="7A8294"/>
                </a:solidFill>
                <a:latin typeface="Calibri" panose="020F0502020204030204"/>
              </a:rPr>
              <a:t>22</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566928"/>
            <a:ext cx="10058400" cy="274320"/>
          </a:xfrm>
          <a:prstGeom prst="rect">
            <a:avLst/>
          </a:prstGeom>
          <a:noFill/>
        </p:spPr>
        <p:txBody>
          <a:bodyPr wrap="square" lIns="0" tIns="0" rIns="0" bIns="0" rtlCol="0" anchor="ctr"/>
          <a:lstStyle/>
          <a:p>
            <a:pPr marL="0" indent="0">
              <a:buNone/>
            </a:pPr>
            <a:r>
              <a:rPr lang="en-US" sz="1100" b="1" kern="0" spc="300" dirty="0">
                <a:solidFill>
                  <a:srgbClr val="1F4E9C"/>
                </a:solidFill>
                <a:latin typeface="Calibri" panose="020F0502020204030204" pitchFamily="34" charset="0"/>
                <a:ea typeface="Calibri" panose="020F0502020204030204" pitchFamily="34" charset="-122"/>
                <a:cs typeface="Calibri" panose="020F0502020204030204" pitchFamily="34" charset="-120"/>
              </a:rPr>
              <a:t>06  CONCLUSION</a:t>
            </a:r>
            <a:endParaRPr lang="en-US" sz="1100" dirty="0"/>
          </a:p>
        </p:txBody>
      </p:sp>
      <p:sp>
        <p:nvSpPr>
          <p:cNvPr id="3" name="Text 1"/>
          <p:cNvSpPr/>
          <p:nvPr/>
        </p:nvSpPr>
        <p:spPr>
          <a:xfrm>
            <a:off x="640080" y="868680"/>
            <a:ext cx="10881360" cy="685800"/>
          </a:xfrm>
          <a:prstGeom prst="rect">
            <a:avLst/>
          </a:prstGeom>
          <a:noFill/>
        </p:spPr>
        <p:txBody>
          <a:bodyPr wrap="square" lIns="0" tIns="0" rIns="0" bIns="0" rtlCol="0" anchor="ctr"/>
          <a:lstStyle/>
          <a:p>
            <a:pPr marL="0" indent="0">
              <a:buNone/>
            </a:pPr>
            <a:r>
              <a:rPr lang="en-US" sz="3000" b="1" dirty="0">
                <a:solidFill>
                  <a:srgbClr val="12203F"/>
                </a:solidFill>
                <a:latin typeface="Cambria" panose="02040503050406030204" pitchFamily="34" charset="0"/>
                <a:ea typeface="Cambria" panose="02040503050406030204" pitchFamily="34" charset="-122"/>
                <a:cs typeface="Cambria" panose="02040503050406030204" pitchFamily="34" charset="-120"/>
              </a:rPr>
              <a:t>Perspectives d'évolution</a:t>
            </a:r>
            <a:endParaRPr lang="en-US" sz="3000" dirty="0"/>
          </a:p>
        </p:txBody>
      </p:sp>
      <p:pic>
        <p:nvPicPr>
          <p:cNvPr id="4" name="Image 0" descr="preencoded.png"/>
          <p:cNvPicPr>
            <a:picLocks noChangeAspect="1"/>
          </p:cNvPicPr>
          <p:nvPr/>
        </p:nvPicPr>
        <p:blipFill>
          <a:blip r:embed="rId1"/>
          <a:stretch>
            <a:fillRect/>
          </a:stretch>
        </p:blipFill>
        <p:spPr>
          <a:xfrm>
            <a:off x="9832848" y="2286000"/>
            <a:ext cx="2173224" cy="5669280"/>
          </a:xfrm>
          <a:prstGeom prst="rect">
            <a:avLst/>
          </a:prstGeom>
        </p:spPr>
      </p:pic>
      <p:sp>
        <p:nvSpPr>
          <p:cNvPr id="5" name="Pointer 1"/>
          <p:cNvSpPr txBox="1"/>
          <p:nvPr/>
        </p:nvSpPr>
        <p:spPr>
          <a:xfrm>
            <a:off x="548640" y="1900000"/>
            <a:ext cx="9000000" cy="800000"/>
          </a:xfrm>
          <a:prstGeom prst="rect">
            <a:avLst/>
          </a:prstGeom>
          <a:noFill/>
        </p:spPr>
        <p:txBody>
          <a:bodyPr wrap="square">
            <a:spAutoFit/>
          </a:bodyPr>
          <a:lstStyle/>
          <a:p>
            <a:pPr algn="l"/>
            <a:r>
              <a:rPr sz="1100" b="1" dirty="0">
                <a:solidFill>
                  <a:srgbClr val="1F4E9C"/>
                </a:solidFill>
                <a:latin typeface="Calibri" panose="020F0502020204030204"/>
              </a:rPr>
              <a:t>Extension des sources</a:t>
            </a:r>
            <a:endParaRPr sz="1100" b="1" dirty="0">
              <a:solidFill>
                <a:srgbClr val="1F4E9C"/>
              </a:solidFill>
              <a:latin typeface="Calibri" panose="020F0502020204030204"/>
            </a:endParaRPr>
          </a:p>
          <a:p>
            <a:pPr algn="l"/>
            <a:r>
              <a:rPr sz="900" b="0" dirty="0">
                <a:solidFill>
                  <a:srgbClr val="7A8294"/>
                </a:solidFill>
                <a:latin typeface="Calibri" panose="020F0502020204030204"/>
              </a:rPr>
              <a:t>Prise en charge de fichiers Excel, bases SQL et exports XML d'autres ERP</a:t>
            </a:r>
            <a:endParaRPr sz="900" b="0" dirty="0">
              <a:solidFill>
                <a:srgbClr val="7A8294"/>
              </a:solidFill>
              <a:latin typeface="Calibri" panose="020F0502020204030204"/>
            </a:endParaRPr>
          </a:p>
        </p:txBody>
      </p:sp>
      <p:sp>
        <p:nvSpPr>
          <p:cNvPr id="6" name="Pointer 2"/>
          <p:cNvSpPr txBox="1"/>
          <p:nvPr/>
        </p:nvSpPr>
        <p:spPr>
          <a:xfrm>
            <a:off x="548640" y="3200000"/>
            <a:ext cx="9000000" cy="800000"/>
          </a:xfrm>
          <a:prstGeom prst="rect">
            <a:avLst/>
          </a:prstGeom>
          <a:noFill/>
        </p:spPr>
        <p:txBody>
          <a:bodyPr wrap="square">
            <a:spAutoFit/>
          </a:bodyPr>
          <a:lstStyle/>
          <a:p>
            <a:pPr algn="l"/>
            <a:r>
              <a:rPr sz="1100" b="1" dirty="0">
                <a:solidFill>
                  <a:srgbClr val="1F4E9C"/>
                </a:solidFill>
                <a:latin typeface="Calibri" panose="020F0502020204030204"/>
              </a:rPr>
              <a:t>Anonymisation automatique</a:t>
            </a:r>
            <a:endParaRPr sz="1100" b="1" dirty="0">
              <a:solidFill>
                <a:srgbClr val="1F4E9C"/>
              </a:solidFill>
              <a:latin typeface="Calibri" panose="020F0502020204030204"/>
            </a:endParaRPr>
          </a:p>
          <a:p>
            <a:pPr algn="l"/>
            <a:r>
              <a:rPr sz="900" b="0" dirty="0">
                <a:solidFill>
                  <a:srgbClr val="7A8294"/>
                </a:solidFill>
                <a:latin typeface="Calibri" panose="020F0502020204030204"/>
              </a:rPr>
              <a:t>Masquage des données personnelles avant transmission au modèle IA</a:t>
            </a:r>
            <a:endParaRPr sz="900" b="0" dirty="0">
              <a:solidFill>
                <a:srgbClr val="7A8294"/>
              </a:solidFill>
              <a:latin typeface="Calibri" panose="020F0502020204030204"/>
            </a:endParaRPr>
          </a:p>
        </p:txBody>
      </p:sp>
      <p:sp>
        <p:nvSpPr>
          <p:cNvPr id="10" name="Pointer 3"/>
          <p:cNvSpPr txBox="1"/>
          <p:nvPr/>
        </p:nvSpPr>
        <p:spPr>
          <a:xfrm>
            <a:off x="548640" y="4700000"/>
            <a:ext cx="9000000" cy="800000"/>
          </a:xfrm>
          <a:prstGeom prst="rect">
            <a:avLst/>
          </a:prstGeom>
          <a:noFill/>
        </p:spPr>
        <p:txBody>
          <a:bodyPr wrap="square">
            <a:spAutoFit/>
          </a:bodyPr>
          <a:lstStyle/>
          <a:p>
            <a:pPr algn="l"/>
            <a:r>
              <a:rPr sz="1100" b="1" dirty="0">
                <a:solidFill>
                  <a:srgbClr val="1F4E9C"/>
                </a:solidFill>
                <a:latin typeface="Calibri" panose="020F0502020204030204"/>
              </a:rPr>
              <a:t>Capitalisation IA</a:t>
            </a:r>
            <a:endParaRPr sz="1100" b="1" dirty="0">
              <a:solidFill>
                <a:srgbClr val="1F4E9C"/>
              </a:solidFill>
              <a:latin typeface="Calibri" panose="020F0502020204030204"/>
            </a:endParaRPr>
          </a:p>
          <a:p>
            <a:pPr algn="l"/>
            <a:r>
              <a:rPr sz="900" b="0" dirty="0">
                <a:solidFill>
                  <a:srgbClr val="7A8294"/>
                </a:solidFill>
                <a:latin typeface="Calibri" panose="020F0502020204030204"/>
              </a:rPr>
              <a:t>Apprentissage sur l'historique des mappings réussis pour améliorer la qualité des suggestions</a:t>
            </a:r>
            <a:endParaRPr sz="900" b="0" dirty="0">
              <a:solidFill>
                <a:srgbClr val="7A8294"/>
              </a:solidFill>
              <a:latin typeface="Calibri" panose="020F0502020204030204"/>
            </a:endParaRPr>
          </a:p>
        </p:txBody>
      </p:sp>
      <p:pic>
        <p:nvPicPr>
          <p:cNvPr id="7" name="Image 1" descr="preencoded.png"/>
          <p:cNvPicPr>
            <a:picLocks noChangeAspect="1"/>
          </p:cNvPicPr>
          <p:nvPr/>
        </p:nvPicPr>
        <p:blipFill>
          <a:blip r:embed="rId2"/>
          <a:stretch>
            <a:fillRect/>
          </a:stretch>
        </p:blipFill>
        <p:spPr>
          <a:xfrm>
            <a:off x="640080" y="6327648"/>
            <a:ext cx="415260" cy="237744"/>
          </a:xfrm>
          <a:prstGeom prst="rect">
            <a:avLst/>
          </a:prstGeom>
        </p:spPr>
      </p:pic>
      <p:sp>
        <p:nvSpPr>
          <p:cNvPr id="8" name="Text 4"/>
          <p:cNvSpPr/>
          <p:nvPr/>
        </p:nvSpPr>
        <p:spPr>
          <a:xfrm>
            <a:off x="1188720" y="6309360"/>
            <a:ext cx="7315200" cy="274320"/>
          </a:xfrm>
          <a:prstGeom prst="rect">
            <a:avLst/>
          </a:prstGeom>
          <a:noFill/>
        </p:spPr>
        <p:txBody>
          <a:bodyPr wrap="square" lIns="0" tIns="0" rIns="0" bIns="0" rtlCol="0" anchor="ctr"/>
          <a:lstStyle/>
          <a:p>
            <a:pPr marL="0" indent="0">
              <a:buNone/>
            </a:pPr>
            <a:r>
              <a:rPr lang="en-US" sz="900" dirty="0">
                <a:solidFill>
                  <a:srgbClr val="7A8294"/>
                </a:solidFill>
                <a:latin typeface="Calibri" panose="020F0502020204030204" pitchFamily="34" charset="0"/>
                <a:ea typeface="Calibri" panose="020F0502020204030204" pitchFamily="34" charset="-122"/>
                <a:cs typeface="Calibri" panose="020F0502020204030204" pitchFamily="34" charset="-120"/>
              </a:rPr>
              <a:t>Projet de Fin d'Études : Génie Informatique</a:t>
            </a:r>
            <a:endParaRPr lang="en-US" sz="900" dirty="0"/>
          </a:p>
        </p:txBody>
      </p:sp>
      <p:sp>
        <p:nvSpPr>
          <p:cNvPr id="9" name="Text 5"/>
          <p:cNvSpPr/>
          <p:nvPr/>
        </p:nvSpPr>
        <p:spPr>
          <a:xfrm>
            <a:off x="10360152" y="6309360"/>
            <a:ext cx="1188720" cy="274320"/>
          </a:xfrm>
          <a:prstGeom prst="rect">
            <a:avLst/>
          </a:prstGeom>
          <a:noFill/>
        </p:spPr>
        <p:txBody>
          <a:bodyPr wrap="square" lIns="0" tIns="0" rIns="0" bIns="0" rtlCol="0" anchor="ctr"/>
          <a:lstStyle/>
          <a:p>
            <a:pPr marL="0" indent="0" algn="r">
              <a:buNone/>
            </a:pPr>
            <a:r>
              <a:rPr lang="fr-FR" sz="1000" b="1">
                <a:solidFill>
                  <a:srgbClr val="1F4E9C"/>
                </a:solidFill>
                <a:latin typeface="Calibri" panose="020F0502020204030204"/>
              </a:rPr>
              <a:t>2</a:t>
            </a:r>
            <a:r>
              <a:rPr sz="1000" b="1">
                <a:solidFill>
                  <a:srgbClr val="1F4E9C"/>
                </a:solidFill>
                <a:latin typeface="Calibri" panose="020F0502020204030204"/>
              </a:rPr>
              <a:t>0</a:t>
            </a:r>
            <a:r>
              <a:rPr sz="1000" b="0">
                <a:solidFill>
                  <a:srgbClr val="7A8294"/>
                </a:solidFill>
                <a:latin typeface="Calibri" panose="020F0502020204030204"/>
              </a:rPr>
              <a:t> / </a:t>
            </a:r>
            <a:r>
              <a:rPr lang="fr-FR" sz="1000" b="0">
                <a:solidFill>
                  <a:srgbClr val="7A8294"/>
                </a:solidFill>
                <a:latin typeface="Calibri" panose="020F0502020204030204"/>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540240" y="-502920"/>
            <a:ext cx="3014472" cy="7863840"/>
          </a:xfrm>
          <a:prstGeom prst="rect">
            <a:avLst/>
          </a:prstGeom>
        </p:spPr>
      </p:pic>
      <p:sp>
        <p:nvSpPr>
          <p:cNvPr id="3" name="Text 0"/>
          <p:cNvSpPr/>
          <p:nvPr/>
        </p:nvSpPr>
        <p:spPr>
          <a:xfrm>
            <a:off x="822960" y="2651760"/>
            <a:ext cx="9144000" cy="914400"/>
          </a:xfrm>
          <a:prstGeom prst="rect">
            <a:avLst/>
          </a:prstGeom>
          <a:noFill/>
        </p:spPr>
        <p:txBody>
          <a:bodyPr wrap="square" lIns="0" tIns="0" rIns="0" bIns="0" rtlCol="0" anchor="ctr"/>
          <a:lstStyle/>
          <a:p>
            <a:pPr marL="0" indent="0">
              <a:buNone/>
            </a:pPr>
            <a:r>
              <a:rPr lang="en-US" sz="4000" b="1" dirty="0">
                <a:solidFill>
                  <a:srgbClr val="12203F"/>
                </a:solidFill>
                <a:latin typeface="Cambria" panose="02040503050406030204" pitchFamily="34" charset="0"/>
                <a:ea typeface="Cambria" panose="02040503050406030204" pitchFamily="34" charset="-122"/>
                <a:cs typeface="Cambria" panose="02040503050406030204" pitchFamily="34" charset="-120"/>
              </a:rPr>
              <a:t>Merci de votre attention</a:t>
            </a:r>
            <a:endParaRPr lang="en-US" sz="4000" dirty="0"/>
          </a:p>
        </p:txBody>
      </p:sp>
      <p:sp>
        <p:nvSpPr>
          <p:cNvPr id="4" name="Text 1"/>
          <p:cNvSpPr/>
          <p:nvPr/>
        </p:nvSpPr>
        <p:spPr>
          <a:xfrm>
            <a:off x="822960" y="3657600"/>
            <a:ext cx="7315200" cy="457200"/>
          </a:xfrm>
          <a:prstGeom prst="rect">
            <a:avLst/>
          </a:prstGeom>
          <a:noFill/>
        </p:spPr>
        <p:txBody>
          <a:bodyPr wrap="square" lIns="0" tIns="0" rIns="0" bIns="0" rtlCol="0" anchor="ctr"/>
          <a:lstStyle/>
          <a:p>
            <a:pPr marL="0" indent="0">
              <a:buNone/>
            </a:pPr>
            <a:r>
              <a:rPr lang="en-US" sz="1600" dirty="0">
                <a:solidFill>
                  <a:srgbClr val="1F4E9C"/>
                </a:solidFill>
                <a:latin typeface="Calibri" panose="020F0502020204030204" pitchFamily="34" charset="0"/>
                <a:ea typeface="Calibri" panose="020F0502020204030204" pitchFamily="34" charset="-122"/>
                <a:cs typeface="Calibri" panose="020F0502020204030204" pitchFamily="34" charset="-120"/>
              </a:rPr>
              <a:t>Place à vos questions</a:t>
            </a:r>
            <a:endParaRPr lang="en-US" sz="1600" dirty="0"/>
          </a:p>
        </p:txBody>
      </p:sp>
      <p:pic>
        <p:nvPicPr>
          <p:cNvPr id="5" name="Image 1" descr="preencoded.png"/>
          <p:cNvPicPr>
            <a:picLocks noChangeAspect="1"/>
          </p:cNvPicPr>
          <p:nvPr/>
        </p:nvPicPr>
        <p:blipFill>
          <a:blip r:embed="rId2"/>
          <a:stretch>
            <a:fillRect/>
          </a:stretch>
        </p:blipFill>
        <p:spPr>
          <a:xfrm>
            <a:off x="822960" y="4754880"/>
            <a:ext cx="958291"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7927</Words>
  <Application>WPS Presentation</Application>
  <PresentationFormat>On-screen Show (16:9)</PresentationFormat>
  <Paragraphs>623</Paragraphs>
  <Slides>22</Slides>
  <Notes>9</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22</vt:i4>
      </vt:variant>
    </vt:vector>
  </HeadingPairs>
  <TitlesOfParts>
    <vt:vector size="35" baseType="lpstr">
      <vt:lpstr>Arial</vt:lpstr>
      <vt:lpstr>SimSun</vt:lpstr>
      <vt:lpstr>Wingdings</vt:lpstr>
      <vt:lpstr>Calibri</vt:lpstr>
      <vt:lpstr>Calibri</vt:lpstr>
      <vt:lpstr>Calibri</vt:lpstr>
      <vt:lpstr>Cambria</vt:lpstr>
      <vt:lpstr>Cambria</vt:lpstr>
      <vt:lpstr>Cambria</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Soutenance PFE : ENSA Kénitra</dc:title>
  <dc:creator>ENSA Kénitra</dc:creator>
  <dc:subject>PptxGenJS Presentation</dc:subject>
  <cp:lastModifiedBy>Electronic Store</cp:lastModifiedBy>
  <cp:revision>29</cp:revision>
  <dcterms:created xsi:type="dcterms:W3CDTF">2026-06-26T14:43:00Z</dcterms:created>
  <dcterms:modified xsi:type="dcterms:W3CDTF">2026-07-03T10:28:18Z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B31F9A9E087F457B963121568B17B29E_12</vt:lpwstr>
  </property>
  <property fmtid="{D5CDD505-2E9C-101B-9397-08002B2CF9AE}" pid="3" name="KSOProductBuildVer">
    <vt:lpwstr>1033-12.1.0.26880</vt:lpwstr>
  </property>
</Properties>
</file>