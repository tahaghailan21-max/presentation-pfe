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67" r:id="rId3"/>
    <p:sldId id="257" r:id="rId5"/>
    <p:sldId id="268" r:id="rId6"/>
    <p:sldId id="259" r:id="rId7"/>
    <p:sldId id="260" r:id="rId8"/>
    <p:sldId id="261" r:id="rId9"/>
    <p:sldId id="269" r:id="rId18"/>
    <p:sldId id="272" r:id="rId21"/>
    <p:sldId id="270" r:id="rId19"/>
    <p:sldId id="273" r:id="rId22"/>
    <p:sldId id="271" r:id="rId20"/>
    <p:sldId id="274" r:id="rId23"/>
    <p:sldId id="262" r:id="rId10"/>
    <p:sldId id="275" r:id="rId24"/>
    <p:sldId id="276" r:id="rId25"/>
    <p:sldId id="277" r:id="rId26"/>
    <p:sldId id="278" r:id="rId27"/>
    <p:sldId id="263" r:id="rId11"/>
    <p:sldId id="279" r:id="rId28"/>
    <p:sldId id="265" r:id="rId12"/>
    <p:sldId id="266" r:id="rId13"/>
    <p:sldId id="264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9.xml"/><Relationship Id="rId20" Type="http://schemas.openxmlformats.org/officeDocument/2006/relationships/slide" Target="slides/slide11.xml"/><Relationship Id="rId21" Type="http://schemas.openxmlformats.org/officeDocument/2006/relationships/slide" Target="slides/slide8.xml"/><Relationship Id="rId22" Type="http://schemas.openxmlformats.org/officeDocument/2006/relationships/slide" Target="slides/slide10.xml"/><Relationship Id="rId23" Type="http://schemas.openxmlformats.org/officeDocument/2006/relationships/slide" Target="slides/slide12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Bonjour à tous. Messieurs les membres du jury, cher encadrant, mesdames et messieurs les invités, je vous remercie de me recevoir aujourd'hui pour la soutenance de mon projet de fin d'études.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Je m'appelle Taha Ghailan.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Je vais vous présenter mon travail réalisé au sein d'Axelor Maroc, portant sur la conception d'un framework ETL générique assisté par agents IA génératifs.</a:t>
            </a:r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Je vais structurer ma présentation en six parties.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Je commencerai par présenter le contexte général et l'organisme d'accueil. Ensuite j'aborderai la problématique, puis la méthodologie adoptée. Je passerai ensuite à la conception de la solution, suivie de la réalisation et des résultats obtenus. Et je terminerai par une conclusion en trois parties : le bilan, les limitations et les perspectives d'évolution.</a:t>
            </a:r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Axelor est un éditeur fran</a:t>
            </a:r>
            <a:r>
              <a:rPr lang="en-US" altLang="en-US" dirty="0"/>
              <a:t>ç</a:t>
            </a:r>
            <a:r>
              <a:rPr lang="en-US" altLang="en-US" dirty="0"/>
              <a:t>ais de logiciels open source spécialisé dans les solutions ERP, CRM et BPM. Fondée en 2005, la société est aujourd'hui présente dans 4 pays : la France, le Maroc, l'Inde et le Canada. C'est au sein de la filiale Axelor Maroc, dans l'équipe R&amp;D, que j'ai effectué mon stage.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Dans tout projet de déploiement ERP, les entreprises doivent migrer leurs données historiques depuis leurs anciens syst</a:t>
            </a:r>
            <a:r>
              <a:rPr lang="en-US" altLang="en-US" dirty="0"/>
              <a:t>è</a:t>
            </a:r>
            <a:r>
              <a:rPr lang="en-US" altLang="en-US" dirty="0"/>
              <a:t>mes — qu'il s'agisse d'anciens ERP, de bases de données relationnelles, de fichiers Excel ou CSV, ou encore d'APIs tierces. C'est une étape critique qui conditionne directement la mise en production.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Mon stage avait donc deux volets : participer aux projets d'intégration clients aux côtés des équipes Axelor, et contribuer à l'effort R&amp;D pour résoudre un probl</a:t>
            </a:r>
            <a:r>
              <a:rPr lang="en-US" altLang="en-US" dirty="0"/>
              <a:t>è</a:t>
            </a:r>
            <a:r>
              <a:rPr lang="en-US" altLang="en-US" dirty="0"/>
              <a:t>me récurrent dans les projets de déploiement.</a:t>
            </a:r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"Ce probl</a:t>
            </a:r>
            <a:r>
              <a:rPr lang="" altLang="en-US" dirty="0"/>
              <a:t>è</a:t>
            </a:r>
            <a:r>
              <a:rPr lang="en-US" altLang="en-US" dirty="0"/>
              <a:t>me récurrent, c'est la migration de données historiques.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Quand Axelor déploie son ERP chez un nouveau client, le client veut garder ses données — ses produits, ses partenaires, ses commandes. Aujourd'hui, </a:t>
            </a:r>
            <a:r>
              <a:rPr lang="" altLang="en-US" dirty="0"/>
              <a:t>ç</a:t>
            </a:r>
            <a:r>
              <a:rPr lang="en-US" altLang="en-US" dirty="0"/>
              <a:t>a se fait avec des scripts Java écrits sur mesure, projet par projet. Plus de 20 scripts à chaque fois.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Le probl</a:t>
            </a:r>
            <a:r>
              <a:rPr lang="" altLang="en-US" dirty="0"/>
              <a:t>è</a:t>
            </a:r>
            <a:r>
              <a:rPr lang="en-US" altLang="en-US" dirty="0"/>
              <a:t>me c'est que ces scripts ne servent qu'une fois. Le projet suivant, même si les données se ressemblent, on repart de zéro. </a:t>
            </a:r>
            <a:r>
              <a:rPr lang="" altLang="en-US" dirty="0"/>
              <a:t>Ç</a:t>
            </a:r>
            <a:r>
              <a:rPr lang="en-US" altLang="en-US" dirty="0"/>
              <a:t>a co</a:t>
            </a:r>
            <a:r>
              <a:rPr lang="" altLang="en-US" dirty="0"/>
              <a:t>û</a:t>
            </a:r>
            <a:r>
              <a:rPr lang="en-US" altLang="en-US" dirty="0"/>
              <a:t>te cher et </a:t>
            </a:r>
            <a:r>
              <a:rPr lang="" altLang="en-US" dirty="0"/>
              <a:t>ç</a:t>
            </a:r>
            <a:r>
              <a:rPr lang="en-US" altLang="en-US" dirty="0"/>
              <a:t>a mobilise des ingénieurs à chaque déploiement.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Et même quand on arrive à importer, l'import natif d'Axelor passe par toute la couche ORM. Sur de gros volumes, c'est lent.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Donc la question que ce projet essaie de répondre : est-ce qu'on peut concevoir un framework générique qui standardise ce processus et automatise la configuration grâce à des agents IA ?</a:t>
            </a:r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Justifier le choix de la méthode en une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seul diagramme lisible. Commenter, ne pas lire.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solution en action. Les chiffres clés marquent les esprits.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par une phrase de synthèse forte.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de remerciement. Rester affichée pendant les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57200" y="-502920"/>
            <a:ext cx="3014472" cy="786384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502920"/>
            <a:ext cx="990234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531352" y="566928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3200400" y="150876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École Nationale des Sciences Appliquées de Kénitra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3200400" y="18013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Université Ibn Tofail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3200400" y="22128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Mémoire de Projet de Fin d'Études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3200400" y="2889250"/>
            <a:ext cx="841248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Conception d'un Framework ETL Générique pour l'Import de Données Axelor, Assisté par Agents IA Génératifs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3200400" y="3977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Filière Génie Informatique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3200400" y="4526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Réalisé par   </a:t>
            </a: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Taha GHAILAN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200400" y="4892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Encadré par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474720" y="51663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Pr. El Bouzekri El Idrissi Youn</a:t>
            </a:r>
            <a:r>
              <a:rPr lang="en-US" alt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è</a:t>
            </a: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s, encadrant (ENSAK)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474720" y="54406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M. Abderrahim Aabane, encadrant (Axelor)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200400" y="58521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Soutenu le </a:t>
            </a:r>
            <a:r>
              <a:rPr lang="fr-FR" alt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07</a:t>
            </a:r>
            <a:r>
              <a:rPr 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/07/2026 devant le jury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474720" y="6126480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Pr. 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Youn</a:t>
            </a:r>
            <a:r>
              <a:rPr lang="en-US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è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s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L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B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OUZEKRI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E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L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I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DRISSI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    Pr. </a:t>
            </a:r>
            <a:r>
              <a:rPr lang="en-US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Aniss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MOUMEN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    Pr. </a:t>
            </a:r>
            <a:r>
              <a:rPr lang="en-US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Ayoub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AIT LAHCEN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   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20040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Année universitaire 2025/2026</a:t>
            </a:r>
            <a:endParaRPr lang="en-US" sz="1000" dirty="0"/>
          </a:p>
        </p:txBody>
      </p:sp>
      <p:pic>
        <p:nvPicPr>
          <p:cNvPr id="17" name="Picture 16" descr="logo_axel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0" y="596265"/>
            <a:ext cx="995045" cy="336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SOMMAIRE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Plan de la présentation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745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600200" y="18745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Contexte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29200" y="187452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Organisme d'accueil et cadre du projet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58368" y="262432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00200" y="2624328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Problématique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029200" y="2624328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Limites de l'existant et besoin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8368" y="3374136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600200" y="3374136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Méthodologie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5029200" y="3374136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Cadrage, besoins et démarche de travail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58368" y="4123944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600200" y="4123944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Conception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5029200" y="4123944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Cas d'utilisation et modélisation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8368" y="487375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05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600200" y="4873752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Réalisation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029200" y="4873752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Architecture, implémentation et résultats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58368" y="562356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06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600200" y="562356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Conclusion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5029200" y="562356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Bilan, Limitations et Perspectives d'évolution</a:t>
            </a:r>
            <a:endParaRPr lang="en-US" sz="1300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1F4E9C"/>
                </a:solidFill>
                <a:latin typeface="Calibri"/>
              </a:rPr>
              <a:t>02</a:t>
            </a:r>
            <a:r>
              <a:rPr sz="1000" b="0">
                <a:solidFill>
                  <a:srgbClr val="7A8294"/>
                </a:solidFill>
                <a:latin typeface="Calibri"/>
              </a:rPr>
              <a:t> /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  CONTEXTE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Contexte du projet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28800"/>
            <a:ext cx="5669280" cy="3840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ORGANISME D'ACCUEIL</a:t>
            </a:r>
            <a:endParaRPr lang="en-US" sz="1100" dirty="0"/>
          </a:p>
          <a:p>
            <a:pPr marL="0" indent="0">
              <a:spcAft>
                <a:spcPts val="1800"/>
              </a:spcAft>
              <a:buNone/>
            </a:pPr>
            <a:r>
              <a:rPr lang="en-US" sz="1400" dirty="0">
                <a:solidFill>
                  <a:srgbClr val="2A3142"/>
                </a:solidFill>
              </a:rPr>
              <a:t>Axelor SAS</a:t>
            </a:r>
            <a:r>
              <a:rPr lang="fr-FR" altLang="en-US" sz="1400" dirty="0">
                <a:solidFill>
                  <a:srgbClr val="2A3142"/>
                </a:solidFill>
              </a:rPr>
              <a:t>: </a:t>
            </a:r>
            <a:r>
              <a:rPr lang="en-US" sz="1400" dirty="0">
                <a:solidFill>
                  <a:srgbClr val="2A3142"/>
                </a:solidFill>
              </a:rPr>
              <a:t> éditeur français de solutions ERP/CRM/BPM open source, fondé en 2005, présent dans 4 pays (France, Maroc, Inde, Canada)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CADRE DU PROJET</a:t>
            </a:r>
            <a:endParaRPr lang="en-US" sz="1100" dirty="0"/>
          </a:p>
          <a:p>
            <a:pPr marL="0" indent="0">
              <a:spcAft>
                <a:spcPts val="1800"/>
              </a:spcAft>
              <a:buNone/>
            </a:pPr>
            <a:r>
              <a:rPr lang="en-US" altLang="en-US" sz="1100" dirty="0"/>
              <a:t> </a:t>
            </a:r>
            <a:r>
              <a:rPr lang="en-US" altLang="en-US" sz="1400" dirty="0"/>
              <a:t>Tout déploiement ERP implique une migration des données historiques du client, étape critique qui conditionne la mise en production.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OBJECTIF</a:t>
            </a:r>
            <a:endParaRPr lang="en-US" sz="1100" dirty="0"/>
          </a:p>
          <a:p>
            <a:pPr marL="0" indent="0">
              <a:buNone/>
            </a:pPr>
            <a:r>
              <a:rPr lang="en-US" altLang="en-US" sz="1400" dirty="0"/>
              <a:t>Participer aux projets d'intégration clients et contribuer à l'effort R&amp;D d'Axelor Maroc.</a:t>
            </a:r>
            <a:endParaRPr lang="en-US" alt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0" y="1828800"/>
            <a:ext cx="4114800" cy="3749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1F4E9C"/>
                </a:solidFill>
                <a:latin typeface="Calibri"/>
              </a:rPr>
              <a:t>03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  <a:endParaRPr lang="en-US" sz="1000" dirty="0"/>
          </a:p>
        </p:txBody>
      </p:sp>
      <p:pic>
        <p:nvPicPr>
          <p:cNvPr id="11" name="Picture 10" descr="Siege-Axel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554480"/>
            <a:ext cx="3183890" cy="31838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  PROBLÉMATIQUE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Le problème à résoudre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26515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«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1371600" y="1289050"/>
            <a:ext cx="969264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Comment concevoir un framework ETL générique qui </a:t>
            </a:r>
            <a:r>
              <a:rPr lang="fr-FR" alt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standarise la migration de donn</a:t>
            </a:r>
            <a:r>
              <a:rPr lang="en-US" altLang="en-US" sz="2400" dirty="0">
                <a:sym typeface="+mn-ea"/>
              </a:rPr>
              <a:t>é</a:t>
            </a:r>
            <a:r>
              <a:rPr lang="fr-FR" altLang="en-US" sz="2400" dirty="0">
                <a:sym typeface="+mn-ea"/>
              </a:rPr>
              <a:t>s vers Axelor</a:t>
            </a:r>
            <a:r>
              <a:rPr 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r>
              <a:rPr lang="fr-FR" alt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et automatise la configuration gr</a:t>
            </a:r>
            <a:r>
              <a:rPr lang="en-US" altLang="en-US" sz="2400" dirty="0">
                <a:sym typeface="+mn-ea"/>
              </a:rPr>
              <a:t>â</a:t>
            </a:r>
            <a:r>
              <a:rPr lang="fr-FR" altLang="en-US" sz="2400" dirty="0">
                <a:sym typeface="+mn-ea"/>
              </a:rPr>
              <a:t>ce</a:t>
            </a:r>
            <a:r>
              <a:rPr 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r>
              <a:rPr lang="en-US" altLang="en-US" sz="2400" dirty="0">
                <a:sym typeface="+mn-ea"/>
              </a:rPr>
              <a:t>à </a:t>
            </a:r>
            <a:r>
              <a:rPr 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des agents IA ?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58368" y="2845435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LIMITES DE L'EXISTANT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304292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DEE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04088" y="3490595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Coût élevé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04088" y="387223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20+ scripts Java </a:t>
            </a:r>
            <a:r>
              <a:rPr lang="en-US" alt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développés sur mesure par projet, mobilisant des ressources d'ingénierie significatives</a:t>
            </a:r>
            <a:endParaRPr lang="en-US" altLang="en-US" sz="1200" dirty="0">
              <a:solidFill>
                <a:srgbClr val="2A314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315968" y="304292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DEE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361688" y="3490595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5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Non-réutilisabilité</a:t>
            </a:r>
            <a:r>
              <a:rPr lang="fr-FR" altLang="en-US" sz="15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61688" y="387223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en-US" sz="1200" dirty="0"/>
              <a:t> Les scripts d'un projet ne sont pas réutilisables sur le suivant, même lorsque les structures de données sont similaires</a:t>
            </a:r>
            <a:endParaRPr lang="en-US" alt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73568" y="3061335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DEE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019288" y="3490595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Performance limitée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019288" y="387223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en-US" sz="1200" dirty="0"/>
              <a:t>L'import natif Axelor, passant par la couche ORM, devient lent sur les grandes volumétries</a:t>
            </a:r>
            <a:endParaRPr lang="en-US" altLang="en-US" sz="12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1F4E9C"/>
                </a:solidFill>
                <a:latin typeface="Calibri"/>
              </a:rPr>
              <a:t>04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  <a:endParaRPr lang="en-US" sz="1000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5185" y="4522470"/>
            <a:ext cx="4968240" cy="1638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  MÉTHODOLOGIE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Approche méthodologique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8680" y="3200400"/>
            <a:ext cx="10451592" cy="0"/>
          </a:xfrm>
          <a:prstGeom prst="line">
            <a:avLst/>
          </a:prstGeom>
          <a:noFill/>
          <a:ln w="15875">
            <a:solidFill>
              <a:srgbClr val="D9DEE7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86384" y="3118104"/>
            <a:ext cx="164592" cy="164592"/>
          </a:xfrm>
          <a:prstGeom prst="ellipse">
            <a:avLst/>
          </a:prstGeom>
          <a:solidFill>
            <a:srgbClr val="1F4E9C"/>
          </a:solidFill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41148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-45720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-45720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AOP &amp; Apache Hop (sem. 1-6)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99282" y="3118104"/>
            <a:ext cx="164592" cy="164592"/>
          </a:xfrm>
          <a:prstGeom prst="ellipse">
            <a:avLst/>
          </a:prstGeom>
          <a:solidFill>
            <a:srgbClr val="1F4E9C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024378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567178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Pipelines ETL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567178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entités (sem. 7-10)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12180" y="3118104"/>
            <a:ext cx="164592" cy="164592"/>
          </a:xfrm>
          <a:prstGeom prst="ellipse">
            <a:avLst/>
          </a:prstGeom>
          <a:solidFill>
            <a:srgbClr val="1F4E9C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637276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180076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180076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Axelor Import Studio (sem. 11-14)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625078" y="3118104"/>
            <a:ext cx="164592" cy="164592"/>
          </a:xfrm>
          <a:prstGeom prst="ellipse">
            <a:avLst/>
          </a:prstGeom>
          <a:solidFill>
            <a:srgbClr val="1F4E9C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50174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7792974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Skills IA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792974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Claude Code (sem. 15-18)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1237976" y="3118104"/>
            <a:ext cx="164592" cy="164592"/>
          </a:xfrm>
          <a:prstGeom prst="ellipse">
            <a:avLst/>
          </a:prstGeom>
          <a:solidFill>
            <a:srgbClr val="1F4E9C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863072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0405872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Tests &amp; Validation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405872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Golden dataset (sem. 19-20)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5074920"/>
            <a:ext cx="94183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Méthode incrémentale — un sprint par domaine fonctionnel, suivi Redmine. Critère de réussite : ventilation comptable des factures importées.</a:t>
            </a:r>
            <a:endParaRPr lang="en-US" sz="120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1F4E9C"/>
                </a:solidFill>
                <a:latin typeface="Calibri"/>
              </a:rPr>
              <a:t>05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04 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Benchmark — Outil ETL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06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06400"/>
          <a:ext cx="9200000" cy="3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2000000"/>
                <a:gridCol w="2000000"/>
                <a:gridCol w="2000000"/>
              </a:tblGrid>
              <a:tr h="65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2203F"/>
                          </a:solidFill>
                          <a:latin typeface="Calibri"/>
                        </a:rPr>
                        <a:t>Critère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2203F"/>
                          </a:solidFill>
                          <a:latin typeface="Calibri"/>
                        </a:rPr>
                        <a:t>Apache Hop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2203F"/>
                          </a:solidFill>
                          <a:latin typeface="Calibri"/>
                        </a:rPr>
                        <a:t>Talend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2203F"/>
                          </a:solidFill>
                          <a:latin typeface="Calibri"/>
                        </a:rPr>
                        <a:t>Apache NiFi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Format pipelines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XML lisible (.hpl)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Java compilé (.jar)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JSON interne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Générable par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✔ Oui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✘ Non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✘ Non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Upsert natif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✔ Oui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✔ Oui (tMap)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✘ Non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Exécution CLI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✔ hop-run.sh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✔ (.jar)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✘ (serveur web)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Licence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Apache 2.0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Freemium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Apache 2.0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012640"/>
            <a:ext cx="9144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F9C4E"/>
                </a:solidFill>
                <a:latin typeface="Calibri"/>
              </a:rPr>
              <a:t>✔  Choix : Apache Hop  —  Critère décisif : seul outil dont les pipelines XML sont générables par LLM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04 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Benchmark — Agent IA de code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07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06400"/>
          <a:ext cx="9200000" cy="3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2000000"/>
                <a:gridCol w="2000000"/>
                <a:gridCol w="2000000"/>
              </a:tblGrid>
              <a:tr h="65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2203F"/>
                          </a:solidFill>
                          <a:latin typeface="Calibri"/>
                        </a:rPr>
                        <a:t>Critère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2203F"/>
                          </a:solidFill>
                          <a:latin typeface="Calibri"/>
                        </a:rPr>
                        <a:t>Claude Code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2203F"/>
                          </a:solidFill>
                          <a:latin typeface="Calibri"/>
                        </a:rPr>
                        <a:t>Codex CLI (OpenAI)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2203F"/>
                          </a:solidFill>
                          <a:latin typeface="Calibri"/>
                        </a:rPr>
                        <a:t>Gemini CLI (Google)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Coding Agent Index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Terminal-Bench Hard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63 %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61 %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54 %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Intelligence Index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Prix / 1M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$7.7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$4.3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$1.7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Contexte max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200K–1M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128K–1M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1M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012640"/>
            <a:ext cx="9144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F9C4E"/>
                </a:solidFill>
                <a:latin typeface="Calibri"/>
              </a:rPr>
              <a:t>✔  Choix : Claude Code  —  Critère pragmatique : abonnement Anthropic existant chez Axelor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04 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Vue d'ensemble de la solution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08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0000" y="2200000"/>
            <a:ext cx="780000" cy="62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2203F"/>
                </a:solidFill>
                <a:latin typeface="Calibri"/>
              </a:rPr>
              <a:t>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000" y="2350000"/>
            <a:ext cx="1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70000" y="2200000"/>
            <a:ext cx="1500000" cy="62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2203F"/>
                </a:solidFill>
                <a:latin typeface="Calibri"/>
              </a:rPr>
              <a:t>Agent IA</a:t>
            </a:r>
          </a:p>
          <a:p>
            <a:pPr algn="ctr"/>
            <a:r>
              <a:rPr sz="900" b="0">
                <a:solidFill>
                  <a:srgbClr val="12203F"/>
                </a:solidFill>
                <a:latin typeface="Calibri"/>
              </a:rPr>
              <a:t>(analyse)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000" y="2350000"/>
            <a:ext cx="1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0000" y="2200000"/>
            <a:ext cx="1450000" cy="620000"/>
          </a:xfrm>
          <a:prstGeom prst="roundRect">
            <a:avLst/>
          </a:prstGeom>
          <a:solidFill>
            <a:srgbClr val="FFF3CD"/>
          </a:solidFill>
          <a:ln w="2540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2203F"/>
                </a:solidFill>
                <a:latin typeface="Calibri"/>
              </a:rPr>
              <a:t>Manifeste</a:t>
            </a:r>
          </a:p>
          <a:p>
            <a:pPr algn="ctr"/>
            <a:r>
              <a:rPr sz="900" b="1">
                <a:solidFill>
                  <a:srgbClr val="12203F"/>
                </a:solidFill>
                <a:latin typeface="Calibri"/>
              </a:rPr>
              <a:t>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0000" y="2350000"/>
            <a:ext cx="1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00000" y="2200000"/>
            <a:ext cx="1650000" cy="62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2203F"/>
                </a:solidFill>
                <a:latin typeface="Calibri"/>
              </a:rPr>
              <a:t>Agent IA</a:t>
            </a:r>
          </a:p>
          <a:p>
            <a:pPr algn="ctr"/>
            <a:r>
              <a:rPr sz="900" b="0">
                <a:solidFill>
                  <a:srgbClr val="12203F"/>
                </a:solidFill>
                <a:latin typeface="Calibri"/>
              </a:rPr>
              <a:t>(génération)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0000" y="2350000"/>
            <a:ext cx="1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40000" y="2200000"/>
            <a:ext cx="1300000" cy="62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2203F"/>
                </a:solidFill>
                <a:latin typeface="Calibri"/>
              </a:rPr>
              <a:t>Apache 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0000" y="2350000"/>
            <a:ext cx="1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30000" y="2200000"/>
            <a:ext cx="1300000" cy="62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12203F"/>
                </a:solidFill>
                <a:latin typeface="Calibri"/>
              </a:rPr>
              <a:t>PostgreSQL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000" y="3260000"/>
            <a:ext cx="80000" cy="1900000"/>
          </a:xfrm>
          <a:prstGeom prst="rect">
            <a:avLst/>
          </a:prstGeom>
          <a:solidFill>
            <a:srgbClr val="1F4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000" y="3260000"/>
            <a:ext cx="276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Manifeste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000" y="3600000"/>
            <a:ext cx="2760000" cy="1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2A3142"/>
                </a:solidFill>
                <a:latin typeface="Calibri"/>
              </a:rPr>
              <a:t>Artefact intermédiaire entre analyse et génération.</a:t>
            </a:r>
          </a:p>
          <a:p>
            <a:pPr algn="l"/>
            <a:r>
              <a:rPr sz="950">
                <a:solidFill>
                  <a:srgbClr val="2A3142"/>
                </a:solidFill>
                <a:latin typeface="Calibri"/>
              </a:rPr>
              <a:t>Versionnable sous Git, modifiable sans relancer l'analyse.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60000" y="3260000"/>
            <a:ext cx="80000" cy="1900000"/>
          </a:xfrm>
          <a:prstGeom prst="rect">
            <a:avLst/>
          </a:prstGeom>
          <a:solidFill>
            <a:srgbClr val="1F4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0000" y="3260000"/>
            <a:ext cx="276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3 patterns ETL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000" y="3600000"/>
            <a:ext cx="2760000" cy="1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2A3142"/>
                </a:solidFill>
                <a:latin typeface="Calibri"/>
              </a:rPr>
              <a:t>Upsert (idempotence via import_id)</a:t>
            </a:r>
          </a:p>
          <a:p>
            <a:pPr algn="l"/>
            <a:r>
              <a:rPr sz="950">
                <a:solidFill>
                  <a:srgbClr val="2A3142"/>
                </a:solidFill>
                <a:latin typeface="Calibri"/>
              </a:rPr>
              <a:t>Junction Many-to-Many</a:t>
            </a:r>
          </a:p>
          <a:p>
            <a:pPr algn="l"/>
            <a:r>
              <a:rPr sz="950">
                <a:solidFill>
                  <a:srgbClr val="2A3142"/>
                </a:solidFill>
                <a:latin typeface="Calibri"/>
              </a:rPr>
              <a:t>Post-SQL (champs dérivés, séquences)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20000" y="3260000"/>
            <a:ext cx="80000" cy="1900000"/>
          </a:xfrm>
          <a:prstGeom prst="rect">
            <a:avLst/>
          </a:prstGeom>
          <a:solidFill>
            <a:srgbClr val="1F4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0000" y="3260000"/>
            <a:ext cx="276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3 piliers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0000" y="3600000"/>
            <a:ext cx="2760000" cy="1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2A3142"/>
                </a:solidFill>
                <a:latin typeface="Calibri"/>
              </a:rPr>
              <a:t>Apache Hop — pipelines XML déclaratifs</a:t>
            </a:r>
          </a:p>
          <a:p>
            <a:pPr algn="l"/>
            <a:r>
              <a:rPr sz="950">
                <a:solidFill>
                  <a:srgbClr val="2A3142"/>
                </a:solidFill>
                <a:latin typeface="Calibri"/>
              </a:rPr>
              <a:t>3 skills Claude — analyse, génération</a:t>
            </a:r>
          </a:p>
          <a:p>
            <a:pPr algn="l"/>
            <a:r>
              <a:rPr sz="950">
                <a:solidFill>
                  <a:srgbClr val="2A3142"/>
                </a:solidFill>
                <a:latin typeface="Calibri"/>
              </a:rPr>
              <a:t>Axelor Import Studio — interface web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04 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Cas d'utilisation — Phase Mapping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09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767" y="1760000"/>
            <a:ext cx="3096465" cy="438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04 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Cas d'utilisation — Phase Post-mapping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10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767" y="1760000"/>
            <a:ext cx="3096465" cy="43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04 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Diagramme de séquence — Phase Mapping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11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pic>
        <p:nvPicPr>
          <p:cNvPr id="8" name="Picture 7" descr="uml-sequence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000" y="1706400"/>
            <a:ext cx="96000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04 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Diagramme de séquence — Phase Post-mapping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12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pic>
        <p:nvPicPr>
          <p:cNvPr id="7" name="Picture 6" descr="uml-sequence-post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000" y="1760000"/>
            <a:ext cx="1000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05 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Architecture globale du framework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13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pic>
        <p:nvPicPr>
          <p:cNvPr id="8" name="Picture 7" descr="Architecture-genera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1671" y="1760000"/>
            <a:ext cx="1733937" cy="45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06 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Bilan des réalisations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18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60000"/>
            <a:ext cx="70000" cy="800000"/>
          </a:xfrm>
          <a:prstGeom prst="rect">
            <a:avLst/>
          </a:prstGeom>
          <a:solidFill>
            <a:srgbClr val="1F4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0000" y="1760000"/>
            <a:ext cx="89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03F"/>
                </a:solidFill>
                <a:latin typeface="Calibri"/>
              </a:rPr>
              <a:t>19 pipelines ETL réutilisables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000" y="2130000"/>
            <a:ext cx="8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A8294"/>
                </a:solidFill>
                <a:latin typeface="Calibri"/>
              </a:rPr>
              <a:t>Couvrant 4 domaines : produits, partenaires, commandes de vente, factures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10000"/>
            <a:ext cx="70000" cy="800000"/>
          </a:xfrm>
          <a:prstGeom prst="rect">
            <a:avLst/>
          </a:prstGeom>
          <a:solidFill>
            <a:srgbClr val="1F4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00" y="2810000"/>
            <a:ext cx="89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03F"/>
                </a:solidFill>
                <a:latin typeface="Calibri"/>
              </a:rPr>
              <a:t>3 skills 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000" y="3180000"/>
            <a:ext cx="8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A8294"/>
                </a:solidFill>
                <a:latin typeface="Calibri"/>
              </a:rPr>
              <a:t>analyze-and-map-entity · generate-pipeline · generate-workflow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60000"/>
            <a:ext cx="70000" cy="800000"/>
          </a:xfrm>
          <a:prstGeom prst="rect">
            <a:avLst/>
          </a:prstGeom>
          <a:solidFill>
            <a:srgbClr val="1F4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0000" y="3860000"/>
            <a:ext cx="89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03F"/>
                </a:solidFill>
                <a:latin typeface="Calibri"/>
              </a:rPr>
              <a:t>Axelor Import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000" y="4230000"/>
            <a:ext cx="8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A8294"/>
                </a:solidFill>
                <a:latin typeface="Calibri"/>
              </a:rPr>
              <a:t>Application web FastAPI + React + terminal PTY (xterm.js + WebSocket)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10000"/>
            <a:ext cx="70000" cy="800000"/>
          </a:xfrm>
          <a:prstGeom prst="rect">
            <a:avLst/>
          </a:prstGeom>
          <a:solidFill>
            <a:srgbClr val="1F4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00" y="4910000"/>
            <a:ext cx="89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03F"/>
                </a:solidFill>
                <a:latin typeface="Calibri"/>
              </a:rPr>
              <a:t>Manifeste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000" y="5280000"/>
            <a:ext cx="8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A8294"/>
                </a:solidFill>
                <a:latin typeface="Calibri"/>
              </a:rPr>
              <a:t>Contrat versionnable entre analyse IA et génération de pipelines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  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Limitations actuelles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965960"/>
            <a:ext cx="521208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TECHNIQUES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Génération de pipelines partielle — cas complexes nécessitent du tuning manuel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Débit modéré — ~15 lignes/sec (lookups FK ligne par ligne, pas en batch)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Sources CSV uniquement — Excel, SQL, XML d'autres ERP non supportés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0" y="1965960"/>
            <a:ext cx="493776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ORGANISATIONNELLES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Données personnelles transmises à l'IA — pas d'anonymisation automatique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Rapport de qualité de données pré-import absent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Interface web non authentifiée — usage interne uniquement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1F4E9C"/>
                </a:solidFill>
                <a:latin typeface="Calibri"/>
              </a:rPr>
              <a:t>15</a:t>
            </a:r>
            <a:r>
              <a:rPr sz="1000" b="0">
                <a:solidFill>
                  <a:srgbClr val="7A8294"/>
                </a:solidFill>
                <a:latin typeface="Calibri"/>
              </a:rPr>
              <a:t> / 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  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Perspectives d'évolution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965960"/>
            <a:ext cx="521208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COURT TERME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Extension aux ordres de fabrication et mouvements de stock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Élargissement des sources : Excel, bases SQL, XML d'autres ERP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Rapport de qualité de données pré-import (profiling avant injection)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0" y="1965960"/>
            <a:ext cx="493776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LONG TERME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Publication open source du framework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Généralisation à d'autres ERP open source : Odoo, ERPNext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Capitalisation IA : apprentissage sur l'historique des mappings réussis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1F4E9C"/>
                </a:solidFill>
                <a:latin typeface="Calibri"/>
              </a:rPr>
              <a:t>16</a:t>
            </a:r>
            <a:r>
              <a:rPr sz="1000" b="0">
                <a:solidFill>
                  <a:srgbClr val="7A8294"/>
                </a:solidFill>
                <a:latin typeface="Calibri"/>
              </a:rPr>
              <a:t> / 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0240" y="-502920"/>
            <a:ext cx="3014472" cy="7863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Merci de votre attention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822960" y="3657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Place à vos questions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754880"/>
            <a:ext cx="958291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05 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Architecture d'Axelor Import Studio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14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pic>
        <p:nvPicPr>
          <p:cNvPr id="7" name="Picture 6" descr="axelor-mapper-technical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84365"/>
            <a:ext cx="10400000" cy="195126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05 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Les pipelines Apache Hop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20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60000"/>
            <a:ext cx="4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4 domaines couverts — 19 pipelines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0000"/>
            <a:ext cx="60000" cy="4400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8640" y="208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2203F"/>
                </a:solidFill>
                <a:latin typeface="Calibri"/>
              </a:rPr>
              <a:t>Produits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640" y="2370000"/>
            <a:ext cx="408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4 pipelines + 1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0000"/>
            <a:ext cx="60000" cy="4400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640" y="270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2203F"/>
                </a:solidFill>
                <a:latin typeface="Calibri"/>
              </a:rPr>
              <a:t>Partenaires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40" y="2990000"/>
            <a:ext cx="408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6 pipelines + 1 workflow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80000"/>
            <a:ext cx="60000" cy="4400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640" y="332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2203F"/>
                </a:solidFill>
                <a:latin typeface="Calibri"/>
              </a:rPr>
              <a:t>Commandes de vente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640" y="3610000"/>
            <a:ext cx="408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4 pipelines + 1 workflow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00000"/>
            <a:ext cx="60000" cy="4400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8640" y="394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2203F"/>
                </a:solidFill>
                <a:latin typeface="Calibri"/>
              </a:rPr>
              <a:t>Factures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640" y="4230000"/>
            <a:ext cx="408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6 pipelines + 1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640" y="1760000"/>
            <a:ext cx="4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3 patterns standardisés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8640" y="2140000"/>
            <a:ext cx="60000" cy="4400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8640" y="208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2203F"/>
                </a:solidFill>
                <a:latin typeface="Calibri"/>
              </a:rPr>
              <a:t>Upsert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8640" y="237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Insert ou Update selon import_id — garantit l'idempotence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8640" y="2760000"/>
            <a:ext cx="60000" cy="4400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8640" y="270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2203F"/>
                </a:solidFill>
                <a:latin typeface="Calibri"/>
              </a:rPr>
              <a:t>Junction M2M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8640" y="299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Peuplement des tables de jonction Many-to-Many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48640" y="3380000"/>
            <a:ext cx="60000" cy="4400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68640" y="332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2203F"/>
                </a:solidFill>
                <a:latin typeface="Calibri"/>
              </a:rPr>
              <a:t>Post-SQL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68640" y="3610000"/>
            <a:ext cx="40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Séquences, champs dérivés et totaux calculés après injection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20000"/>
            <a:ext cx="8900000" cy="300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00000"/>
            <a:ext cx="8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A3142"/>
                </a:solidFill>
                <a:latin typeface="Calibri"/>
              </a:rPr>
              <a:t>Architecture 2 étapes : consolidation (résolution FK + transformations)  →  injection (upsert PostgreSQL)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05 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Les 3 skills Claude Code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21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60000"/>
            <a:ext cx="1300000" cy="14200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A8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12203F"/>
                </a:solidFill>
                <a:latin typeface="Calibri"/>
              </a:rPr>
              <a:t>CSV source</a:t>
            </a:r>
          </a:p>
          <a:p>
            <a:pPr algn="ctr"/>
            <a:r>
              <a:rPr sz="800" b="0">
                <a:solidFill>
                  <a:srgbClr val="12203F"/>
                </a:solidFill>
                <a:latin typeface="Calibri"/>
              </a:rPr>
              <a:t>Schéma PostgreSQL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8640" y="2320000"/>
            <a:ext cx="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8640" y="1760000"/>
            <a:ext cx="2000000" cy="142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2203F"/>
                </a:solidFill>
                <a:latin typeface="Calibri"/>
              </a:rPr>
              <a:t>analyze-and-map-entity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8640" y="2320000"/>
            <a:ext cx="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40" y="1760000"/>
            <a:ext cx="1700000" cy="142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F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12203F"/>
                </a:solidFill>
                <a:latin typeface="Calibri"/>
              </a:rPr>
              <a:t>Manifeste 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8640" y="1860000"/>
            <a:ext cx="348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8294"/>
                </a:solidFill>
                <a:latin typeface="Calibri"/>
              </a:rPr>
              <a:t>Lit le CSV, introspècte la BD,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8640" y="2200000"/>
            <a:ext cx="348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8294"/>
                </a:solidFill>
                <a:latin typeface="Calibri"/>
              </a:rPr>
              <a:t>résout les FK interactivement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8640" y="2540000"/>
            <a:ext cx="348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8294"/>
                </a:solidFill>
                <a:latin typeface="Calibri"/>
              </a:rPr>
              <a:t>avec le consultant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0000"/>
            <a:ext cx="1300000" cy="14200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A8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12203F"/>
                </a:solidFill>
                <a:latin typeface="Calibri"/>
              </a:rPr>
              <a:t>Manifeste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8640" y="3960000"/>
            <a:ext cx="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08640" y="3400000"/>
            <a:ext cx="2000000" cy="142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2203F"/>
                </a:solidFill>
                <a:latin typeface="Calibri"/>
              </a:rPr>
              <a:t>generate-pipeline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8640" y="3960000"/>
            <a:ext cx="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640" y="3400000"/>
            <a:ext cx="1700000" cy="142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F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12203F"/>
                </a:solidFill>
                <a:latin typeface="Calibri"/>
              </a:rPr>
              <a:t>Fichiers .hpl (Apache Hop)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8640" y="3500000"/>
            <a:ext cx="348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8294"/>
                </a:solidFill>
                <a:latin typeface="Calibri"/>
              </a:rPr>
              <a:t>Génère les pipelines 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640" y="3840000"/>
            <a:ext cx="348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8294"/>
                </a:solidFill>
                <a:latin typeface="Calibri"/>
              </a:rPr>
              <a:t>conformes au schéma 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8640" y="4180000"/>
            <a:ext cx="348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8294"/>
                </a:solidFill>
                <a:latin typeface="Calibri"/>
              </a:rPr>
              <a:t>pour chaque entité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40000"/>
            <a:ext cx="1300000" cy="14200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A8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12203F"/>
                </a:solidFill>
                <a:latin typeface="Calibri"/>
              </a:rPr>
              <a:t>Manifeste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8640" y="5600000"/>
            <a:ext cx="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8640" y="5040000"/>
            <a:ext cx="2000000" cy="142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2203F"/>
                </a:solidFill>
                <a:latin typeface="Calibri"/>
              </a:rPr>
              <a:t>generate-workflow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8640" y="5600000"/>
            <a:ext cx="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9C"/>
                </a:solidFill>
                <a:latin typeface="Calibri"/>
              </a:rPr>
              <a:t>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68640" y="5040000"/>
            <a:ext cx="1700000" cy="142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F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12203F"/>
                </a:solidFill>
                <a:latin typeface="Calibri"/>
              </a:rPr>
              <a:t>Fichier .hwf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640" y="5140000"/>
            <a:ext cx="348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8294"/>
                </a:solidFill>
                <a:latin typeface="Calibri"/>
              </a:rPr>
              <a:t>Génère le workflow d'orchestration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640" y="5480000"/>
            <a:ext cx="348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8294"/>
                </a:solidFill>
                <a:latin typeface="Calibri"/>
              </a:rPr>
              <a:t>qui enchaîne les pipelines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640" y="5820000"/>
            <a:ext cx="348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8294"/>
                </a:solidFill>
                <a:latin typeface="Calibri"/>
              </a:rPr>
              <a:t>dans le bon ordre topologique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05 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Axelor Import Studio — Interface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17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000"/>
            <a:ext cx="1109472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7A8294"/>
                </a:solidFill>
                <a:latin typeface="Calibri"/>
              </a:rPr>
              <a:t>[Insérer capture d'écran de l'interface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9C"/>
                </a:solidFill>
                <a:latin typeface="Calibri"/>
              </a:rPr>
              <a:t>06 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2203F"/>
                </a:solidFill>
                <a:latin typeface="Calibri"/>
              </a:rPr>
              <a:t>Résultats &amp; Validation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294"/>
                </a:solidFill>
                <a:latin typeface="Calibri"/>
              </a:rPr>
              <a:t>Projet de Fin d'Études : Génie Informatique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F4E9C"/>
                </a:solidFill>
                <a:latin typeface="Calibri"/>
              </a:rPr>
              <a:t>19</a:t>
            </a:r>
            <a:r>
              <a:rPr sz="1000" b="0">
                <a:solidFill>
                  <a:srgbClr val="7A8294"/>
                </a:solidFill>
                <a:latin typeface="Calibri"/>
              </a:rPr>
              <a:t>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60000"/>
          <a:ext cx="8900000" cy="2559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1700000"/>
                <a:gridCol w="1700000"/>
                <a:gridCol w="2700000"/>
              </a:tblGrid>
              <a:tr h="42666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Entité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Enregistrements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Importés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2203F"/>
                          </a:solidFill>
                          <a:latin typeface="Calibri"/>
                        </a:rPr>
                        <a:t>Erreurs (volontaires)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42666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2203F"/>
                          </a:solidFill>
                          <a:latin typeface="Calibri"/>
                        </a:rPr>
                        <a:t>Produits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3 — champ name vide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66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2203F"/>
                          </a:solidFill>
                          <a:latin typeface="Calibri"/>
                        </a:rPr>
                        <a:t>Partenaires / Adresses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4 — parentPartner non résolu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66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2203F"/>
                          </a:solidFill>
                          <a:latin typeface="Calibri"/>
                        </a:rPr>
                        <a:t>Commandes de vente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1 000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962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38 — référence manquante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66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2203F"/>
                          </a:solidFill>
                          <a:latin typeface="Calibri"/>
                        </a:rPr>
                        <a:t>Factures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1 000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50 — statusSelect absent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66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2203F"/>
                          </a:solidFill>
                          <a:latin typeface="Calibri"/>
                        </a:rPr>
                        <a:t>Lignes (cmd + fact)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7 961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7 961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4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20000"/>
            <a:ext cx="2833333" cy="150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2203F"/>
                </a:solidFill>
                <a:latin typeface="Calibri"/>
              </a:rPr>
              <a:t>Ventilation des factures</a:t>
            </a:r>
          </a:p>
          <a:p>
            <a:pPr algn="ctr"/>
            <a:r>
              <a:rPr sz="850" b="0">
                <a:solidFill>
                  <a:srgbClr val="2A3142"/>
                </a:solidFill>
                <a:latin typeface="Calibri"/>
              </a:rPr>
              <a:t>Réussie — mouvements et lignes comptables créés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1973" y="4620000"/>
            <a:ext cx="2833333" cy="1500000"/>
          </a:xfrm>
          <a:prstGeom prst="roundRect">
            <a:avLst/>
          </a:prstGeom>
          <a:solidFill>
            <a:srgbClr val="D6E4F0"/>
          </a:solidFill>
          <a:ln w="19050">
            <a:solidFill>
              <a:srgbClr val="1F4E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2203F"/>
                </a:solidFill>
                <a:latin typeface="Calibri"/>
              </a:rPr>
              <a:t>Idempotence</a:t>
            </a:r>
          </a:p>
          <a:p>
            <a:pPr algn="ctr"/>
            <a:r>
              <a:rPr sz="850" b="0">
                <a:solidFill>
                  <a:srgbClr val="2A3142"/>
                </a:solidFill>
                <a:latin typeface="Calibri"/>
              </a:rPr>
              <a:t>0 doublon sur ré-exécution complète du 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15306" y="4620000"/>
            <a:ext cx="2833333" cy="15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1F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12203F"/>
                </a:solidFill>
                <a:latin typeface="Calibri"/>
              </a:rPr>
              <a:t>Performance</a:t>
            </a:r>
          </a:p>
          <a:p>
            <a:pPr algn="ctr"/>
            <a:r>
              <a:rPr sz="850" b="0">
                <a:solidFill>
                  <a:srgbClr val="2A3142"/>
                </a:solidFill>
                <a:latin typeface="Calibri"/>
              </a:rPr>
              <a:t>3.6× plus rapide que l'import natif Axelor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4709</Words>
  <Application>WPS Presentation</Application>
  <PresentationFormat>On-screen Show (16:9)</PresentationFormat>
  <Paragraphs>250</Paragraphs>
  <Slides>11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Soutenance PFE : ENSA Kénitra</dc:title>
  <dc:creator>ENSA Kénitra</dc:creator>
  <dc:subject>PptxGenJS Presentation</dc:subject>
  <cp:lastModifiedBy>Electronic Store</cp:lastModifiedBy>
  <cp:revision>11</cp:revision>
  <dcterms:created xsi:type="dcterms:W3CDTF">2026-06-26T14:43:00Z</dcterms:created>
  <dcterms:modified xsi:type="dcterms:W3CDTF">2026-06-29T16:35:10Z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B31F9A9E087F457B963121568B17B29E_12</vt:lpwstr>
  </property>
  <property fmtid="{D5CDD505-2E9C-101B-9397-08002B2CF9AE}" pid="3" name="KSOProductBuildVer">
    <vt:lpwstr>1033-12.1.0.26880</vt:lpwstr>
  </property>
</Properties>
</file>